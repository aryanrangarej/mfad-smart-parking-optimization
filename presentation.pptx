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a85c7b9-1dcc-b855-5cd2-6603602f9745}">
          <p14:sldIdLst>
            <p14:sldId id="256"/>
            <p14:sldId id="257"/>
            <p14:sldId id="258"/>
          </p14:sldIdLst>
        </p14:section>
        <p14:section name="The mathematics" id="{8185493d-acd3-30e1-3ff3-957cdd1c1cf0}">
          <p14:sldIdLst>
            <p14:sldId id="259"/>
            <p14:sldId id="260"/>
            <p14:sldId id="261"/>
            <p14:sldId id="262"/>
            <p14:sldId id="263"/>
            <p14:sldId id="264"/>
          </p14:sldIdLst>
        </p14:section>
        <p14:section name="Example and results" id="{6e789830-ee9a-602d-44d1-44b2d4923466}">
          <p14:sldIdLst>
            <p14:sldId id="265"/>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Weights</c:v>
                </c:pt>
              </c:strCache>
            </c:strRef>
          </c:tx>
          <c:spPr>
            <a:solidFill>
              <a:schemeClr val="accent1"/>
            </a:solidFill>
            <a:ln w="9525" cap="flat">
              <a:solidFill>
                <a:srgbClr val="F9F9F9"/>
              </a:solidFill>
              <a:prstDash val="solid"/>
              <a:round/>
            </a:ln>
            <a:effectLst/>
          </c:spPr>
          <c:dPt>
            <c:idx val="0"/>
            <c:bubble3D val="0"/>
            <c:spPr>
              <a:solidFill>
                <a:srgbClr val="0E8F80"/>
              </a:solidFill>
              <a:ln w="25400" cap="flat">
                <a:solidFill>
                  <a:srgbClr val="FFFFFF"/>
                </a:solidFill>
                <a:prstDash val="solid"/>
                <a:round/>
              </a:ln>
              <a:effectLst/>
            </c:spPr>
          </c:dPt>
          <c:dPt>
            <c:idx val="1"/>
            <c:bubble3D val="0"/>
            <c:spPr>
              <a:solidFill>
                <a:srgbClr val="F5B700"/>
              </a:solidFill>
              <a:ln w="25400" cap="flat">
                <a:solidFill>
                  <a:srgbClr val="FFFFFF"/>
                </a:solidFill>
                <a:prstDash val="solid"/>
                <a:round/>
              </a:ln>
              <a:effectLst/>
            </c:spPr>
          </c:dPt>
          <c:dPt>
            <c:idx val="2"/>
            <c:bubble3D val="0"/>
            <c:spPr>
              <a:solidFill>
                <a:srgbClr val="2F6FDE"/>
              </a:solidFill>
              <a:ln w="25400" cap="flat">
                <a:solidFill>
                  <a:srgbClr val="FFFFFF"/>
                </a:solidFill>
                <a:prstDash val="solid"/>
                <a:round/>
              </a:ln>
              <a:effectLst/>
            </c:spPr>
          </c:dPt>
          <c:dLbls>
            <c:dLbl>
              <c:idx val="0"/>
              <c:numFmt formatCode="0%" sourceLinked="0"/>
              <c:spPr/>
              <c:txPr>
                <a:bodyPr/>
                <a:lstStyle/>
                <a:p>
                  <a:pPr>
                    <a:defRPr sz="1200" b="1"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200" b="1" i="0" u="none" strike="noStrike">
                      <a:solidFill>
                        <a:srgbClr val="FFFFFF"/>
                      </a:solidFill>
                      <a:latin typeface="+mn-lt"/>
                    </a:defRPr>
                  </a:pPr>
                </a:p>
              </c:txPr>
              <c:showLegendKey val="0"/>
              <c:showVal val="0"/>
              <c:showCatName val="0"/>
              <c:showSerName val="0"/>
              <c:showPercent val="1"/>
              <c:showBubbleSize val="0"/>
            </c:dLbl>
            <c:dLbl>
              <c:idx val="2"/>
              <c:numFmt formatCode="0%" sourceLinked="0"/>
              <c:spPr/>
              <c:txPr>
                <a:bodyPr/>
                <a:lstStyle/>
                <a:p>
                  <a:pPr>
                    <a:defRPr sz="1200" b="1"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Match (LS)</c:v>
                </c:pt>
                <c:pt idx="1">
                  <c:v>Gate distance</c:v>
                </c:pt>
                <c:pt idx="2">
                  <c:v>Sideways offset</c:v>
                </c:pt>
              </c:strCache>
            </c:strRef>
          </c:cat>
          <c:val>
            <c:numRef>
              <c:f>Sheet1!$B$2:$B$4</c:f>
              <c:numCache>
                <c:ptCount val="3"/>
                <c:pt idx="0">
                  <c:v>60</c:v>
                </c:pt>
                <c:pt idx="1">
                  <c:v>30</c:v>
                </c:pt>
                <c:pt idx="2">
                  <c:v>10</c:v>
                </c:pt>
              </c:numCache>
            </c:numRef>
          </c:val>
        </c:ser>
        <c:firstSliceAng val="0"/>
        <c:holeSize val="55"/>
      </c:doughnutChart>
      <c:spPr>
        <a:noFill/>
        <a:ln>
          <a:noFill/>
        </a:ln>
        <a:effectLst/>
      </c:spPr>
    </c:plotArea>
    <c:legend>
      <c:legendPos val="b"/>
      <c:overlay val="0"/>
      <c:txPr>
        <a:bodyPr/>
        <a:lstStyle/>
        <a:p>
          <a:pPr>
            <a:defRPr sz="1100">
              <a:solidFill>
                <a:srgbClr val="1A202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Total cost</c:v>
                </c:pt>
              </c:strCache>
            </c:strRef>
          </c:tx>
          <c:spPr>
            <a:solidFill>
              <a:srgbClr val="0E8F80"/>
            </a:solidFill>
            <a:effectLst/>
          </c:spPr>
          <c:invertIfNegative val="0"/>
          <c:dLbls>
            <c:numFmt formatCode="0.000" sourceLinked="0"/>
            <c:txPr>
              <a:bodyPr/>
              <a:lstStyle/>
              <a:p>
                <a:pPr>
                  <a:defRPr b="0" i="0" strike="noStrike" sz="1100" u="none">
                    <a:solidFill>
                      <a:srgbClr val="1A2028"/>
                    </a:solidFill>
                    <a:latin typeface="+mn-lt"/>
                  </a:defRPr>
                </a:pPr>
              </a:p>
            </c:txPr>
            <c:showLegendKey val="0"/>
            <c:showVal val="1"/>
            <c:showCatName val="0"/>
            <c:showSerName val="0"/>
            <c:showPercent val="0"/>
            <c:showBubbleSize val="0"/>
            <c:showLeaderLines val="0"/>
          </c:dLbls>
          <c:dPt>
            <c:idx val="0"/>
            <c:invertIfNegative val="0"/>
            <c:bubble3D val="0"/>
            <c:spPr>
              <a:solidFill>
                <a:srgbClr val="0E8F80"/>
              </a:solidFill>
              <a:effectLst/>
            </c:spPr>
          </c:dPt>
          <c:dPt>
            <c:idx val="1"/>
            <c:invertIfNegative val="0"/>
            <c:bubble3D val="0"/>
            <c:spPr>
              <a:solidFill>
                <a:srgbClr val="B7BFCA"/>
              </a:solidFill>
              <a:effectLst/>
            </c:spPr>
          </c:dPt>
          <c:dPt>
            <c:idx val="2"/>
            <c:invertIfNegative val="0"/>
            <c:bubble3D val="0"/>
            <c:spPr>
              <a:solidFill>
                <a:srgbClr val="B7BFCA"/>
              </a:solidFill>
              <a:effectLst/>
            </c:spPr>
          </c:dPt>
          <c:dPt>
            <c:idx val="3"/>
            <c:invertIfNegative val="0"/>
            <c:bubble3D val="0"/>
            <c:spPr>
              <a:solidFill>
                <a:srgbClr val="B7BFCA"/>
              </a:solidFill>
              <a:effectLst/>
            </c:spPr>
          </c:dPt>
          <c:cat>
            <c:multiLvlStrRef>
              <c:f>Sheet1!$A$2:$A$5</c:f>
              <c:multiLvlStrCache>
                <c:ptCount val="4"/>
                <c:lvl>
                  <c:pt idx="0">
                    <c:v>P03</c:v>
                  </c:pt>
                  <c:pt idx="1">
                    <c:v>P06</c:v>
                  </c:pt>
                  <c:pt idx="2">
                    <c:v>P08</c:v>
                  </c:pt>
                  <c:pt idx="3">
                    <c:v>P11</c:v>
                  </c:pt>
                </c:lvl>
              </c:multiLvlStrCache>
            </c:multiLvlStrRef>
          </c:cat>
          <c:val>
            <c:numRef>
              <c:f>Sheet1!$B$2:$B$5</c:f>
              <c:numCache>
                <c:formatCode>General</c:formatCode>
                <c:ptCount val="4"/>
                <c:pt idx="0">
                  <c:v>0.299</c:v>
                </c:pt>
                <c:pt idx="1">
                  <c:v>0.798</c:v>
                </c:pt>
                <c:pt idx="2">
                  <c:v>0.347</c:v>
                </c:pt>
                <c:pt idx="3">
                  <c:v>0.741</c:v>
                </c:pt>
              </c:numCache>
            </c:numRef>
          </c:val>
        </c:ser>
        <c:dLbls>
          <c:numFmt formatCode="0.000" sourceLinked="0"/>
          <c:txPr>
            <a:bodyPr/>
            <a:lstStyle/>
            <a:p>
              <a:pPr>
                <a:defRPr b="0" i="0" strike="noStrike" sz="1100" u="none">
                  <a:solidFill>
                    <a:srgbClr val="1A2028"/>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A2028"/>
                </a:solidFill>
                <a:latin typeface="+mn-lt"/>
              </a:defRPr>
            </a:pPr>
            <a:endParaRPr lang="en-US"/>
          </a:p>
        </c:txPr>
        <c:crossAx val="2094734552"/>
        <c:crosses val="autoZero"/>
        <c:auto val="1"/>
        <c:lblAlgn val="ctr"/>
        <c:noMultiLvlLbl val="1"/>
      </c:catAx>
      <c:valAx>
        <c:axId val="2094734552"/>
        <c:scaling>
          <c:orientation val="minMax"/>
          <c:max val="1"/>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Madam. Our project is Smart Parking Lot Optimization using Linear Algebra. The idea is simple: when a vehicle arrives, we use vectors, matrices, orthogonal projection and least squares to choose the best parking space for it, taking into account EV charging, accessibility, vehicle size, availability and distance from the entry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people would say: just give the car the nearest empty spot. But that fails. An electric car needs a charger, an accessible bay must be kept for the drivers who need it, a large car needs a large bay, and a spot that is already taken cannot be used at all. So our real question is: which free space is the best match for this particular vehicle?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project in six steps. First we turn the vehicle and each parking spot into numbers. Then we throw away spots that are impossible for this vehicle. Then comes the mathematical core: we project the vehicle's request onto the space of available spots, score every remaining spot with least squares plus a distance term, and finally assign the spot with the lowest cost. The next slides take these steps one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Linear algebra works with numbers, so we convert everything into numbers. One parking spot becomes a vector of five values: how far it is from the gate in the x and y directions, whether it has an EV charger, whether it is accessible, and its size. Stacking these vectors as rows gives a matrix X: each row is a spot and each column is a feature. The incoming vehicle is written in the same five-number format, with distance 0 because it starts at the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optimisation we remove every spot that is impossible for this illustrative EV-and-standard-size example. Occupied spots, spots without a charger and spots that are too small are rejected. Four illustrative feasible spots remain: S03, S06, S08 and S11. These four rows form the matrix used in the next worked example. This separation matters: the optimiser can never choose an invalid spot.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geometric idea in two dimensions. The green line represents everything the available spots can build. The vehicle's ideal request v usually does not lie on that line, because no real spot is perfect. The projection v-hat is the point on the line closest to v. The gap r between them meets the line at exactly 90 degrees; that perpendicular property is what makes it the closest point. For a single spot x the formula is just x dot v over x dot x, times 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projection formula. X is the matrix of feasible spots, v is the vehicle vector, and the plus sign means the Moore–Penrose pseudoinverse. P is the projection matrix, and applying it to v gives v-hat. P has the two defining properties of an orthogonal projector: P squared equals P, and P transpose equals P. Also, the gap v minus v-hat is perpendicular to every row of X. Our automated tests check the projector properties.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the formula work? We want v-hat to be a combination of the spot vectors, written X transpose times c. We choose c to minimise the squared distance between v and that combination. That is a least-squares problem, and setting the derivative to zero gives the normal equations X X-transpose c equals X v. Solving with the pseudoinverse gives c, and substituting back gives exactly P v. We use the pseudoinverse because X X-transpose is n by n but has rank at most five, so a normal inverse does not exist once there are more than five spots or when spots repeat.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score each feasible spot. First, least squares: for every spot we measure the weighted squared distance between its row and v-hat. The smaller this number, the more the spot looks like the ideal profile. W is a diagonal matrix that gives more importance to features such as EV and accessibility. Then we combine three terms into one cost: sixty percent least-squares match, thirty percent distance from the gate, and ten percent sideways offset. The spot with the minimum total cost is the winner.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small illustrative numerical calculation, separate from the live parking dataset. The EV vehicle of standard size has four illustrative candidate rows S01–S04. rank(X)=3, so XX-transpose is singular and a normal inverse would fail; the pseudoinverse handles it. Computing P times v gives v-hat, and the residual r is orthogonal to every row. The squared lengths satisfy the Pythagorean identity.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second half of the illustrative example. We score S01–S04 using the simple teaching weights shown on the slide. S01 has the lowest total cost, 0.299, so it wins this illustrative example. The live parking engine uses its actual feature-weight matrix and live parking data; the method is the same.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current results from the implemented engine on the supplied 30-space dataset. The four sample vehicles are assigned to P01, P14, P11 and P30 respectively. After the four assignments, 26 spaces remain free. The demo data is deterministic, so the same inputs give the same outputs.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project is a working Python application. The matrix engine does the mathematics, the GUI lets us enter vehicles and watch the parking grid update, the logs show every stage, and the Colab notebook walks through the mathematics step by step. Automated tests confirm the projector properties, EV and accessibility constraints, occupancy behavior, and reproducibility. For the live demonstration we show the notebook first and then the GUI.</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conclude: our contribution is not only the final parking assignment, but a mathematical workflow that can be inspected at every stage. Parking spaces and vehicles become vectors and matrices; infeasible choices are removed; the vehicle request is orthogonally projected; and least squares with a distance term ranks the spots. Thank you, Madam. We are ready for questions and the live demonstration.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502920"/>
            <a:ext cx="8229600" cy="64008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502920"/>
            <a:ext cx="8229600" cy="64008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960120"/>
            <a:ext cx="4754880" cy="178308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slideLayout" Target="../slideLayouts/slideLayout4.xml"/><Relationship Id="rId11"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slideLayout" Target="../slideLayouts/slideLayout2.xml"/><Relationship Id="rId1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slideLayout" Target="../slideLayouts/slideLayout2.xml"/><Relationship Id="rId1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urse badge"/>
          <p:cNvSpPr txBox="1"/>
          <p:nvPr/>
        </p:nvSpPr>
        <p:spPr>
          <a:xfrm>
            <a:off x="548640" y="457200"/>
            <a:ext cx="274320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dirty="0">
                <a:solidFill>
                  <a:schemeClr val="tx1"/>
                </a:solidFill>
              </a:rPr>
              <a:t>MINI PROJECT  ·  UE25MA242A</a:t>
            </a:r>
            <a:endParaRPr lang="en-US" sz="1000" dirty="0"/>
          </a:p>
        </p:txBody>
      </p:sp>
      <p:sp>
        <p:nvSpPr>
          <p:cNvPr id="3" name="Text 0"/>
          <p:cNvSpPr/>
          <p:nvPr>
            <p:ph idx="100" type="title" hasCustomPrompt="1"/>
          </p:nvPr>
        </p:nvSpPr>
        <p:spPr>
          <a:xfrm>
            <a:off x="548640" y="960120"/>
            <a:ext cx="4754880" cy="1783080"/>
          </a:xfrm>
          <a:prstGeom prst="rect">
            <a:avLst/>
          </a:prstGeom>
          <a:noFill/>
          <a:ln/>
        </p:spPr>
        <p:txBody>
          <a:bodyPr wrap="square" lIns="0" tIns="0" rIns="0" bIns="0" rtlCol="0" anchor="t"/>
          <a:lstStyle/>
          <a:p>
            <a:pPr algn="l" indent="0" marL="0">
              <a:buNone/>
            </a:pPr>
            <a:r>
              <a:rPr lang="en-US" sz="3800" b="1" dirty="0">
                <a:solidFill>
                  <a:schemeClr val="bg1"/>
                </a:solidFill>
              </a:rPr>
              <a:t>Smart Parking Lot Optimization using Linear Algebra</a:t>
            </a:r>
            <a:endParaRPr lang="en-US" sz="3800" dirty="0"/>
          </a:p>
        </p:txBody>
      </p:sp>
      <p:sp>
        <p:nvSpPr>
          <p:cNvPr id="4" name="Course subtitle"/>
          <p:cNvSpPr txBox="1"/>
          <p:nvPr/>
        </p:nvSpPr>
        <p:spPr>
          <a:xfrm>
            <a:off x="548640" y="2834640"/>
            <a:ext cx="4754880" cy="594360"/>
          </a:xfrm>
          <a:prstGeom prst="rect">
            <a:avLst/>
          </a:prstGeom>
          <a:noFill/>
          <a:ln/>
        </p:spPr>
        <p:txBody>
          <a:bodyPr wrap="square" lIns="0" tIns="0" rIns="0" bIns="0" rtlCol="0" anchor="ctr"/>
          <a:lstStyle/>
          <a:p>
            <a:pPr indent="0" marL="0">
              <a:buNone/>
            </a:pPr>
            <a:r>
              <a:rPr lang="en-US" sz="1500" dirty="0">
                <a:solidFill>
                  <a:schemeClr val="bg2"/>
                </a:solidFill>
              </a:rPr>
              <a:t>Mathematical Foundation for AI &amp; Data Science</a:t>
            </a:r>
            <a:endParaRPr lang="en-US" sz="1500" dirty="0"/>
          </a:p>
          <a:p>
            <a:pPr indent="0" marL="0">
              <a:buNone/>
            </a:pPr>
            <a:r>
              <a:rPr lang="en-US" sz="1500" dirty="0">
                <a:solidFill>
                  <a:schemeClr val="bg2"/>
                </a:solidFill>
              </a:rPr>
              <a:t>Experiential Learning · Level 2</a:t>
            </a:r>
            <a:endParaRPr lang="en-US" sz="1500" dirty="0"/>
          </a:p>
        </p:txBody>
      </p:sp>
      <p:sp>
        <p:nvSpPr>
          <p:cNvPr id="5" name="Team label"/>
          <p:cNvSpPr txBox="1"/>
          <p:nvPr/>
        </p:nvSpPr>
        <p:spPr>
          <a:xfrm>
            <a:off x="548640" y="3703320"/>
            <a:ext cx="1828800" cy="228600"/>
          </a:xfrm>
          <a:prstGeom prst="rect">
            <a:avLst/>
          </a:prstGeom>
          <a:noFill/>
          <a:ln/>
        </p:spPr>
        <p:txBody>
          <a:bodyPr wrap="square" lIns="0" tIns="0" rIns="0" bIns="0" rtlCol="0" anchor="ctr"/>
          <a:lstStyle/>
          <a:p>
            <a:pPr indent="0" marL="0">
              <a:buNone/>
            </a:pPr>
            <a:r>
              <a:rPr lang="en-US" sz="1000" b="1" spc="300" kern="0" dirty="0">
                <a:solidFill>
                  <a:schemeClr val="accent1"/>
                </a:solidFill>
              </a:rPr>
              <a:t>MEMBERS</a:t>
            </a:r>
            <a:endParaRPr lang="en-US" sz="1000" dirty="0"/>
          </a:p>
        </p:txBody>
      </p:sp>
      <p:sp>
        <p:nvSpPr>
          <p:cNvPr id="6" name="Team member 1"/>
          <p:cNvSpPr txBox="1"/>
          <p:nvPr/>
        </p:nvSpPr>
        <p:spPr>
          <a:xfrm>
            <a:off x="548640" y="4023360"/>
            <a:ext cx="2377440" cy="274320"/>
          </a:xfrm>
          <a:prstGeom prst="rect">
            <a:avLst/>
          </a:prstGeom>
          <a:noFill/>
          <a:ln/>
        </p:spPr>
        <p:txBody>
          <a:bodyPr wrap="square" lIns="0" tIns="0" rIns="0" bIns="0" rtlCol="0" anchor="ctr"/>
          <a:lstStyle/>
          <a:p>
            <a:pPr indent="0" marL="0">
              <a:buNone/>
            </a:pPr>
            <a:r>
              <a:rPr lang="en-US" sz="1200" b="1" dirty="0">
                <a:solidFill>
                  <a:schemeClr val="bg1"/>
                </a:solidFill>
              </a:rPr>
              <a:t>Arya B  </a:t>
            </a:r>
            <a:pPr indent="0" marL="0">
              <a:buNone/>
            </a:pPr>
            <a:r>
              <a:rPr lang="en-US" sz="1200" dirty="0">
                <a:solidFill>
                  <a:schemeClr val="bg2"/>
                </a:solidFill>
              </a:rPr>
              <a:t>PES1UG25AM472</a:t>
            </a:r>
            <a:endParaRPr lang="en-US" sz="1200" dirty="0"/>
          </a:p>
        </p:txBody>
      </p:sp>
      <p:sp>
        <p:nvSpPr>
          <p:cNvPr id="7" name="Team member 2"/>
          <p:cNvSpPr txBox="1"/>
          <p:nvPr/>
        </p:nvSpPr>
        <p:spPr>
          <a:xfrm>
            <a:off x="3017520" y="4023360"/>
            <a:ext cx="2377440" cy="274320"/>
          </a:xfrm>
          <a:prstGeom prst="rect">
            <a:avLst/>
          </a:prstGeom>
          <a:noFill/>
          <a:ln/>
        </p:spPr>
        <p:txBody>
          <a:bodyPr wrap="square" lIns="0" tIns="0" rIns="0" bIns="0" rtlCol="0" anchor="ctr"/>
          <a:lstStyle/>
          <a:p>
            <a:pPr indent="0" marL="0">
              <a:buNone/>
            </a:pPr>
            <a:r>
              <a:rPr lang="en-US" sz="1200" b="1" dirty="0">
                <a:solidFill>
                  <a:schemeClr val="bg1"/>
                </a:solidFill>
              </a:rPr>
              <a:t>Aryan R  </a:t>
            </a:r>
            <a:pPr indent="0" marL="0">
              <a:buNone/>
            </a:pPr>
            <a:r>
              <a:rPr lang="en-US" sz="1200" dirty="0">
                <a:solidFill>
                  <a:schemeClr val="bg2"/>
                </a:solidFill>
              </a:rPr>
              <a:t>PES1UG25AM473</a:t>
            </a:r>
            <a:endParaRPr lang="en-US" sz="1200" dirty="0"/>
          </a:p>
        </p:txBody>
      </p:sp>
      <p:sp>
        <p:nvSpPr>
          <p:cNvPr id="8" name="Team member 3"/>
          <p:cNvSpPr txBox="1"/>
          <p:nvPr/>
        </p:nvSpPr>
        <p:spPr>
          <a:xfrm>
            <a:off x="548640" y="4343400"/>
            <a:ext cx="2377440" cy="274320"/>
          </a:xfrm>
          <a:prstGeom prst="rect">
            <a:avLst/>
          </a:prstGeom>
          <a:noFill/>
          <a:ln/>
        </p:spPr>
        <p:txBody>
          <a:bodyPr wrap="square" lIns="0" tIns="0" rIns="0" bIns="0" rtlCol="0" anchor="ctr"/>
          <a:lstStyle/>
          <a:p>
            <a:pPr indent="0" marL="0">
              <a:buNone/>
            </a:pPr>
            <a:r>
              <a:rPr lang="en-US" sz="1200" b="1" dirty="0">
                <a:solidFill>
                  <a:schemeClr val="bg1"/>
                </a:solidFill>
              </a:rPr>
              <a:t>Hisham  </a:t>
            </a:r>
            <a:pPr indent="0" marL="0">
              <a:buNone/>
            </a:pPr>
            <a:r>
              <a:rPr lang="en-US" sz="1200" dirty="0">
                <a:solidFill>
                  <a:schemeClr val="bg2"/>
                </a:solidFill>
              </a:rPr>
              <a:t>PES1UG25AM488</a:t>
            </a:r>
            <a:endParaRPr lang="en-US" sz="1200" dirty="0"/>
          </a:p>
        </p:txBody>
      </p:sp>
      <p:sp>
        <p:nvSpPr>
          <p:cNvPr id="9" name="Team member 4"/>
          <p:cNvSpPr txBox="1"/>
          <p:nvPr/>
        </p:nvSpPr>
        <p:spPr>
          <a:xfrm>
            <a:off x="3017520" y="4343400"/>
            <a:ext cx="2377440" cy="274320"/>
          </a:xfrm>
          <a:prstGeom prst="rect">
            <a:avLst/>
          </a:prstGeom>
          <a:noFill/>
          <a:ln/>
        </p:spPr>
        <p:txBody>
          <a:bodyPr wrap="square" lIns="0" tIns="0" rIns="0" bIns="0" rtlCol="0" anchor="ctr"/>
          <a:lstStyle/>
          <a:p>
            <a:pPr indent="0" marL="0">
              <a:buNone/>
            </a:pPr>
            <a:r>
              <a:rPr lang="en-US" sz="1200" b="1" dirty="0">
                <a:solidFill>
                  <a:schemeClr val="bg1"/>
                </a:solidFill>
              </a:rPr>
              <a:t>Chirag P  </a:t>
            </a:r>
            <a:pPr indent="0" marL="0">
              <a:buNone/>
            </a:pPr>
            <a:r>
              <a:rPr lang="en-US" sz="1200" dirty="0">
                <a:solidFill>
                  <a:schemeClr val="bg2"/>
                </a:solidFill>
              </a:rPr>
              <a:t>PES1UG25AM481</a:t>
            </a:r>
            <a:endParaRPr lang="en-US" sz="1200" dirty="0"/>
          </a:p>
        </p:txBody>
      </p:sp>
      <p:sp>
        <p:nvSpPr>
          <p:cNvPr id="10" name="Parking bay 1"/>
          <p:cNvSpPr/>
          <p:nvPr/>
        </p:nvSpPr>
        <p:spPr>
          <a:xfrm>
            <a:off x="5532120" y="685800"/>
            <a:ext cx="960120" cy="1051560"/>
          </a:xfrm>
          <a:prstGeom prst="roundRect">
            <a:avLst>
              <a:gd name="adj" fmla="val 7619"/>
            </a:avLst>
          </a:prstGeom>
          <a:solidFill>
            <a:schemeClr val="tx2"/>
          </a:solidFill>
          <a:ln w="15875">
            <a:solidFill>
              <a:schemeClr val="bg1">
                <a:alpha val="45000"/>
              </a:schemeClr>
            </a:solidFill>
            <a:prstDash val="dash"/>
          </a:ln>
        </p:spPr>
      </p:sp>
      <p:pic>
        <p:nvPicPr>
          <p:cNvPr id="11" name="Bay icon 1" descr="preencoded.png">    </p:cNvPr>
          <p:cNvPicPr>
            <a:picLocks noChangeAspect="1"/>
          </p:cNvPicPr>
          <p:nvPr/>
        </p:nvPicPr>
        <p:blipFill>
          <a:blip r:embed="rId1"/>
          <a:stretch>
            <a:fillRect/>
          </a:stretch>
        </p:blipFill>
        <p:spPr>
          <a:xfrm>
            <a:off x="5783580" y="982980"/>
            <a:ext cx="457200" cy="457200"/>
          </a:xfrm>
          <a:prstGeom prst="rect">
            <a:avLst/>
          </a:prstGeom>
        </p:spPr>
      </p:pic>
      <p:sp>
        <p:nvSpPr>
          <p:cNvPr id="12" name="Parking bay 2"/>
          <p:cNvSpPr/>
          <p:nvPr/>
        </p:nvSpPr>
        <p:spPr>
          <a:xfrm>
            <a:off x="6629400" y="685800"/>
            <a:ext cx="960120" cy="1051560"/>
          </a:xfrm>
          <a:prstGeom prst="roundRect">
            <a:avLst>
              <a:gd name="adj" fmla="val 7619"/>
            </a:avLst>
          </a:prstGeom>
          <a:solidFill>
            <a:schemeClr val="accent2"/>
          </a:solidFill>
          <a:ln w="15875">
            <a:solidFill>
              <a:schemeClr val="bg1"/>
            </a:solidFill>
            <a:prstDash val="dash"/>
          </a:ln>
        </p:spPr>
      </p:sp>
      <p:pic>
        <p:nvPicPr>
          <p:cNvPr id="13" name="Bay icon 2" descr="preencoded.png">    </p:cNvPr>
          <p:cNvPicPr>
            <a:picLocks noChangeAspect="1"/>
          </p:cNvPicPr>
          <p:nvPr/>
        </p:nvPicPr>
        <p:blipFill>
          <a:blip r:embed="rId2"/>
          <a:stretch>
            <a:fillRect/>
          </a:stretch>
        </p:blipFill>
        <p:spPr>
          <a:xfrm>
            <a:off x="6880860" y="982980"/>
            <a:ext cx="457200" cy="457200"/>
          </a:xfrm>
          <a:prstGeom prst="rect">
            <a:avLst/>
          </a:prstGeom>
        </p:spPr>
      </p:pic>
      <p:sp>
        <p:nvSpPr>
          <p:cNvPr id="14" name="Parking bay 3"/>
          <p:cNvSpPr/>
          <p:nvPr/>
        </p:nvSpPr>
        <p:spPr>
          <a:xfrm>
            <a:off x="7726680" y="685800"/>
            <a:ext cx="960120" cy="1051560"/>
          </a:xfrm>
          <a:prstGeom prst="roundRect">
            <a:avLst>
              <a:gd name="adj" fmla="val 7619"/>
            </a:avLst>
          </a:prstGeom>
          <a:solidFill>
            <a:schemeClr val="tx2"/>
          </a:solidFill>
          <a:ln w="15875">
            <a:solidFill>
              <a:schemeClr val="bg1">
                <a:alpha val="45000"/>
              </a:schemeClr>
            </a:solidFill>
            <a:prstDash val="dash"/>
          </a:ln>
        </p:spPr>
      </p:sp>
      <p:pic>
        <p:nvPicPr>
          <p:cNvPr id="15" name="Bay icon 3" descr="preencoded.png">    </p:cNvPr>
          <p:cNvPicPr>
            <a:picLocks noChangeAspect="1"/>
          </p:cNvPicPr>
          <p:nvPr/>
        </p:nvPicPr>
        <p:blipFill>
          <a:blip r:embed="rId3"/>
          <a:stretch>
            <a:fillRect/>
          </a:stretch>
        </p:blipFill>
        <p:spPr>
          <a:xfrm>
            <a:off x="7978140" y="982980"/>
            <a:ext cx="457200" cy="457200"/>
          </a:xfrm>
          <a:prstGeom prst="rect">
            <a:avLst/>
          </a:prstGeom>
        </p:spPr>
      </p:pic>
      <p:sp>
        <p:nvSpPr>
          <p:cNvPr id="16" name="Parking bay 4"/>
          <p:cNvSpPr/>
          <p:nvPr/>
        </p:nvSpPr>
        <p:spPr>
          <a:xfrm>
            <a:off x="5532120" y="1874520"/>
            <a:ext cx="960120" cy="1051560"/>
          </a:xfrm>
          <a:prstGeom prst="roundRect">
            <a:avLst>
              <a:gd name="adj" fmla="val 7619"/>
            </a:avLst>
          </a:prstGeom>
          <a:solidFill>
            <a:schemeClr val="tx2"/>
          </a:solidFill>
          <a:ln w="15875">
            <a:solidFill>
              <a:schemeClr val="bg1">
                <a:alpha val="45000"/>
              </a:schemeClr>
            </a:solidFill>
            <a:prstDash val="dash"/>
          </a:ln>
        </p:spPr>
      </p:sp>
      <p:pic>
        <p:nvPicPr>
          <p:cNvPr id="17" name="Bay icon 4" descr="preencoded.png">    </p:cNvPr>
          <p:cNvPicPr>
            <a:picLocks noChangeAspect="1"/>
          </p:cNvPicPr>
          <p:nvPr/>
        </p:nvPicPr>
        <p:blipFill>
          <a:blip r:embed="rId4"/>
          <a:stretch>
            <a:fillRect/>
          </a:stretch>
        </p:blipFill>
        <p:spPr>
          <a:xfrm>
            <a:off x="5783580" y="2171700"/>
            <a:ext cx="457200" cy="457200"/>
          </a:xfrm>
          <a:prstGeom prst="rect">
            <a:avLst/>
          </a:prstGeom>
        </p:spPr>
      </p:pic>
      <p:sp>
        <p:nvSpPr>
          <p:cNvPr id="18" name="Parking bay 5"/>
          <p:cNvSpPr/>
          <p:nvPr/>
        </p:nvSpPr>
        <p:spPr>
          <a:xfrm>
            <a:off x="6629400" y="1874520"/>
            <a:ext cx="960120" cy="1051560"/>
          </a:xfrm>
          <a:prstGeom prst="roundRect">
            <a:avLst>
              <a:gd name="adj" fmla="val 7619"/>
            </a:avLst>
          </a:prstGeom>
          <a:solidFill>
            <a:schemeClr val="tx2"/>
          </a:solidFill>
          <a:ln w="15875">
            <a:solidFill>
              <a:schemeClr val="bg1">
                <a:alpha val="45000"/>
              </a:schemeClr>
            </a:solidFill>
            <a:prstDash val="dash"/>
          </a:ln>
        </p:spPr>
      </p:sp>
      <p:pic>
        <p:nvPicPr>
          <p:cNvPr id="19" name="Bay icon 5" descr="preencoded.png">    </p:cNvPr>
          <p:cNvPicPr>
            <a:picLocks noChangeAspect="1"/>
          </p:cNvPicPr>
          <p:nvPr/>
        </p:nvPicPr>
        <p:blipFill>
          <a:blip r:embed="rId5"/>
          <a:stretch>
            <a:fillRect/>
          </a:stretch>
        </p:blipFill>
        <p:spPr>
          <a:xfrm>
            <a:off x="6880860" y="2171700"/>
            <a:ext cx="457200" cy="457200"/>
          </a:xfrm>
          <a:prstGeom prst="rect">
            <a:avLst/>
          </a:prstGeom>
        </p:spPr>
      </p:pic>
      <p:sp>
        <p:nvSpPr>
          <p:cNvPr id="20" name="Parking bay 6"/>
          <p:cNvSpPr/>
          <p:nvPr/>
        </p:nvSpPr>
        <p:spPr>
          <a:xfrm>
            <a:off x="7726680" y="1874520"/>
            <a:ext cx="960120" cy="1051560"/>
          </a:xfrm>
          <a:prstGeom prst="roundRect">
            <a:avLst>
              <a:gd name="adj" fmla="val 7619"/>
            </a:avLst>
          </a:prstGeom>
          <a:solidFill>
            <a:schemeClr val="accent1"/>
          </a:solidFill>
          <a:ln w="15875">
            <a:solidFill>
              <a:schemeClr val="bg1"/>
            </a:solidFill>
            <a:prstDash val="dash"/>
          </a:ln>
        </p:spPr>
      </p:sp>
      <p:pic>
        <p:nvPicPr>
          <p:cNvPr id="21" name="Bay icon 6" descr="preencoded.png">    </p:cNvPr>
          <p:cNvPicPr>
            <a:picLocks noChangeAspect="1"/>
          </p:cNvPicPr>
          <p:nvPr/>
        </p:nvPicPr>
        <p:blipFill>
          <a:blip r:embed="rId6"/>
          <a:stretch>
            <a:fillRect/>
          </a:stretch>
        </p:blipFill>
        <p:spPr>
          <a:xfrm>
            <a:off x="7978140" y="2171700"/>
            <a:ext cx="457200" cy="457200"/>
          </a:xfrm>
          <a:prstGeom prst="rect">
            <a:avLst/>
          </a:prstGeom>
        </p:spPr>
      </p:pic>
      <p:sp>
        <p:nvSpPr>
          <p:cNvPr id="22" name="Parking bay 7"/>
          <p:cNvSpPr/>
          <p:nvPr/>
        </p:nvSpPr>
        <p:spPr>
          <a:xfrm>
            <a:off x="5532120" y="3063240"/>
            <a:ext cx="960120" cy="1051560"/>
          </a:xfrm>
          <a:prstGeom prst="roundRect">
            <a:avLst>
              <a:gd name="adj" fmla="val 7619"/>
            </a:avLst>
          </a:prstGeom>
          <a:solidFill>
            <a:schemeClr val="accent4"/>
          </a:solidFill>
          <a:ln w="15875">
            <a:solidFill>
              <a:schemeClr val="bg1"/>
            </a:solidFill>
            <a:prstDash val="dash"/>
          </a:ln>
        </p:spPr>
      </p:sp>
      <p:pic>
        <p:nvPicPr>
          <p:cNvPr id="23" name="Bay icon 7" descr="preencoded.png">    </p:cNvPr>
          <p:cNvPicPr>
            <a:picLocks noChangeAspect="1"/>
          </p:cNvPicPr>
          <p:nvPr/>
        </p:nvPicPr>
        <p:blipFill>
          <a:blip r:embed="rId7"/>
          <a:stretch>
            <a:fillRect/>
          </a:stretch>
        </p:blipFill>
        <p:spPr>
          <a:xfrm>
            <a:off x="5783580" y="3360420"/>
            <a:ext cx="457200" cy="457200"/>
          </a:xfrm>
          <a:prstGeom prst="rect">
            <a:avLst/>
          </a:prstGeom>
        </p:spPr>
      </p:pic>
      <p:sp>
        <p:nvSpPr>
          <p:cNvPr id="24" name="Parking bay 8"/>
          <p:cNvSpPr/>
          <p:nvPr/>
        </p:nvSpPr>
        <p:spPr>
          <a:xfrm>
            <a:off x="6629400" y="3063240"/>
            <a:ext cx="960120" cy="1051560"/>
          </a:xfrm>
          <a:prstGeom prst="roundRect">
            <a:avLst>
              <a:gd name="adj" fmla="val 7619"/>
            </a:avLst>
          </a:prstGeom>
          <a:solidFill>
            <a:schemeClr val="tx2"/>
          </a:solidFill>
          <a:ln w="15875">
            <a:solidFill>
              <a:schemeClr val="bg1">
                <a:alpha val="45000"/>
              </a:schemeClr>
            </a:solidFill>
            <a:prstDash val="dash"/>
          </a:ln>
        </p:spPr>
      </p:sp>
      <p:pic>
        <p:nvPicPr>
          <p:cNvPr id="25" name="Bay icon 8" descr="preencoded.png">    </p:cNvPr>
          <p:cNvPicPr>
            <a:picLocks noChangeAspect="1"/>
          </p:cNvPicPr>
          <p:nvPr/>
        </p:nvPicPr>
        <p:blipFill>
          <a:blip r:embed="rId8"/>
          <a:stretch>
            <a:fillRect/>
          </a:stretch>
        </p:blipFill>
        <p:spPr>
          <a:xfrm>
            <a:off x="6880860" y="3360420"/>
            <a:ext cx="457200" cy="457200"/>
          </a:xfrm>
          <a:prstGeom prst="rect">
            <a:avLst/>
          </a:prstGeom>
        </p:spPr>
      </p:pic>
      <p:sp>
        <p:nvSpPr>
          <p:cNvPr id="26" name="Parking bay 9"/>
          <p:cNvSpPr/>
          <p:nvPr/>
        </p:nvSpPr>
        <p:spPr>
          <a:xfrm>
            <a:off x="7726680" y="3063240"/>
            <a:ext cx="960120" cy="1051560"/>
          </a:xfrm>
          <a:prstGeom prst="roundRect">
            <a:avLst>
              <a:gd name="adj" fmla="val 7619"/>
            </a:avLst>
          </a:prstGeom>
          <a:solidFill>
            <a:schemeClr val="tx2"/>
          </a:solidFill>
          <a:ln w="15875">
            <a:solidFill>
              <a:schemeClr val="bg1">
                <a:alpha val="45000"/>
              </a:schemeClr>
            </a:solidFill>
            <a:prstDash val="dash"/>
          </a:ln>
        </p:spPr>
      </p:sp>
      <p:pic>
        <p:nvPicPr>
          <p:cNvPr id="27" name="Bay icon 9" descr="preencoded.png">    </p:cNvPr>
          <p:cNvPicPr>
            <a:picLocks noChangeAspect="1"/>
          </p:cNvPicPr>
          <p:nvPr/>
        </p:nvPicPr>
        <p:blipFill>
          <a:blip r:embed="rId9"/>
          <a:stretch>
            <a:fillRect/>
          </a:stretch>
        </p:blipFill>
        <p:spPr>
          <a:xfrm>
            <a:off x="7978140" y="3360420"/>
            <a:ext cx="457200" cy="457200"/>
          </a:xfrm>
          <a:prstGeom prst="rect">
            <a:avLst/>
          </a:prstGeom>
        </p:spPr>
      </p:pic>
      <p:sp>
        <p:nvSpPr>
          <p:cNvPr id="28" name="Graphic caption"/>
          <p:cNvSpPr txBox="1"/>
          <p:nvPr/>
        </p:nvSpPr>
        <p:spPr>
          <a:xfrm>
            <a:off x="5532120" y="4434840"/>
            <a:ext cx="3337560" cy="320040"/>
          </a:xfrm>
          <a:prstGeom prst="rect">
            <a:avLst/>
          </a:prstGeom>
          <a:noFill/>
          <a:ln/>
        </p:spPr>
        <p:txBody>
          <a:bodyPr wrap="square" lIns="0" tIns="0" rIns="0" bIns="0" rtlCol="0" anchor="ctr"/>
          <a:lstStyle/>
          <a:p>
            <a:pPr algn="ctr" indent="0" marL="0">
              <a:buNone/>
            </a:pPr>
            <a:r>
              <a:rPr lang="en-US" sz="1400" i="1" dirty="0">
                <a:solidFill>
                  <a:schemeClr val="bg2"/>
                </a:solidFill>
              </a:rPr>
              <a:t>Vehicle arrives  →  </a:t>
            </a:r>
            <a:pPr algn="ctr" indent="0" marL="0">
              <a:buNone/>
            </a:pPr>
            <a:r>
              <a:rPr lang="en-US" sz="1400" b="1" i="1" dirty="0">
                <a:solidFill>
                  <a:schemeClr val="accent1"/>
                </a:solidFill>
              </a:rPr>
              <a:t>best feasible spot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ection badge"/>
          <p:cNvSpPr txBox="1"/>
          <p:nvPr/>
        </p:nvSpPr>
        <p:spPr>
          <a:xfrm>
            <a:off x="457200" y="228600"/>
            <a:ext cx="1321308" cy="256032"/>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dirty="0">
                <a:solidFill>
                  <a:schemeClr val="tx1"/>
                </a:solidFill>
              </a:rPr>
              <a:t>THE PROBLEM</a:t>
            </a:r>
            <a:endParaRPr lang="en-US" sz="1000" dirty="0"/>
          </a:p>
        </p:txBody>
      </p:sp>
      <p:sp>
        <p:nvSpPr>
          <p:cNvPr id="3" name="Text 0"/>
          <p:cNvSpPr/>
          <p:nvPr>
            <p:ph idx="100"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Why “nearest free spot” fails</a:t>
            </a:r>
            <a:endParaRPr lang="en-US" sz="3200" dirty="0"/>
          </a:p>
        </p:txBody>
      </p:sp>
      <p:sp>
        <p:nvSpPr>
          <p:cNvPr id="4" name="Problem subtitle"/>
          <p:cNvSpPr txBox="1"/>
          <p:nvPr/>
        </p:nvSpPr>
        <p:spPr>
          <a:xfrm>
            <a:off x="457200" y="1188720"/>
            <a:ext cx="8229600" cy="320040"/>
          </a:xfrm>
          <a:prstGeom prst="rect">
            <a:avLst/>
          </a:prstGeom>
          <a:noFill/>
          <a:ln/>
        </p:spPr>
        <p:txBody>
          <a:bodyPr wrap="square" lIns="0" tIns="0" rIns="0" bIns="0" rtlCol="0" anchor="ctr"/>
          <a:lstStyle/>
          <a:p>
            <a:pPr indent="0" marL="0">
              <a:buNone/>
            </a:pPr>
            <a:r>
              <a:rPr lang="en-US" sz="1600" dirty="0">
                <a:solidFill>
                  <a:schemeClr val="accent5"/>
                </a:solidFill>
              </a:rPr>
              <a:t>The closest empty bay may have no charger, or be too small for the car.</a:t>
            </a:r>
            <a:endParaRPr lang="en-US" sz="1600" dirty="0"/>
          </a:p>
        </p:txBody>
      </p:sp>
      <p:sp>
        <p:nvSpPr>
          <p:cNvPr id="5" name="Problem card 1"/>
          <p:cNvSpPr/>
          <p:nvPr/>
        </p:nvSpPr>
        <p:spPr>
          <a:xfrm>
            <a:off x="457200" y="1737360"/>
            <a:ext cx="1920240" cy="1828800"/>
          </a:xfrm>
          <a:prstGeom prst="roundRect">
            <a:avLst>
              <a:gd name="adj" fmla="val 5000"/>
            </a:avLst>
          </a:prstGeom>
          <a:solidFill>
            <a:schemeClr val="bg1"/>
          </a:solidFill>
          <a:ln/>
          <a:effectLst>
            <a:outerShdw sx="100000" sy="100000" kx="0" ky="0" algn="bl" rotWithShape="0" blurRad="76200" dist="25400" dir="5400000">
              <a:srgbClr val="000000">
                <a:alpha val="12000"/>
              </a:srgbClr>
            </a:outerShdw>
          </a:effectLst>
        </p:spPr>
      </p:sp>
      <p:sp>
        <p:nvSpPr>
          <p:cNvPr id="6" name="Problem icon 1 circle"/>
          <p:cNvSpPr/>
          <p:nvPr/>
        </p:nvSpPr>
        <p:spPr>
          <a:xfrm>
            <a:off x="640080" y="1901952"/>
            <a:ext cx="566928" cy="566928"/>
          </a:xfrm>
          <a:prstGeom prst="ellipse">
            <a:avLst/>
          </a:prstGeom>
          <a:solidFill>
            <a:schemeClr val="accent5"/>
          </a:solidFill>
          <a:ln/>
        </p:spPr>
      </p:sp>
      <p:pic>
        <p:nvPicPr>
          <p:cNvPr id="7" name="Problem icon 1" descr="preencoded.png">    </p:cNvPr>
          <p:cNvPicPr>
            <a:picLocks noChangeAspect="1"/>
          </p:cNvPicPr>
          <p:nvPr/>
        </p:nvPicPr>
        <p:blipFill>
          <a:blip r:embed="rId1"/>
          <a:stretch>
            <a:fillRect/>
          </a:stretch>
        </p:blipFill>
        <p:spPr>
          <a:xfrm>
            <a:off x="787481" y="2049353"/>
            <a:ext cx="272125" cy="272125"/>
          </a:xfrm>
          <a:prstGeom prst="rect">
            <a:avLst/>
          </a:prstGeom>
        </p:spPr>
      </p:pic>
      <p:sp>
        <p:nvSpPr>
          <p:cNvPr id="8" name="Problem title 1"/>
          <p:cNvSpPr txBox="1"/>
          <p:nvPr/>
        </p:nvSpPr>
        <p:spPr>
          <a:xfrm>
            <a:off x="640080" y="2651760"/>
            <a:ext cx="1600200" cy="274320"/>
          </a:xfrm>
          <a:prstGeom prst="rect">
            <a:avLst/>
          </a:prstGeom>
          <a:noFill/>
          <a:ln/>
        </p:spPr>
        <p:txBody>
          <a:bodyPr wrap="square" lIns="0" tIns="0" rIns="0" bIns="0" rtlCol="0" anchor="ctr"/>
          <a:lstStyle/>
          <a:p>
            <a:pPr indent="0" marL="0">
              <a:buNone/>
            </a:pPr>
            <a:r>
              <a:rPr lang="en-US" sz="1700" b="1" dirty="0">
                <a:solidFill>
                  <a:schemeClr val="tx1"/>
                </a:solidFill>
              </a:rPr>
              <a:t>Occupied</a:t>
            </a:r>
            <a:endParaRPr lang="en-US" sz="1700" dirty="0"/>
          </a:p>
        </p:txBody>
      </p:sp>
      <p:sp>
        <p:nvSpPr>
          <p:cNvPr id="9" name="Problem text 1"/>
          <p:cNvSpPr txBox="1"/>
          <p:nvPr/>
        </p:nvSpPr>
        <p:spPr>
          <a:xfrm>
            <a:off x="640080" y="2944368"/>
            <a:ext cx="1600200" cy="548640"/>
          </a:xfrm>
          <a:prstGeom prst="rect">
            <a:avLst/>
          </a:prstGeom>
          <a:noFill/>
          <a:ln/>
        </p:spPr>
        <p:txBody>
          <a:bodyPr wrap="square" lIns="0" tIns="0" rIns="0" bIns="0" rtlCol="0" anchor="t"/>
          <a:lstStyle/>
          <a:p>
            <a:pPr indent="0" marL="0">
              <a:buNone/>
            </a:pPr>
            <a:r>
              <a:rPr lang="en-US" sz="1400" dirty="0">
                <a:solidFill>
                  <a:schemeClr val="accent5"/>
                </a:solidFill>
              </a:rPr>
              <a:t>A taken bay is out, however close it is.</a:t>
            </a:r>
            <a:endParaRPr lang="en-US" sz="1400" dirty="0"/>
          </a:p>
        </p:txBody>
      </p:sp>
      <p:sp>
        <p:nvSpPr>
          <p:cNvPr id="10" name="Problem card 2"/>
          <p:cNvSpPr/>
          <p:nvPr/>
        </p:nvSpPr>
        <p:spPr>
          <a:xfrm>
            <a:off x="2560320" y="1737360"/>
            <a:ext cx="1920240" cy="1828800"/>
          </a:xfrm>
          <a:prstGeom prst="roundRect">
            <a:avLst>
              <a:gd name="adj" fmla="val 5000"/>
            </a:avLst>
          </a:prstGeom>
          <a:solidFill>
            <a:schemeClr val="bg1"/>
          </a:solidFill>
          <a:ln/>
          <a:effectLst>
            <a:outerShdw sx="100000" sy="100000" kx="0" ky="0" algn="bl" rotWithShape="0" blurRad="76200" dist="25400" dir="5400000">
              <a:srgbClr val="000000">
                <a:alpha val="12000"/>
              </a:srgbClr>
            </a:outerShdw>
          </a:effectLst>
        </p:spPr>
      </p:sp>
      <p:sp>
        <p:nvSpPr>
          <p:cNvPr id="11" name="Problem icon 2 circle"/>
          <p:cNvSpPr/>
          <p:nvPr/>
        </p:nvSpPr>
        <p:spPr>
          <a:xfrm>
            <a:off x="2743200" y="1901952"/>
            <a:ext cx="566928" cy="566928"/>
          </a:xfrm>
          <a:prstGeom prst="ellipse">
            <a:avLst/>
          </a:prstGeom>
          <a:solidFill>
            <a:schemeClr val="accent2"/>
          </a:solidFill>
          <a:ln/>
        </p:spPr>
      </p:sp>
      <p:pic>
        <p:nvPicPr>
          <p:cNvPr id="12" name="Problem icon 2" descr="preencoded.png">    </p:cNvPr>
          <p:cNvPicPr>
            <a:picLocks noChangeAspect="1"/>
          </p:cNvPicPr>
          <p:nvPr/>
        </p:nvPicPr>
        <p:blipFill>
          <a:blip r:embed="rId2"/>
          <a:stretch>
            <a:fillRect/>
          </a:stretch>
        </p:blipFill>
        <p:spPr>
          <a:xfrm>
            <a:off x="2890601" y="2049353"/>
            <a:ext cx="272125" cy="272125"/>
          </a:xfrm>
          <a:prstGeom prst="rect">
            <a:avLst/>
          </a:prstGeom>
        </p:spPr>
      </p:pic>
      <p:sp>
        <p:nvSpPr>
          <p:cNvPr id="13" name="Problem title 2"/>
          <p:cNvSpPr txBox="1"/>
          <p:nvPr/>
        </p:nvSpPr>
        <p:spPr>
          <a:xfrm>
            <a:off x="2743200" y="2651760"/>
            <a:ext cx="1600200" cy="274320"/>
          </a:xfrm>
          <a:prstGeom prst="rect">
            <a:avLst/>
          </a:prstGeom>
          <a:noFill/>
          <a:ln/>
        </p:spPr>
        <p:txBody>
          <a:bodyPr wrap="square" lIns="0" tIns="0" rIns="0" bIns="0" rtlCol="0" anchor="ctr"/>
          <a:lstStyle/>
          <a:p>
            <a:pPr indent="0" marL="0">
              <a:buNone/>
            </a:pPr>
            <a:r>
              <a:rPr lang="en-US" sz="1700" b="1" dirty="0">
                <a:solidFill>
                  <a:schemeClr val="tx1"/>
                </a:solidFill>
              </a:rPr>
              <a:t>EV charging</a:t>
            </a:r>
            <a:endParaRPr lang="en-US" sz="1700" dirty="0"/>
          </a:p>
        </p:txBody>
      </p:sp>
      <p:sp>
        <p:nvSpPr>
          <p:cNvPr id="14" name="Problem text 2"/>
          <p:cNvSpPr txBox="1"/>
          <p:nvPr/>
        </p:nvSpPr>
        <p:spPr>
          <a:xfrm>
            <a:off x="2743200" y="2944368"/>
            <a:ext cx="1600200" cy="548640"/>
          </a:xfrm>
          <a:prstGeom prst="rect">
            <a:avLst/>
          </a:prstGeom>
          <a:noFill/>
          <a:ln/>
        </p:spPr>
        <p:txBody>
          <a:bodyPr wrap="square" lIns="0" tIns="0" rIns="0" bIns="0" rtlCol="0" anchor="t"/>
          <a:lstStyle/>
          <a:p>
            <a:pPr indent="0" marL="0">
              <a:buNone/>
            </a:pPr>
            <a:r>
              <a:rPr lang="en-US" sz="1400" dirty="0">
                <a:solidFill>
                  <a:schemeClr val="accent5"/>
                </a:solidFill>
              </a:rPr>
              <a:t>An electric car needs a charger.</a:t>
            </a:r>
            <a:endParaRPr lang="en-US" sz="1400" dirty="0"/>
          </a:p>
        </p:txBody>
      </p:sp>
      <p:sp>
        <p:nvSpPr>
          <p:cNvPr id="15" name="Problem card 3"/>
          <p:cNvSpPr/>
          <p:nvPr/>
        </p:nvSpPr>
        <p:spPr>
          <a:xfrm>
            <a:off x="4663440" y="1737360"/>
            <a:ext cx="1920240" cy="1828800"/>
          </a:xfrm>
          <a:prstGeom prst="roundRect">
            <a:avLst>
              <a:gd name="adj" fmla="val 5000"/>
            </a:avLst>
          </a:prstGeom>
          <a:solidFill>
            <a:schemeClr val="bg1"/>
          </a:solidFill>
          <a:ln/>
          <a:effectLst>
            <a:outerShdw sx="100000" sy="100000" kx="0" ky="0" algn="bl" rotWithShape="0" blurRad="76200" dist="25400" dir="5400000">
              <a:srgbClr val="000000">
                <a:alpha val="12000"/>
              </a:srgbClr>
            </a:outerShdw>
          </a:effectLst>
        </p:spPr>
      </p:sp>
      <p:sp>
        <p:nvSpPr>
          <p:cNvPr id="16" name="Problem icon 3 circle"/>
          <p:cNvSpPr/>
          <p:nvPr/>
        </p:nvSpPr>
        <p:spPr>
          <a:xfrm>
            <a:off x="4846320" y="1901952"/>
            <a:ext cx="566928" cy="566928"/>
          </a:xfrm>
          <a:prstGeom prst="ellipse">
            <a:avLst/>
          </a:prstGeom>
          <a:solidFill>
            <a:schemeClr val="accent4"/>
          </a:solidFill>
          <a:ln/>
        </p:spPr>
      </p:sp>
      <p:pic>
        <p:nvPicPr>
          <p:cNvPr id="17" name="Problem icon 3" descr="preencoded.png">    </p:cNvPr>
          <p:cNvPicPr>
            <a:picLocks noChangeAspect="1"/>
          </p:cNvPicPr>
          <p:nvPr/>
        </p:nvPicPr>
        <p:blipFill>
          <a:blip r:embed="rId3"/>
          <a:stretch>
            <a:fillRect/>
          </a:stretch>
        </p:blipFill>
        <p:spPr>
          <a:xfrm>
            <a:off x="4993721" y="2049353"/>
            <a:ext cx="272125" cy="272125"/>
          </a:xfrm>
          <a:prstGeom prst="rect">
            <a:avLst/>
          </a:prstGeom>
        </p:spPr>
      </p:pic>
      <p:sp>
        <p:nvSpPr>
          <p:cNvPr id="18" name="Problem title 3"/>
          <p:cNvSpPr txBox="1"/>
          <p:nvPr/>
        </p:nvSpPr>
        <p:spPr>
          <a:xfrm>
            <a:off x="4846320" y="2651760"/>
            <a:ext cx="1600200" cy="274320"/>
          </a:xfrm>
          <a:prstGeom prst="rect">
            <a:avLst/>
          </a:prstGeom>
          <a:noFill/>
          <a:ln/>
        </p:spPr>
        <p:txBody>
          <a:bodyPr wrap="square" lIns="0" tIns="0" rIns="0" bIns="0" rtlCol="0" anchor="ctr"/>
          <a:lstStyle/>
          <a:p>
            <a:pPr indent="0" marL="0">
              <a:buNone/>
            </a:pPr>
            <a:r>
              <a:rPr lang="en-US" sz="1700" b="1" dirty="0">
                <a:solidFill>
                  <a:schemeClr val="tx1"/>
                </a:solidFill>
              </a:rPr>
              <a:t>Accessibility</a:t>
            </a:r>
            <a:endParaRPr lang="en-US" sz="1700" dirty="0"/>
          </a:p>
        </p:txBody>
      </p:sp>
      <p:sp>
        <p:nvSpPr>
          <p:cNvPr id="19" name="Problem text 3"/>
          <p:cNvSpPr txBox="1"/>
          <p:nvPr/>
        </p:nvSpPr>
        <p:spPr>
          <a:xfrm>
            <a:off x="4846320" y="2944368"/>
            <a:ext cx="1600200" cy="548640"/>
          </a:xfrm>
          <a:prstGeom prst="rect">
            <a:avLst/>
          </a:prstGeom>
          <a:noFill/>
          <a:ln/>
        </p:spPr>
        <p:txBody>
          <a:bodyPr wrap="square" lIns="0" tIns="0" rIns="0" bIns="0" rtlCol="0" anchor="t"/>
          <a:lstStyle/>
          <a:p>
            <a:pPr indent="0" marL="0">
              <a:buNone/>
            </a:pPr>
            <a:r>
              <a:rPr lang="en-US" sz="1400" dirty="0">
                <a:solidFill>
                  <a:schemeClr val="accent5"/>
                </a:solidFill>
              </a:rPr>
              <a:t>Some drivers need an accessible bay.</a:t>
            </a:r>
            <a:endParaRPr lang="en-US" sz="1400" dirty="0"/>
          </a:p>
        </p:txBody>
      </p:sp>
      <p:sp>
        <p:nvSpPr>
          <p:cNvPr id="20" name="Problem card 4"/>
          <p:cNvSpPr/>
          <p:nvPr/>
        </p:nvSpPr>
        <p:spPr>
          <a:xfrm>
            <a:off x="6766560" y="1737360"/>
            <a:ext cx="1920240" cy="1828800"/>
          </a:xfrm>
          <a:prstGeom prst="roundRect">
            <a:avLst>
              <a:gd name="adj" fmla="val 5000"/>
            </a:avLst>
          </a:prstGeom>
          <a:solidFill>
            <a:schemeClr val="bg1"/>
          </a:solidFill>
          <a:ln/>
          <a:effectLst>
            <a:outerShdw sx="100000" sy="100000" kx="0" ky="0" algn="bl" rotWithShape="0" blurRad="76200" dist="25400" dir="5400000">
              <a:srgbClr val="000000">
                <a:alpha val="12000"/>
              </a:srgbClr>
            </a:outerShdw>
          </a:effectLst>
        </p:spPr>
      </p:sp>
      <p:sp>
        <p:nvSpPr>
          <p:cNvPr id="21" name="Problem icon 4 circle"/>
          <p:cNvSpPr/>
          <p:nvPr/>
        </p:nvSpPr>
        <p:spPr>
          <a:xfrm>
            <a:off x="6949440" y="1901952"/>
            <a:ext cx="566928" cy="566928"/>
          </a:xfrm>
          <a:prstGeom prst="ellipse">
            <a:avLst/>
          </a:prstGeom>
          <a:solidFill>
            <a:schemeClr val="accent6"/>
          </a:solidFill>
          <a:ln/>
        </p:spPr>
      </p:sp>
      <p:pic>
        <p:nvPicPr>
          <p:cNvPr id="22" name="Problem icon 4" descr="preencoded.png">    </p:cNvPr>
          <p:cNvPicPr>
            <a:picLocks noChangeAspect="1"/>
          </p:cNvPicPr>
          <p:nvPr/>
        </p:nvPicPr>
        <p:blipFill>
          <a:blip r:embed="rId4"/>
          <a:stretch>
            <a:fillRect/>
          </a:stretch>
        </p:blipFill>
        <p:spPr>
          <a:xfrm>
            <a:off x="7096841" y="2049353"/>
            <a:ext cx="272125" cy="272125"/>
          </a:xfrm>
          <a:prstGeom prst="rect">
            <a:avLst/>
          </a:prstGeom>
        </p:spPr>
      </p:pic>
      <p:sp>
        <p:nvSpPr>
          <p:cNvPr id="23" name="Problem title 4"/>
          <p:cNvSpPr txBox="1"/>
          <p:nvPr/>
        </p:nvSpPr>
        <p:spPr>
          <a:xfrm>
            <a:off x="6949440" y="2651760"/>
            <a:ext cx="1600200" cy="274320"/>
          </a:xfrm>
          <a:prstGeom prst="rect">
            <a:avLst/>
          </a:prstGeom>
          <a:noFill/>
          <a:ln/>
        </p:spPr>
        <p:txBody>
          <a:bodyPr wrap="square" lIns="0" tIns="0" rIns="0" bIns="0" rtlCol="0" anchor="ctr"/>
          <a:lstStyle/>
          <a:p>
            <a:pPr indent="0" marL="0">
              <a:buNone/>
            </a:pPr>
            <a:r>
              <a:rPr lang="en-US" sz="1700" b="1" dirty="0">
                <a:solidFill>
                  <a:schemeClr val="tx1"/>
                </a:solidFill>
              </a:rPr>
              <a:t>Vehicle size</a:t>
            </a:r>
            <a:endParaRPr lang="en-US" sz="1700" dirty="0"/>
          </a:p>
        </p:txBody>
      </p:sp>
      <p:sp>
        <p:nvSpPr>
          <p:cNvPr id="24" name="Problem text 4"/>
          <p:cNvSpPr txBox="1"/>
          <p:nvPr/>
        </p:nvSpPr>
        <p:spPr>
          <a:xfrm>
            <a:off x="6949440" y="2944368"/>
            <a:ext cx="1600200" cy="548640"/>
          </a:xfrm>
          <a:prstGeom prst="rect">
            <a:avLst/>
          </a:prstGeom>
          <a:noFill/>
          <a:ln/>
        </p:spPr>
        <p:txBody>
          <a:bodyPr wrap="square" lIns="0" tIns="0" rIns="0" bIns="0" rtlCol="0" anchor="t"/>
          <a:lstStyle/>
          <a:p>
            <a:pPr indent="0" marL="0">
              <a:buNone/>
            </a:pPr>
            <a:r>
              <a:rPr lang="en-US" sz="1400" dirty="0">
                <a:solidFill>
                  <a:schemeClr val="accent5"/>
                </a:solidFill>
              </a:rPr>
              <a:t>A large car cannot fit a small bay.</a:t>
            </a:r>
            <a:endParaRPr lang="en-US" sz="1400" dirty="0"/>
          </a:p>
        </p:txBody>
      </p:sp>
      <p:sp>
        <p:nvSpPr>
          <p:cNvPr id="25" name="Question band"/>
          <p:cNvSpPr/>
          <p:nvPr/>
        </p:nvSpPr>
        <p:spPr>
          <a:xfrm>
            <a:off x="457200" y="3840480"/>
            <a:ext cx="8229600" cy="868680"/>
          </a:xfrm>
          <a:prstGeom prst="roundRect">
            <a:avLst>
              <a:gd name="adj" fmla="val 10526"/>
            </a:avLst>
          </a:prstGeom>
          <a:solidFill>
            <a:schemeClr val="tx1"/>
          </a:solidFill>
          <a:ln/>
          <a:effectLst>
            <a:outerShdw sx="100000" sy="100000" kx="0" ky="0" algn="bl" rotWithShape="0" blurRad="76200" dist="25400" dir="5400000">
              <a:srgbClr val="000000">
                <a:alpha val="12000"/>
              </a:srgbClr>
            </a:outerShdw>
          </a:effectLst>
        </p:spPr>
      </p:sp>
      <p:sp>
        <p:nvSpPr>
          <p:cNvPr id="26" name="Question label"/>
          <p:cNvSpPr txBox="1"/>
          <p:nvPr/>
        </p:nvSpPr>
        <p:spPr>
          <a:xfrm>
            <a:off x="731520" y="3931920"/>
            <a:ext cx="2743200" cy="201168"/>
          </a:xfrm>
          <a:prstGeom prst="rect">
            <a:avLst/>
          </a:prstGeom>
          <a:noFill/>
          <a:ln/>
        </p:spPr>
        <p:txBody>
          <a:bodyPr wrap="square" lIns="0" tIns="0" rIns="0" bIns="0" rtlCol="0" anchor="ctr"/>
          <a:lstStyle/>
          <a:p>
            <a:pPr indent="0" marL="0">
              <a:buNone/>
            </a:pPr>
            <a:r>
              <a:rPr lang="en-US" sz="1000" b="1" spc="300" kern="0" dirty="0">
                <a:solidFill>
                  <a:schemeClr val="accent1"/>
                </a:solidFill>
              </a:rPr>
              <a:t>OUR QUESTION</a:t>
            </a:r>
            <a:endParaRPr lang="en-US" sz="1000" dirty="0"/>
          </a:p>
        </p:txBody>
      </p:sp>
      <p:sp>
        <p:nvSpPr>
          <p:cNvPr id="27" name="Question text"/>
          <p:cNvSpPr txBox="1"/>
          <p:nvPr/>
        </p:nvSpPr>
        <p:spPr>
          <a:xfrm>
            <a:off x="731520" y="4133088"/>
            <a:ext cx="7680960" cy="457200"/>
          </a:xfrm>
          <a:prstGeom prst="rect">
            <a:avLst/>
          </a:prstGeom>
          <a:noFill/>
          <a:ln/>
        </p:spPr>
        <p:txBody>
          <a:bodyPr wrap="square" lIns="0" tIns="0" rIns="0" bIns="0" rtlCol="0" anchor="t"/>
          <a:lstStyle/>
          <a:p>
            <a:pPr indent="0" marL="0">
              <a:buNone/>
            </a:pPr>
            <a:r>
              <a:rPr lang="en-US" sz="1600" i="1" dirty="0">
                <a:solidFill>
                  <a:schemeClr val="bg1"/>
                </a:solidFill>
                <a:latin typeface="Cambria" pitchFamily="34" charset="0"/>
                <a:ea typeface="Cambria" pitchFamily="34" charset="-122"/>
                <a:cs typeface="Cambria" pitchFamily="34" charset="-120"/>
              </a:rPr>
              <a:t>Given a vehicle and the current lot, which free space is the best mathematical match?</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badge"/>
          <p:cNvSpPr txBox="1"/>
          <p:nvPr/>
        </p:nvSpPr>
        <p:spPr>
          <a:xfrm>
            <a:off x="457200" y="228600"/>
            <a:ext cx="1060704" cy="256032"/>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dirty="0">
                <a:solidFill>
                  <a:schemeClr val="tx1"/>
                </a:solidFill>
              </a:rPr>
              <a:t>OVERVIEW</a:t>
            </a:r>
            <a:endParaRPr lang="en-US" sz="1000" dirty="0"/>
          </a:p>
        </p:txBody>
      </p:sp>
      <p:sp>
        <p:nvSpPr>
          <p:cNvPr id="3" name="Text 0"/>
          <p:cNvSpPr/>
          <p:nvPr>
            <p:ph idx="100"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3200" b="1" dirty="0">
                <a:solidFill>
                  <a:schemeClr val="bg1"/>
                </a:solidFill>
              </a:rPr>
              <a:t>The whole idea in six steps</a:t>
            </a:r>
            <a:endParaRPr lang="en-US" sz="3200" dirty="0"/>
          </a:p>
        </p:txBody>
      </p:sp>
      <p:sp>
        <p:nvSpPr>
          <p:cNvPr id="4" name="Step card 1"/>
          <p:cNvSpPr/>
          <p:nvPr/>
        </p:nvSpPr>
        <p:spPr>
          <a:xfrm>
            <a:off x="457200" y="1325880"/>
            <a:ext cx="2560320" cy="1371600"/>
          </a:xfrm>
          <a:prstGeom prst="roundRect">
            <a:avLst>
              <a:gd name="adj" fmla="val 6667"/>
            </a:avLst>
          </a:prstGeom>
          <a:solidFill>
            <a:schemeClr val="tx2"/>
          </a:solidFill>
          <a:ln/>
        </p:spPr>
      </p:sp>
      <p:sp>
        <p:nvSpPr>
          <p:cNvPr id="5" name="Step number circle 1"/>
          <p:cNvSpPr/>
          <p:nvPr/>
        </p:nvSpPr>
        <p:spPr>
          <a:xfrm>
            <a:off x="640080" y="1490472"/>
            <a:ext cx="420624" cy="420624"/>
          </a:xfrm>
          <a:prstGeom prst="ellipse">
            <a:avLst/>
          </a:prstGeom>
          <a:solidFill>
            <a:schemeClr val="accent1"/>
          </a:solidFill>
          <a:ln/>
        </p:spPr>
      </p:sp>
      <p:sp>
        <p:nvSpPr>
          <p:cNvPr id="6" name="Step number 1"/>
          <p:cNvSpPr txBox="1"/>
          <p:nvPr/>
        </p:nvSpPr>
        <p:spPr>
          <a:xfrm>
            <a:off x="640080" y="1490472"/>
            <a:ext cx="420624" cy="420624"/>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7" name="Step title 1"/>
          <p:cNvSpPr txBox="1"/>
          <p:nvPr/>
        </p:nvSpPr>
        <p:spPr>
          <a:xfrm>
            <a:off x="1170432" y="1490472"/>
            <a:ext cx="1737360" cy="420624"/>
          </a:xfrm>
          <a:prstGeom prst="rect">
            <a:avLst/>
          </a:prstGeom>
          <a:noFill/>
          <a:ln/>
        </p:spPr>
        <p:txBody>
          <a:bodyPr wrap="square" lIns="0" tIns="0" rIns="0" bIns="0" rtlCol="0" anchor="ctr"/>
          <a:lstStyle/>
          <a:p>
            <a:pPr indent="0" marL="0">
              <a:buNone/>
            </a:pPr>
            <a:r>
              <a:rPr lang="en-US" sz="1700" b="1" dirty="0">
                <a:solidFill>
                  <a:schemeClr val="bg1"/>
                </a:solidFill>
              </a:rPr>
              <a:t>Describe the vehicle</a:t>
            </a:r>
            <a:endParaRPr lang="en-US" sz="1700" dirty="0"/>
          </a:p>
        </p:txBody>
      </p:sp>
      <p:sp>
        <p:nvSpPr>
          <p:cNvPr id="8" name="Step text 1"/>
          <p:cNvSpPr txBox="1"/>
          <p:nvPr/>
        </p:nvSpPr>
        <p:spPr>
          <a:xfrm>
            <a:off x="640080" y="2039112"/>
            <a:ext cx="2240280" cy="566928"/>
          </a:xfrm>
          <a:prstGeom prst="rect">
            <a:avLst/>
          </a:prstGeom>
          <a:noFill/>
          <a:ln/>
        </p:spPr>
        <p:txBody>
          <a:bodyPr wrap="square" lIns="0" tIns="0" rIns="0" bIns="0" rtlCol="0" anchor="t"/>
          <a:lstStyle/>
          <a:p>
            <a:pPr indent="0" marL="0">
              <a:buNone/>
            </a:pPr>
            <a:r>
              <a:rPr lang="en-US" sz="1400" dirty="0">
                <a:solidFill>
                  <a:schemeClr val="bg2"/>
                </a:solidFill>
              </a:rPr>
              <a:t>The request becomes a vector </a:t>
            </a:r>
            <a:pPr indent="0" marL="0">
              <a:buNone/>
            </a:pPr>
            <a:r>
              <a:rPr lang="en-US" sz="1400" i="1" dirty="0">
                <a:solidFill>
                  <a:schemeClr val="accent1"/>
                </a:solidFill>
                <a:latin typeface="Cambria" pitchFamily="34" charset="0"/>
                <a:ea typeface="Cambria" pitchFamily="34" charset="-122"/>
                <a:cs typeface="Cambria" pitchFamily="34" charset="-120"/>
              </a:rPr>
              <a:t>v</a:t>
            </a:r>
            <a:pPr indent="0" marL="0">
              <a:buNone/>
            </a:pPr>
            <a:r>
              <a:rPr lang="en-US" sz="1400" dirty="0">
                <a:solidFill>
                  <a:schemeClr val="bg2"/>
                </a:solidFill>
              </a:rPr>
              <a:t>.</a:t>
            </a:r>
            <a:endParaRPr lang="en-US" sz="1400" dirty="0"/>
          </a:p>
        </p:txBody>
      </p:sp>
      <p:sp>
        <p:nvSpPr>
          <p:cNvPr id="9" name="Step card 2"/>
          <p:cNvSpPr/>
          <p:nvPr/>
        </p:nvSpPr>
        <p:spPr>
          <a:xfrm>
            <a:off x="3291840" y="1325880"/>
            <a:ext cx="2560320" cy="1371600"/>
          </a:xfrm>
          <a:prstGeom prst="roundRect">
            <a:avLst>
              <a:gd name="adj" fmla="val 6667"/>
            </a:avLst>
          </a:prstGeom>
          <a:solidFill>
            <a:schemeClr val="tx2"/>
          </a:solidFill>
          <a:ln/>
        </p:spPr>
      </p:sp>
      <p:sp>
        <p:nvSpPr>
          <p:cNvPr id="10" name="Step number circle 2"/>
          <p:cNvSpPr/>
          <p:nvPr/>
        </p:nvSpPr>
        <p:spPr>
          <a:xfrm>
            <a:off x="3474720" y="1490472"/>
            <a:ext cx="420624" cy="420624"/>
          </a:xfrm>
          <a:prstGeom prst="ellipse">
            <a:avLst/>
          </a:prstGeom>
          <a:solidFill>
            <a:schemeClr val="accent1"/>
          </a:solidFill>
          <a:ln/>
        </p:spPr>
      </p:sp>
      <p:sp>
        <p:nvSpPr>
          <p:cNvPr id="11" name="Step number 2"/>
          <p:cNvSpPr txBox="1"/>
          <p:nvPr/>
        </p:nvSpPr>
        <p:spPr>
          <a:xfrm>
            <a:off x="3474720" y="1490472"/>
            <a:ext cx="420624" cy="420624"/>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2" name="Step title 2"/>
          <p:cNvSpPr txBox="1"/>
          <p:nvPr/>
        </p:nvSpPr>
        <p:spPr>
          <a:xfrm>
            <a:off x="4005072" y="1490472"/>
            <a:ext cx="1737360" cy="420624"/>
          </a:xfrm>
          <a:prstGeom prst="rect">
            <a:avLst/>
          </a:prstGeom>
          <a:noFill/>
          <a:ln/>
        </p:spPr>
        <p:txBody>
          <a:bodyPr wrap="square" lIns="0" tIns="0" rIns="0" bIns="0" rtlCol="0" anchor="ctr"/>
          <a:lstStyle/>
          <a:p>
            <a:pPr indent="0" marL="0">
              <a:buNone/>
            </a:pPr>
            <a:r>
              <a:rPr lang="en-US" sz="1700" b="1" dirty="0">
                <a:solidFill>
                  <a:schemeClr val="bg1"/>
                </a:solidFill>
              </a:rPr>
              <a:t>Describe every spot</a:t>
            </a:r>
            <a:endParaRPr lang="en-US" sz="1700" dirty="0"/>
          </a:p>
        </p:txBody>
      </p:sp>
      <p:sp>
        <p:nvSpPr>
          <p:cNvPr id="13" name="Step text 2"/>
          <p:cNvSpPr txBox="1"/>
          <p:nvPr/>
        </p:nvSpPr>
        <p:spPr>
          <a:xfrm>
            <a:off x="3474720" y="2039112"/>
            <a:ext cx="2240280" cy="566928"/>
          </a:xfrm>
          <a:prstGeom prst="rect">
            <a:avLst/>
          </a:prstGeom>
          <a:noFill/>
          <a:ln/>
        </p:spPr>
        <p:txBody>
          <a:bodyPr wrap="square" lIns="0" tIns="0" rIns="0" bIns="0" rtlCol="0" anchor="t"/>
          <a:lstStyle/>
          <a:p>
            <a:pPr indent="0" marL="0">
              <a:buNone/>
            </a:pPr>
            <a:r>
              <a:rPr lang="en-US" sz="1400" dirty="0">
                <a:solidFill>
                  <a:schemeClr val="bg2"/>
                </a:solidFill>
              </a:rPr>
              <a:t>Each spot is a row; together they form a matrix </a:t>
            </a:r>
            <a:pPr indent="0" marL="0">
              <a:buNone/>
            </a:pPr>
            <a:r>
              <a:rPr lang="en-US" sz="1400" i="1" dirty="0">
                <a:solidFill>
                  <a:schemeClr val="accent1"/>
                </a:solidFill>
                <a:latin typeface="Cambria" pitchFamily="34" charset="0"/>
                <a:ea typeface="Cambria" pitchFamily="34" charset="-122"/>
                <a:cs typeface="Cambria" pitchFamily="34" charset="-120"/>
              </a:rPr>
              <a:t>X</a:t>
            </a:r>
            <a:pPr indent="0" marL="0">
              <a:buNone/>
            </a:pPr>
            <a:r>
              <a:rPr lang="en-US" sz="1400" dirty="0">
                <a:solidFill>
                  <a:schemeClr val="bg2"/>
                </a:solidFill>
              </a:rPr>
              <a:t>.</a:t>
            </a:r>
            <a:endParaRPr lang="en-US" sz="1400" dirty="0"/>
          </a:p>
        </p:txBody>
      </p:sp>
      <p:sp>
        <p:nvSpPr>
          <p:cNvPr id="14" name="Step card 3"/>
          <p:cNvSpPr/>
          <p:nvPr/>
        </p:nvSpPr>
        <p:spPr>
          <a:xfrm>
            <a:off x="6126480" y="1325880"/>
            <a:ext cx="2560320" cy="1371600"/>
          </a:xfrm>
          <a:prstGeom prst="roundRect">
            <a:avLst>
              <a:gd name="adj" fmla="val 6667"/>
            </a:avLst>
          </a:prstGeom>
          <a:solidFill>
            <a:schemeClr val="tx2"/>
          </a:solidFill>
          <a:ln/>
        </p:spPr>
      </p:sp>
      <p:sp>
        <p:nvSpPr>
          <p:cNvPr id="15" name="Step number circle 3"/>
          <p:cNvSpPr/>
          <p:nvPr/>
        </p:nvSpPr>
        <p:spPr>
          <a:xfrm>
            <a:off x="6309360" y="1490472"/>
            <a:ext cx="420624" cy="420624"/>
          </a:xfrm>
          <a:prstGeom prst="ellipse">
            <a:avLst/>
          </a:prstGeom>
          <a:solidFill>
            <a:schemeClr val="accent1"/>
          </a:solidFill>
          <a:ln/>
        </p:spPr>
      </p:sp>
      <p:sp>
        <p:nvSpPr>
          <p:cNvPr id="16" name="Step number 3"/>
          <p:cNvSpPr txBox="1"/>
          <p:nvPr/>
        </p:nvSpPr>
        <p:spPr>
          <a:xfrm>
            <a:off x="6309360" y="1490472"/>
            <a:ext cx="420624" cy="420624"/>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7" name="Step title 3"/>
          <p:cNvSpPr txBox="1"/>
          <p:nvPr/>
        </p:nvSpPr>
        <p:spPr>
          <a:xfrm>
            <a:off x="6839712" y="1490472"/>
            <a:ext cx="1737360" cy="420624"/>
          </a:xfrm>
          <a:prstGeom prst="rect">
            <a:avLst/>
          </a:prstGeom>
          <a:noFill/>
          <a:ln/>
        </p:spPr>
        <p:txBody>
          <a:bodyPr wrap="square" lIns="0" tIns="0" rIns="0" bIns="0" rtlCol="0" anchor="ctr"/>
          <a:lstStyle/>
          <a:p>
            <a:pPr indent="0" marL="0">
              <a:buNone/>
            </a:pPr>
            <a:r>
              <a:rPr lang="en-US" sz="1700" b="1" dirty="0">
                <a:solidFill>
                  <a:schemeClr val="bg1"/>
                </a:solidFill>
              </a:rPr>
              <a:t>Filter</a:t>
            </a:r>
            <a:endParaRPr lang="en-US" sz="1700" dirty="0"/>
          </a:p>
        </p:txBody>
      </p:sp>
      <p:sp>
        <p:nvSpPr>
          <p:cNvPr id="18" name="Step text 3"/>
          <p:cNvSpPr txBox="1"/>
          <p:nvPr/>
        </p:nvSpPr>
        <p:spPr>
          <a:xfrm>
            <a:off x="6309360" y="2039112"/>
            <a:ext cx="2240280" cy="566928"/>
          </a:xfrm>
          <a:prstGeom prst="rect">
            <a:avLst/>
          </a:prstGeom>
          <a:noFill/>
          <a:ln/>
        </p:spPr>
        <p:txBody>
          <a:bodyPr wrap="square" lIns="0" tIns="0" rIns="0" bIns="0" rtlCol="0" anchor="t"/>
          <a:lstStyle/>
          <a:p>
            <a:pPr indent="0" marL="0">
              <a:buNone/>
            </a:pPr>
            <a:r>
              <a:rPr lang="en-US" sz="1400" dirty="0">
                <a:solidFill>
                  <a:schemeClr val="bg2"/>
                </a:solidFill>
              </a:rPr>
              <a:t>Remove occupied or unsuitable spots.</a:t>
            </a:r>
            <a:endParaRPr lang="en-US" sz="1400" dirty="0"/>
          </a:p>
        </p:txBody>
      </p:sp>
      <p:sp>
        <p:nvSpPr>
          <p:cNvPr id="19" name="Step card 4"/>
          <p:cNvSpPr/>
          <p:nvPr/>
        </p:nvSpPr>
        <p:spPr>
          <a:xfrm>
            <a:off x="457200" y="2880360"/>
            <a:ext cx="2560320" cy="1371600"/>
          </a:xfrm>
          <a:prstGeom prst="roundRect">
            <a:avLst>
              <a:gd name="adj" fmla="val 6667"/>
            </a:avLst>
          </a:prstGeom>
          <a:solidFill>
            <a:schemeClr val="tx2"/>
          </a:solidFill>
          <a:ln/>
        </p:spPr>
      </p:sp>
      <p:sp>
        <p:nvSpPr>
          <p:cNvPr id="20" name="Step number circle 4"/>
          <p:cNvSpPr/>
          <p:nvPr/>
        </p:nvSpPr>
        <p:spPr>
          <a:xfrm>
            <a:off x="640080" y="3044952"/>
            <a:ext cx="420624" cy="420624"/>
          </a:xfrm>
          <a:prstGeom prst="ellipse">
            <a:avLst/>
          </a:prstGeom>
          <a:solidFill>
            <a:schemeClr val="accent1"/>
          </a:solidFill>
          <a:ln/>
        </p:spPr>
      </p:sp>
      <p:sp>
        <p:nvSpPr>
          <p:cNvPr id="21" name="Step number 4"/>
          <p:cNvSpPr txBox="1"/>
          <p:nvPr/>
        </p:nvSpPr>
        <p:spPr>
          <a:xfrm>
            <a:off x="640080" y="3044952"/>
            <a:ext cx="420624" cy="420624"/>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22" name="Step title 4"/>
          <p:cNvSpPr txBox="1"/>
          <p:nvPr/>
        </p:nvSpPr>
        <p:spPr>
          <a:xfrm>
            <a:off x="1170432" y="3044952"/>
            <a:ext cx="1737360" cy="420624"/>
          </a:xfrm>
          <a:prstGeom prst="rect">
            <a:avLst/>
          </a:prstGeom>
          <a:noFill/>
          <a:ln/>
        </p:spPr>
        <p:txBody>
          <a:bodyPr wrap="square" lIns="0" tIns="0" rIns="0" bIns="0" rtlCol="0" anchor="ctr"/>
          <a:lstStyle/>
          <a:p>
            <a:pPr indent="0" marL="0">
              <a:buNone/>
            </a:pPr>
            <a:r>
              <a:rPr lang="en-US" sz="1700" b="1" dirty="0">
                <a:solidFill>
                  <a:schemeClr val="bg1"/>
                </a:solidFill>
              </a:rPr>
              <a:t>Project</a:t>
            </a:r>
            <a:endParaRPr lang="en-US" sz="1700" dirty="0"/>
          </a:p>
        </p:txBody>
      </p:sp>
      <p:sp>
        <p:nvSpPr>
          <p:cNvPr id="23" name="Step text 4"/>
          <p:cNvSpPr txBox="1"/>
          <p:nvPr/>
        </p:nvSpPr>
        <p:spPr>
          <a:xfrm>
            <a:off x="640080" y="3593592"/>
            <a:ext cx="2240280" cy="566928"/>
          </a:xfrm>
          <a:prstGeom prst="rect">
            <a:avLst/>
          </a:prstGeom>
          <a:noFill/>
          <a:ln/>
        </p:spPr>
        <p:txBody>
          <a:bodyPr wrap="square" lIns="0" tIns="0" rIns="0" bIns="0" rtlCol="0" anchor="t"/>
          <a:lstStyle/>
          <a:p>
            <a:pPr indent="0" marL="0">
              <a:buNone/>
            </a:pPr>
            <a:r>
              <a:rPr lang="en-US" sz="1400" dirty="0">
                <a:solidFill>
                  <a:schemeClr val="bg2"/>
                </a:solidFill>
              </a:rPr>
              <a:t>Find the closest ideal point </a:t>
            </a:r>
            <a:pPr indent="0" marL="0">
              <a:buNone/>
            </a:pPr>
            <a:r>
              <a:rPr lang="en-US" sz="1400" i="1" dirty="0">
                <a:solidFill>
                  <a:schemeClr val="accent1"/>
                </a:solidFill>
                <a:latin typeface="Cambria" pitchFamily="34" charset="0"/>
                <a:ea typeface="Cambria" pitchFamily="34" charset="-122"/>
                <a:cs typeface="Cambria" pitchFamily="34" charset="-120"/>
              </a:rPr>
              <a:t>v̂</a:t>
            </a:r>
            <a:pPr indent="0" marL="0">
              <a:buNone/>
            </a:pPr>
            <a:r>
              <a:rPr lang="en-US" sz="1400" dirty="0">
                <a:solidFill>
                  <a:schemeClr val="bg2"/>
                </a:solidFill>
              </a:rPr>
              <a:t> the lot can offer.</a:t>
            </a:r>
            <a:endParaRPr lang="en-US" sz="1400" dirty="0"/>
          </a:p>
        </p:txBody>
      </p:sp>
      <p:sp>
        <p:nvSpPr>
          <p:cNvPr id="24" name="Step card 5"/>
          <p:cNvSpPr/>
          <p:nvPr/>
        </p:nvSpPr>
        <p:spPr>
          <a:xfrm>
            <a:off x="3291840" y="2880360"/>
            <a:ext cx="2560320" cy="1371600"/>
          </a:xfrm>
          <a:prstGeom prst="roundRect">
            <a:avLst>
              <a:gd name="adj" fmla="val 6667"/>
            </a:avLst>
          </a:prstGeom>
          <a:solidFill>
            <a:schemeClr val="tx2"/>
          </a:solidFill>
          <a:ln/>
        </p:spPr>
      </p:sp>
      <p:sp>
        <p:nvSpPr>
          <p:cNvPr id="25" name="Step number circle 5"/>
          <p:cNvSpPr/>
          <p:nvPr/>
        </p:nvSpPr>
        <p:spPr>
          <a:xfrm>
            <a:off x="3474720" y="3044952"/>
            <a:ext cx="420624" cy="420624"/>
          </a:xfrm>
          <a:prstGeom prst="ellipse">
            <a:avLst/>
          </a:prstGeom>
          <a:solidFill>
            <a:schemeClr val="accent1"/>
          </a:solidFill>
          <a:ln/>
        </p:spPr>
      </p:sp>
      <p:sp>
        <p:nvSpPr>
          <p:cNvPr id="26" name="Step number 5"/>
          <p:cNvSpPr txBox="1"/>
          <p:nvPr/>
        </p:nvSpPr>
        <p:spPr>
          <a:xfrm>
            <a:off x="3474720" y="3044952"/>
            <a:ext cx="420624" cy="420624"/>
          </a:xfrm>
          <a:prstGeom prst="rect">
            <a:avLst/>
          </a:prstGeom>
          <a:noFill/>
          <a:ln/>
        </p:spPr>
        <p:txBody>
          <a:bodyPr wrap="square" lIns="0" tIns="0" rIns="0" bIns="0" rtlCol="0" anchor="ctr"/>
          <a:lstStyle/>
          <a:p>
            <a:pPr algn="ctr" indent="0" marL="0">
              <a:buNone/>
            </a:pPr>
            <a:r>
              <a:rPr lang="en-US" sz="1800" b="1" dirty="0">
                <a:solidFill>
                  <a:schemeClr val="tx1"/>
                </a:solidFill>
              </a:rPr>
              <a:t>5</a:t>
            </a:r>
            <a:endParaRPr lang="en-US" sz="1800" dirty="0"/>
          </a:p>
        </p:txBody>
      </p:sp>
      <p:sp>
        <p:nvSpPr>
          <p:cNvPr id="27" name="Step title 5"/>
          <p:cNvSpPr txBox="1"/>
          <p:nvPr/>
        </p:nvSpPr>
        <p:spPr>
          <a:xfrm>
            <a:off x="4005072" y="3044952"/>
            <a:ext cx="1737360" cy="420624"/>
          </a:xfrm>
          <a:prstGeom prst="rect">
            <a:avLst/>
          </a:prstGeom>
          <a:noFill/>
          <a:ln/>
        </p:spPr>
        <p:txBody>
          <a:bodyPr wrap="square" lIns="0" tIns="0" rIns="0" bIns="0" rtlCol="0" anchor="ctr"/>
          <a:lstStyle/>
          <a:p>
            <a:pPr indent="0" marL="0">
              <a:buNone/>
            </a:pPr>
            <a:r>
              <a:rPr lang="en-US" sz="1700" b="1" dirty="0">
                <a:solidFill>
                  <a:schemeClr val="bg1"/>
                </a:solidFill>
              </a:rPr>
              <a:t>Score</a:t>
            </a:r>
            <a:endParaRPr lang="en-US" sz="1700" dirty="0"/>
          </a:p>
        </p:txBody>
      </p:sp>
      <p:sp>
        <p:nvSpPr>
          <p:cNvPr id="28" name="Step text 5"/>
          <p:cNvSpPr txBox="1"/>
          <p:nvPr/>
        </p:nvSpPr>
        <p:spPr>
          <a:xfrm>
            <a:off x="3474720" y="3593592"/>
            <a:ext cx="2240280" cy="566928"/>
          </a:xfrm>
          <a:prstGeom prst="rect">
            <a:avLst/>
          </a:prstGeom>
          <a:noFill/>
          <a:ln/>
        </p:spPr>
        <p:txBody>
          <a:bodyPr wrap="square" lIns="0" tIns="0" rIns="0" bIns="0" rtlCol="0" anchor="t"/>
          <a:lstStyle/>
          <a:p>
            <a:pPr indent="0" marL="0">
              <a:buNone/>
            </a:pPr>
            <a:r>
              <a:rPr lang="en-US" sz="1400" dirty="0">
                <a:solidFill>
                  <a:schemeClr val="bg2"/>
                </a:solidFill>
              </a:rPr>
              <a:t>Least squares plus gate distance give each spot a cost.</a:t>
            </a:r>
            <a:endParaRPr lang="en-US" sz="1400" dirty="0"/>
          </a:p>
        </p:txBody>
      </p:sp>
      <p:sp>
        <p:nvSpPr>
          <p:cNvPr id="29" name="Step card 6"/>
          <p:cNvSpPr/>
          <p:nvPr/>
        </p:nvSpPr>
        <p:spPr>
          <a:xfrm>
            <a:off x="6126480" y="2880360"/>
            <a:ext cx="2560320" cy="1371600"/>
          </a:xfrm>
          <a:prstGeom prst="roundRect">
            <a:avLst>
              <a:gd name="adj" fmla="val 6667"/>
            </a:avLst>
          </a:prstGeom>
          <a:solidFill>
            <a:schemeClr val="tx2"/>
          </a:solidFill>
          <a:ln/>
        </p:spPr>
      </p:sp>
      <p:sp>
        <p:nvSpPr>
          <p:cNvPr id="30" name="Step number circle 6"/>
          <p:cNvSpPr/>
          <p:nvPr/>
        </p:nvSpPr>
        <p:spPr>
          <a:xfrm>
            <a:off x="6309360" y="3044952"/>
            <a:ext cx="420624" cy="420624"/>
          </a:xfrm>
          <a:prstGeom prst="ellipse">
            <a:avLst/>
          </a:prstGeom>
          <a:solidFill>
            <a:schemeClr val="accent1"/>
          </a:solidFill>
          <a:ln/>
        </p:spPr>
      </p:sp>
      <p:sp>
        <p:nvSpPr>
          <p:cNvPr id="31" name="Step number 6"/>
          <p:cNvSpPr txBox="1"/>
          <p:nvPr/>
        </p:nvSpPr>
        <p:spPr>
          <a:xfrm>
            <a:off x="6309360" y="3044952"/>
            <a:ext cx="420624" cy="420624"/>
          </a:xfrm>
          <a:prstGeom prst="rect">
            <a:avLst/>
          </a:prstGeom>
          <a:noFill/>
          <a:ln/>
        </p:spPr>
        <p:txBody>
          <a:bodyPr wrap="square" lIns="0" tIns="0" rIns="0" bIns="0" rtlCol="0" anchor="ctr"/>
          <a:lstStyle/>
          <a:p>
            <a:pPr algn="ctr" indent="0" marL="0">
              <a:buNone/>
            </a:pPr>
            <a:r>
              <a:rPr lang="en-US" sz="1800" b="1" dirty="0">
                <a:solidFill>
                  <a:schemeClr val="tx1"/>
                </a:solidFill>
              </a:rPr>
              <a:t>6</a:t>
            </a:r>
            <a:endParaRPr lang="en-US" sz="1800" dirty="0"/>
          </a:p>
        </p:txBody>
      </p:sp>
      <p:sp>
        <p:nvSpPr>
          <p:cNvPr id="32" name="Step title 6"/>
          <p:cNvSpPr txBox="1"/>
          <p:nvPr/>
        </p:nvSpPr>
        <p:spPr>
          <a:xfrm>
            <a:off x="6839712" y="3044952"/>
            <a:ext cx="1737360" cy="420624"/>
          </a:xfrm>
          <a:prstGeom prst="rect">
            <a:avLst/>
          </a:prstGeom>
          <a:noFill/>
          <a:ln/>
        </p:spPr>
        <p:txBody>
          <a:bodyPr wrap="square" lIns="0" tIns="0" rIns="0" bIns="0" rtlCol="0" anchor="ctr"/>
          <a:lstStyle/>
          <a:p>
            <a:pPr indent="0" marL="0">
              <a:buNone/>
            </a:pPr>
            <a:r>
              <a:rPr lang="en-US" sz="1700" b="1" dirty="0">
                <a:solidFill>
                  <a:schemeClr val="bg1"/>
                </a:solidFill>
              </a:rPr>
              <a:t>Assign</a:t>
            </a:r>
            <a:endParaRPr lang="en-US" sz="1700" dirty="0"/>
          </a:p>
        </p:txBody>
      </p:sp>
      <p:sp>
        <p:nvSpPr>
          <p:cNvPr id="33" name="Step text 6"/>
          <p:cNvSpPr txBox="1"/>
          <p:nvPr/>
        </p:nvSpPr>
        <p:spPr>
          <a:xfrm>
            <a:off x="6309360" y="3593592"/>
            <a:ext cx="2240280" cy="566928"/>
          </a:xfrm>
          <a:prstGeom prst="rect">
            <a:avLst/>
          </a:prstGeom>
          <a:noFill/>
          <a:ln/>
        </p:spPr>
        <p:txBody>
          <a:bodyPr wrap="square" lIns="0" tIns="0" rIns="0" bIns="0" rtlCol="0" anchor="t"/>
          <a:lstStyle/>
          <a:p>
            <a:pPr indent="0" marL="0">
              <a:buNone/>
            </a:pPr>
            <a:r>
              <a:rPr lang="en-US" sz="1400" dirty="0">
                <a:solidFill>
                  <a:schemeClr val="bg2"/>
                </a:solidFill>
              </a:rPr>
              <a:t>The lowest cost wins, then the lot is updated.</a:t>
            </a:r>
            <a:endParaRPr lang="en-US" sz="1400" dirty="0"/>
          </a:p>
        </p:txBody>
      </p:sp>
      <p:sp>
        <p:nvSpPr>
          <p:cNvPr id="34" name="Pipeline summary"/>
          <p:cNvSpPr txBox="1"/>
          <p:nvPr/>
        </p:nvSpPr>
        <p:spPr>
          <a:xfrm>
            <a:off x="457200" y="4434840"/>
            <a:ext cx="7589520" cy="320040"/>
          </a:xfrm>
          <a:prstGeom prst="rect">
            <a:avLst/>
          </a:prstGeom>
          <a:noFill/>
          <a:ln/>
        </p:spPr>
        <p:txBody>
          <a:bodyPr wrap="square" lIns="0" tIns="0" rIns="0" bIns="0" rtlCol="0" anchor="ctr"/>
          <a:lstStyle/>
          <a:p>
            <a:pPr indent="0" marL="0">
              <a:buNone/>
            </a:pPr>
            <a:r>
              <a:rPr lang="en-US" sz="1600" i="1" dirty="0">
                <a:solidFill>
                  <a:schemeClr val="accent1"/>
                </a:solidFill>
                <a:latin typeface="Cambria" pitchFamily="34" charset="0"/>
                <a:ea typeface="Cambria" pitchFamily="34" charset="-122"/>
                <a:cs typeface="Cambria" pitchFamily="34" charset="-120"/>
              </a:rPr>
              <a:t>Raw data  →  Projection  →  </a:t>
            </a:r>
            <a:pPr indent="0" marL="0">
              <a:buNone/>
            </a:pPr>
            <a:r>
              <a:rPr lang="en-US" sz="1600" b="1" i="1" dirty="0">
                <a:solidFill>
                  <a:schemeClr val="accent1"/>
                </a:solidFill>
                <a:latin typeface="Cambria" pitchFamily="34" charset="0"/>
                <a:ea typeface="Cambria" pitchFamily="34" charset="-122"/>
                <a:cs typeface="Cambria" pitchFamily="34" charset="-120"/>
              </a:rPr>
              <a:t>Best spot</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badge"/>
          <p:cNvSpPr txBox="1"/>
          <p:nvPr/>
        </p:nvSpPr>
        <p:spPr>
          <a:xfrm>
            <a:off x="457200" y="228600"/>
            <a:ext cx="2103120" cy="256032"/>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dirty="0">
                <a:solidFill>
                  <a:schemeClr val="tx1"/>
                </a:solidFill>
              </a:rPr>
              <a:t>STEP 1  ·  REPRESENT</a:t>
            </a:r>
            <a:endParaRPr lang="en-US" sz="1000" dirty="0"/>
          </a:p>
        </p:txBody>
      </p:sp>
      <p:sp>
        <p:nvSpPr>
          <p:cNvPr id="3" name="Text 0"/>
          <p:cNvSpPr/>
          <p:nvPr>
            <p:ph idx="100"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Turn parking into numbers</a:t>
            </a:r>
            <a:endParaRPr lang="en-US" sz="3200" dirty="0"/>
          </a:p>
        </p:txBody>
      </p:sp>
      <p:sp>
        <p:nvSpPr>
          <p:cNvPr id="4" name="Left heading"/>
          <p:cNvSpPr txBox="1"/>
          <p:nvPr/>
        </p:nvSpPr>
        <p:spPr>
          <a:xfrm>
            <a:off x="457200" y="1280160"/>
            <a:ext cx="4023360" cy="274320"/>
          </a:xfrm>
          <a:prstGeom prst="rect">
            <a:avLst/>
          </a:prstGeom>
          <a:noFill/>
          <a:ln/>
        </p:spPr>
        <p:txBody>
          <a:bodyPr wrap="square" lIns="0" tIns="0" rIns="0" bIns="0" rtlCol="0" anchor="ctr"/>
          <a:lstStyle/>
          <a:p>
            <a:pPr indent="0" marL="0">
              <a:buNone/>
            </a:pPr>
            <a:r>
              <a:rPr lang="en-US" sz="1700" b="1" dirty="0">
                <a:solidFill>
                  <a:schemeClr val="tx1"/>
                </a:solidFill>
              </a:rPr>
              <a:t>Every spot becomes 5 numbers</a:t>
            </a:r>
            <a:endParaRPr lang="en-US" sz="1700" dirty="0"/>
          </a:p>
        </p:txBody>
      </p:sp>
      <p:sp>
        <p:nvSpPr>
          <p:cNvPr id="5" name="Spot vector card"/>
          <p:cNvSpPr/>
          <p:nvPr/>
        </p:nvSpPr>
        <p:spPr>
          <a:xfrm>
            <a:off x="457200" y="1645920"/>
            <a:ext cx="4023360" cy="548640"/>
          </a:xfrm>
          <a:prstGeom prst="roundRect">
            <a:avLst>
              <a:gd name="adj" fmla="val 16667"/>
            </a:avLst>
          </a:prstGeom>
          <a:solidFill>
            <a:schemeClr val="bg1"/>
          </a:solidFill>
          <a:ln/>
          <a:effectLst>
            <a:outerShdw sx="100000" sy="100000" kx="0" ky="0" algn="bl" rotWithShape="0" blurRad="76200" dist="25400" dir="5400000">
              <a:srgbClr val="000000">
                <a:alpha val="12000"/>
              </a:srgbClr>
            </a:outerShdw>
          </a:effectLst>
        </p:spPr>
      </p:sp>
      <p:sp>
        <p:nvSpPr>
          <p:cNvPr id="6" name="Spot vector"/>
          <p:cNvSpPr txBox="1"/>
          <p:nvPr/>
        </p:nvSpPr>
        <p:spPr>
          <a:xfrm>
            <a:off x="457200" y="1645920"/>
            <a:ext cx="4023360" cy="548640"/>
          </a:xfrm>
          <a:prstGeom prst="rect">
            <a:avLst/>
          </a:prstGeom>
          <a:noFill/>
          <a:ln/>
        </p:spPr>
        <p:txBody>
          <a:bodyPr wrap="square" lIns="0" tIns="0" rIns="0" bIns="0" rtlCol="0" anchor="ctr"/>
          <a:lstStyle/>
          <a:p>
            <a:pPr algn="ctr" indent="0" marL="0">
              <a:buNone/>
            </a:pPr>
            <a:r>
              <a:rPr lang="en-US" sz="1800" i="1" dirty="0">
                <a:solidFill>
                  <a:schemeClr val="tx1"/>
                </a:solidFill>
                <a:latin typeface="Cambria" pitchFamily="34" charset="0"/>
                <a:ea typeface="Cambria" pitchFamily="34" charset="-122"/>
                <a:cs typeface="Cambria" pitchFamily="34" charset="-120"/>
              </a:rPr>
              <a:t>x</a:t>
            </a:r>
            <a:pPr algn="ctr" indent="0" marL="0">
              <a:buNone/>
            </a:pPr>
            <a:r>
              <a:rPr lang="en-US" sz="1800" i="1" baseline="-40000" dirty="0">
                <a:solidFill>
                  <a:schemeClr val="tx1"/>
                </a:solidFill>
                <a:latin typeface="Cambria" pitchFamily="34" charset="0"/>
                <a:ea typeface="Cambria" pitchFamily="34" charset="-122"/>
                <a:cs typeface="Cambria" pitchFamily="34" charset="-120"/>
              </a:rPr>
              <a:t>i</a:t>
            </a:r>
            <a:pPr algn="ctr" indent="0" marL="0">
              <a:buNone/>
            </a:pPr>
            <a:r>
              <a:rPr lang="en-US" sz="1800" dirty="0">
                <a:solidFill>
                  <a:schemeClr val="tx1"/>
                </a:solidFill>
                <a:latin typeface="Cambria" pitchFamily="34" charset="0"/>
                <a:ea typeface="Cambria" pitchFamily="34" charset="-122"/>
                <a:cs typeface="Cambria" pitchFamily="34" charset="-120"/>
              </a:rPr>
              <a:t>  =  [ </a:t>
            </a:r>
            <a:pPr algn="ctr" indent="0" marL="0">
              <a:buNone/>
            </a:pPr>
            <a:r>
              <a:rPr lang="en-US" sz="1800" i="1" dirty="0">
                <a:solidFill>
                  <a:schemeClr val="tx1"/>
                </a:solidFill>
                <a:latin typeface="Cambria" pitchFamily="34" charset="0"/>
                <a:ea typeface="Cambria" pitchFamily="34" charset="-122"/>
                <a:cs typeface="Cambria" pitchFamily="34" charset="-120"/>
              </a:rPr>
              <a:t>dx</a:t>
            </a:r>
            <a:pPr algn="ctr" indent="0" marL="0">
              <a:buNone/>
            </a:pPr>
            <a:r>
              <a:rPr lang="en-US" sz="1800" dirty="0">
                <a:solidFill>
                  <a:schemeClr val="tx1"/>
                </a:solidFill>
                <a:latin typeface="Cambria" pitchFamily="34" charset="0"/>
                <a:ea typeface="Cambria" pitchFamily="34" charset="-122"/>
                <a:cs typeface="Cambria" pitchFamily="34" charset="-120"/>
              </a:rPr>
              <a:t>,  </a:t>
            </a:r>
            <a:pPr algn="ctr" indent="0" marL="0">
              <a:buNone/>
            </a:pPr>
            <a:r>
              <a:rPr lang="en-US" sz="1800" i="1" dirty="0">
                <a:solidFill>
                  <a:schemeClr val="tx1"/>
                </a:solidFill>
                <a:latin typeface="Cambria" pitchFamily="34" charset="0"/>
                <a:ea typeface="Cambria" pitchFamily="34" charset="-122"/>
                <a:cs typeface="Cambria" pitchFamily="34" charset="-120"/>
              </a:rPr>
              <a:t>dy</a:t>
            </a:r>
            <a:pPr algn="ctr" indent="0" marL="0">
              <a:buNone/>
            </a:pPr>
            <a:r>
              <a:rPr lang="en-US" sz="1800" dirty="0">
                <a:solidFill>
                  <a:schemeClr val="tx1"/>
                </a:solidFill>
                <a:latin typeface="Cambria" pitchFamily="34" charset="0"/>
                <a:ea typeface="Cambria" pitchFamily="34" charset="-122"/>
                <a:cs typeface="Cambria" pitchFamily="34" charset="-120"/>
              </a:rPr>
              <a:t>,  </a:t>
            </a:r>
            <a:pPr algn="ctr" indent="0" marL="0">
              <a:buNone/>
            </a:pPr>
            <a:r>
              <a:rPr lang="en-US" sz="1800" i="1" dirty="0">
                <a:solidFill>
                  <a:schemeClr val="tx1"/>
                </a:solidFill>
                <a:latin typeface="Cambria" pitchFamily="34" charset="0"/>
                <a:ea typeface="Cambria" pitchFamily="34" charset="-122"/>
                <a:cs typeface="Cambria" pitchFamily="34" charset="-120"/>
              </a:rPr>
              <a:t>EV</a:t>
            </a:r>
            <a:pPr algn="ctr" indent="0" marL="0">
              <a:buNone/>
            </a:pPr>
            <a:r>
              <a:rPr lang="en-US" sz="1800" dirty="0">
                <a:solidFill>
                  <a:schemeClr val="tx1"/>
                </a:solidFill>
                <a:latin typeface="Cambria" pitchFamily="34" charset="0"/>
                <a:ea typeface="Cambria" pitchFamily="34" charset="-122"/>
                <a:cs typeface="Cambria" pitchFamily="34" charset="-120"/>
              </a:rPr>
              <a:t>,  </a:t>
            </a:r>
            <a:pPr algn="ctr" indent="0" marL="0">
              <a:buNone/>
            </a:pPr>
            <a:r>
              <a:rPr lang="en-US" sz="1800" i="1" dirty="0">
                <a:solidFill>
                  <a:schemeClr val="tx1"/>
                </a:solidFill>
                <a:latin typeface="Cambria" pitchFamily="34" charset="0"/>
                <a:ea typeface="Cambria" pitchFamily="34" charset="-122"/>
                <a:cs typeface="Cambria" pitchFamily="34" charset="-120"/>
              </a:rPr>
              <a:t>Acc</a:t>
            </a:r>
            <a:pPr algn="ctr" indent="0" marL="0">
              <a:buNone/>
            </a:pPr>
            <a:r>
              <a:rPr lang="en-US" sz="1800" dirty="0">
                <a:solidFill>
                  <a:schemeClr val="tx1"/>
                </a:solidFill>
                <a:latin typeface="Cambria" pitchFamily="34" charset="0"/>
                <a:ea typeface="Cambria" pitchFamily="34" charset="-122"/>
                <a:cs typeface="Cambria" pitchFamily="34" charset="-120"/>
              </a:rPr>
              <a:t>,  </a:t>
            </a:r>
            <a:pPr algn="ctr" indent="0" marL="0">
              <a:buNone/>
            </a:pPr>
            <a:r>
              <a:rPr lang="en-US" sz="1800" i="1" dirty="0">
                <a:solidFill>
                  <a:schemeClr val="tx1"/>
                </a:solidFill>
                <a:latin typeface="Cambria" pitchFamily="34" charset="0"/>
                <a:ea typeface="Cambria" pitchFamily="34" charset="-122"/>
                <a:cs typeface="Cambria" pitchFamily="34" charset="-120"/>
              </a:rPr>
              <a:t>Size</a:t>
            </a:r>
            <a:pPr algn="ctr" indent="0" marL="0">
              <a:buNone/>
            </a:pPr>
            <a:r>
              <a:rPr lang="en-US" sz="1800" dirty="0">
                <a:solidFill>
                  <a:schemeClr val="tx1"/>
                </a:solidFill>
                <a:latin typeface="Cambria" pitchFamily="34" charset="0"/>
                <a:ea typeface="Cambria" pitchFamily="34" charset="-122"/>
                <a:cs typeface="Cambria" pitchFamily="34" charset="-120"/>
              </a:rPr>
              <a:t> ]</a:t>
            </a:r>
            <a:endParaRPr lang="en-US" sz="1800" dirty="0"/>
          </a:p>
        </p:txBody>
      </p:sp>
      <p:sp>
        <p:nvSpPr>
          <p:cNvPr id="7" name="Feature name 1"/>
          <p:cNvSpPr txBox="1"/>
          <p:nvPr/>
        </p:nvSpPr>
        <p:spPr>
          <a:xfrm>
            <a:off x="457200" y="2331720"/>
            <a:ext cx="777240" cy="329184"/>
          </a:xfrm>
          <a:prstGeom prst="rect">
            <a:avLst/>
          </a:prstGeom>
          <a:noFill/>
          <a:ln/>
        </p:spPr>
        <p:txBody>
          <a:bodyPr wrap="square" lIns="0" tIns="0" rIns="0" bIns="0" rtlCol="0" anchor="ctr"/>
          <a:lstStyle/>
          <a:p>
            <a:pPr indent="0" marL="0">
              <a:buNone/>
            </a:pPr>
            <a:r>
              <a:rPr lang="en-US" sz="1400" b="1" i="1" dirty="0">
                <a:solidFill>
                  <a:schemeClr val="accent2"/>
                </a:solidFill>
                <a:latin typeface="Cambria" pitchFamily="34" charset="0"/>
                <a:ea typeface="Cambria" pitchFamily="34" charset="-122"/>
                <a:cs typeface="Cambria" pitchFamily="34" charset="-120"/>
              </a:rPr>
              <a:t>dx, dy</a:t>
            </a:r>
            <a:endParaRPr lang="en-US" sz="1400" dirty="0"/>
          </a:p>
        </p:txBody>
      </p:sp>
      <p:sp>
        <p:nvSpPr>
          <p:cNvPr id="8" name="Feature meaning 1"/>
          <p:cNvSpPr txBox="1"/>
          <p:nvPr/>
        </p:nvSpPr>
        <p:spPr>
          <a:xfrm>
            <a:off x="1280160" y="2331720"/>
            <a:ext cx="3200400" cy="329184"/>
          </a:xfrm>
          <a:prstGeom prst="rect">
            <a:avLst/>
          </a:prstGeom>
          <a:noFill/>
          <a:ln/>
        </p:spPr>
        <p:txBody>
          <a:bodyPr wrap="square" lIns="0" tIns="0" rIns="0" bIns="0" rtlCol="0" anchor="ctr"/>
          <a:lstStyle/>
          <a:p>
            <a:pPr indent="0" marL="0">
              <a:buNone/>
            </a:pPr>
            <a:r>
              <a:rPr lang="en-US" sz="1400" dirty="0">
                <a:solidFill>
                  <a:schemeClr val="tx1"/>
                </a:solidFill>
              </a:rPr>
              <a:t>distance from the gate (scaled 0 to 1)</a:t>
            </a:r>
            <a:endParaRPr lang="en-US" sz="1400" dirty="0"/>
          </a:p>
        </p:txBody>
      </p:sp>
      <p:sp>
        <p:nvSpPr>
          <p:cNvPr id="9" name="Feature name 2"/>
          <p:cNvSpPr txBox="1"/>
          <p:nvPr/>
        </p:nvSpPr>
        <p:spPr>
          <a:xfrm>
            <a:off x="457200" y="2715768"/>
            <a:ext cx="777240" cy="329184"/>
          </a:xfrm>
          <a:prstGeom prst="rect">
            <a:avLst/>
          </a:prstGeom>
          <a:noFill/>
          <a:ln/>
        </p:spPr>
        <p:txBody>
          <a:bodyPr wrap="square" lIns="0" tIns="0" rIns="0" bIns="0" rtlCol="0" anchor="ctr"/>
          <a:lstStyle/>
          <a:p>
            <a:pPr indent="0" marL="0">
              <a:buNone/>
            </a:pPr>
            <a:r>
              <a:rPr lang="en-US" sz="1400" b="1" i="1" dirty="0">
                <a:solidFill>
                  <a:schemeClr val="accent2"/>
                </a:solidFill>
                <a:latin typeface="Cambria" pitchFamily="34" charset="0"/>
                <a:ea typeface="Cambria" pitchFamily="34" charset="-122"/>
                <a:cs typeface="Cambria" pitchFamily="34" charset="-120"/>
              </a:rPr>
              <a:t>EV</a:t>
            </a:r>
            <a:endParaRPr lang="en-US" sz="1400" dirty="0"/>
          </a:p>
        </p:txBody>
      </p:sp>
      <p:sp>
        <p:nvSpPr>
          <p:cNvPr id="10" name="Feature meaning 2"/>
          <p:cNvSpPr txBox="1"/>
          <p:nvPr/>
        </p:nvSpPr>
        <p:spPr>
          <a:xfrm>
            <a:off x="1280160" y="2715768"/>
            <a:ext cx="3200400" cy="329184"/>
          </a:xfrm>
          <a:prstGeom prst="rect">
            <a:avLst/>
          </a:prstGeom>
          <a:noFill/>
          <a:ln/>
        </p:spPr>
        <p:txBody>
          <a:bodyPr wrap="square" lIns="0" tIns="0" rIns="0" bIns="0" rtlCol="0" anchor="ctr"/>
          <a:lstStyle/>
          <a:p>
            <a:pPr indent="0" marL="0">
              <a:buNone/>
            </a:pPr>
            <a:r>
              <a:rPr lang="en-US" sz="1400" dirty="0">
                <a:solidFill>
                  <a:schemeClr val="tx1"/>
                </a:solidFill>
              </a:rPr>
              <a:t>1 if the spot has a charger, else 0</a:t>
            </a:r>
            <a:endParaRPr lang="en-US" sz="1400" dirty="0"/>
          </a:p>
        </p:txBody>
      </p:sp>
      <p:sp>
        <p:nvSpPr>
          <p:cNvPr id="11" name="Feature name 3"/>
          <p:cNvSpPr txBox="1"/>
          <p:nvPr/>
        </p:nvSpPr>
        <p:spPr>
          <a:xfrm>
            <a:off x="457200" y="3099816"/>
            <a:ext cx="777240" cy="329184"/>
          </a:xfrm>
          <a:prstGeom prst="rect">
            <a:avLst/>
          </a:prstGeom>
          <a:noFill/>
          <a:ln/>
        </p:spPr>
        <p:txBody>
          <a:bodyPr wrap="square" lIns="0" tIns="0" rIns="0" bIns="0" rtlCol="0" anchor="ctr"/>
          <a:lstStyle/>
          <a:p>
            <a:pPr indent="0" marL="0">
              <a:buNone/>
            </a:pPr>
            <a:r>
              <a:rPr lang="en-US" sz="1400" b="1" i="1" dirty="0">
                <a:solidFill>
                  <a:schemeClr val="accent2"/>
                </a:solidFill>
                <a:latin typeface="Cambria" pitchFamily="34" charset="0"/>
                <a:ea typeface="Cambria" pitchFamily="34" charset="-122"/>
                <a:cs typeface="Cambria" pitchFamily="34" charset="-120"/>
              </a:rPr>
              <a:t>Acc</a:t>
            </a:r>
            <a:endParaRPr lang="en-US" sz="1400" dirty="0"/>
          </a:p>
        </p:txBody>
      </p:sp>
      <p:sp>
        <p:nvSpPr>
          <p:cNvPr id="12" name="Feature meaning 3"/>
          <p:cNvSpPr txBox="1"/>
          <p:nvPr/>
        </p:nvSpPr>
        <p:spPr>
          <a:xfrm>
            <a:off x="1280160" y="3099816"/>
            <a:ext cx="3200400" cy="329184"/>
          </a:xfrm>
          <a:prstGeom prst="rect">
            <a:avLst/>
          </a:prstGeom>
          <a:noFill/>
          <a:ln/>
        </p:spPr>
        <p:txBody>
          <a:bodyPr wrap="square" lIns="0" tIns="0" rIns="0" bIns="0" rtlCol="0" anchor="ctr"/>
          <a:lstStyle/>
          <a:p>
            <a:pPr indent="0" marL="0">
              <a:buNone/>
            </a:pPr>
            <a:r>
              <a:rPr lang="en-US" sz="1400" dirty="0">
                <a:solidFill>
                  <a:schemeClr val="tx1"/>
                </a:solidFill>
              </a:rPr>
              <a:t>1 if the spot is accessible, else 0</a:t>
            </a:r>
            <a:endParaRPr lang="en-US" sz="1400" dirty="0"/>
          </a:p>
        </p:txBody>
      </p:sp>
      <p:sp>
        <p:nvSpPr>
          <p:cNvPr id="13" name="Feature name 4"/>
          <p:cNvSpPr txBox="1"/>
          <p:nvPr/>
        </p:nvSpPr>
        <p:spPr>
          <a:xfrm>
            <a:off x="457200" y="3483864"/>
            <a:ext cx="777240" cy="329184"/>
          </a:xfrm>
          <a:prstGeom prst="rect">
            <a:avLst/>
          </a:prstGeom>
          <a:noFill/>
          <a:ln/>
        </p:spPr>
        <p:txBody>
          <a:bodyPr wrap="square" lIns="0" tIns="0" rIns="0" bIns="0" rtlCol="0" anchor="ctr"/>
          <a:lstStyle/>
          <a:p>
            <a:pPr indent="0" marL="0">
              <a:buNone/>
            </a:pPr>
            <a:r>
              <a:rPr lang="en-US" sz="1400" b="1" i="1" dirty="0">
                <a:solidFill>
                  <a:schemeClr val="accent2"/>
                </a:solidFill>
                <a:latin typeface="Cambria" pitchFamily="34" charset="0"/>
                <a:ea typeface="Cambria" pitchFamily="34" charset="-122"/>
                <a:cs typeface="Cambria" pitchFamily="34" charset="-120"/>
              </a:rPr>
              <a:t>Size</a:t>
            </a:r>
            <a:endParaRPr lang="en-US" sz="1400" dirty="0"/>
          </a:p>
        </p:txBody>
      </p:sp>
      <p:sp>
        <p:nvSpPr>
          <p:cNvPr id="14" name="Feature meaning 4"/>
          <p:cNvSpPr txBox="1"/>
          <p:nvPr/>
        </p:nvSpPr>
        <p:spPr>
          <a:xfrm>
            <a:off x="1280160" y="3483864"/>
            <a:ext cx="3200400" cy="329184"/>
          </a:xfrm>
          <a:prstGeom prst="rect">
            <a:avLst/>
          </a:prstGeom>
          <a:noFill/>
          <a:ln/>
        </p:spPr>
        <p:txBody>
          <a:bodyPr wrap="square" lIns="0" tIns="0" rIns="0" bIns="0" rtlCol="0" anchor="ctr"/>
          <a:lstStyle/>
          <a:p>
            <a:pPr indent="0" marL="0">
              <a:buNone/>
            </a:pPr>
            <a:r>
              <a:rPr lang="en-US" sz="1400" dirty="0">
                <a:solidFill>
                  <a:schemeClr val="tx1"/>
                </a:solidFill>
              </a:rPr>
              <a:t>how big the bay is (scaled 0 to 1)</a:t>
            </a:r>
            <a:endParaRPr lang="en-US" sz="1400" dirty="0"/>
          </a:p>
        </p:txBody>
      </p:sp>
      <p:sp>
        <p:nvSpPr>
          <p:cNvPr id="15" name="Vehicle vector card"/>
          <p:cNvSpPr/>
          <p:nvPr/>
        </p:nvSpPr>
        <p:spPr>
          <a:xfrm>
            <a:off x="457200" y="3931920"/>
            <a:ext cx="4023360" cy="777240"/>
          </a:xfrm>
          <a:prstGeom prst="roundRect">
            <a:avLst>
              <a:gd name="adj" fmla="val 11765"/>
            </a:avLst>
          </a:prstGeom>
          <a:solidFill>
            <a:schemeClr val="tx1"/>
          </a:solidFill>
          <a:ln/>
          <a:effectLst>
            <a:outerShdw sx="100000" sy="100000" kx="0" ky="0" algn="bl" rotWithShape="0" blurRad="76200" dist="25400" dir="5400000">
              <a:srgbClr val="000000">
                <a:alpha val="12000"/>
              </a:srgbClr>
            </a:outerShdw>
          </a:effectLst>
        </p:spPr>
      </p:sp>
      <p:sp>
        <p:nvSpPr>
          <p:cNvPr id="16" name="Vehicle vector"/>
          <p:cNvSpPr txBox="1"/>
          <p:nvPr/>
        </p:nvSpPr>
        <p:spPr>
          <a:xfrm>
            <a:off x="640080" y="3977640"/>
            <a:ext cx="3657600" cy="685800"/>
          </a:xfrm>
          <a:prstGeom prst="rect">
            <a:avLst/>
          </a:prstGeom>
          <a:noFill/>
          <a:ln/>
        </p:spPr>
        <p:txBody>
          <a:bodyPr wrap="square" lIns="0" tIns="0" rIns="0" bIns="0" rtlCol="0" anchor="ctr"/>
          <a:lstStyle/>
          <a:p>
            <a:pPr indent="0" marL="0">
              <a:buNone/>
            </a:pPr>
            <a:r>
              <a:rPr lang="en-US" sz="1500" dirty="0">
                <a:solidFill>
                  <a:schemeClr val="bg1"/>
                </a:solidFill>
                <a:latin typeface="Calibri" pitchFamily="34" charset="0"/>
                <a:ea typeface="Calibri" pitchFamily="34" charset="-122"/>
                <a:cs typeface="Calibri" pitchFamily="34" charset="-120"/>
              </a:rPr>
              <a:t>The vehicle uses the same format:</a:t>
            </a:r>
            <a:endParaRPr lang="en-US" sz="1500" dirty="0"/>
          </a:p>
          <a:p>
            <a:pPr indent="0" marL="0">
              <a:buNone/>
            </a:pPr>
            <a:r>
              <a:rPr lang="en-US" sz="1500" i="1" dirty="0">
                <a:solidFill>
                  <a:schemeClr val="accent1"/>
                </a:solidFill>
                <a:latin typeface="Cambria" pitchFamily="34" charset="0"/>
                <a:ea typeface="Cambria" pitchFamily="34" charset="-122"/>
                <a:cs typeface="Cambria" pitchFamily="34" charset="-120"/>
              </a:rPr>
              <a:t>v</a:t>
            </a:r>
            <a:pPr indent="0" marL="0">
              <a:buNone/>
            </a:pPr>
            <a:r>
              <a:rPr lang="en-US" sz="1500" dirty="0">
                <a:solidFill>
                  <a:schemeClr val="bg1"/>
                </a:solidFill>
                <a:latin typeface="Cambria" pitchFamily="34" charset="0"/>
                <a:ea typeface="Cambria" pitchFamily="34" charset="-122"/>
                <a:cs typeface="Cambria" pitchFamily="34" charset="-120"/>
              </a:rPr>
              <a:t>  =  [ 0, 0, </a:t>
            </a:r>
            <a:pPr indent="0" marL="0">
              <a:buNone/>
            </a:pPr>
            <a:r>
              <a:rPr lang="en-US" sz="1500" i="1" dirty="0">
                <a:solidFill>
                  <a:schemeClr val="bg1"/>
                </a:solidFill>
                <a:latin typeface="Cambria" pitchFamily="34" charset="0"/>
                <a:ea typeface="Cambria" pitchFamily="34" charset="-122"/>
                <a:cs typeface="Cambria" pitchFamily="34" charset="-120"/>
              </a:rPr>
              <a:t>EV</a:t>
            </a:r>
            <a:pPr indent="0" marL="0">
              <a:buNone/>
            </a:pPr>
            <a:r>
              <a:rPr lang="en-US" sz="1500" dirty="0">
                <a:solidFill>
                  <a:schemeClr val="bg1"/>
                </a:solidFill>
                <a:latin typeface="Cambria" pitchFamily="34" charset="0"/>
                <a:ea typeface="Cambria" pitchFamily="34" charset="-122"/>
                <a:cs typeface="Cambria" pitchFamily="34" charset="-120"/>
              </a:rPr>
              <a:t>, </a:t>
            </a:r>
            <a:pPr indent="0" marL="0">
              <a:buNone/>
            </a:pPr>
            <a:r>
              <a:rPr lang="en-US" sz="1500" i="1" dirty="0">
                <a:solidFill>
                  <a:schemeClr val="bg1"/>
                </a:solidFill>
                <a:latin typeface="Cambria" pitchFamily="34" charset="0"/>
                <a:ea typeface="Cambria" pitchFamily="34" charset="-122"/>
                <a:cs typeface="Cambria" pitchFamily="34" charset="-120"/>
              </a:rPr>
              <a:t>Acc</a:t>
            </a:r>
            <a:pPr indent="0" marL="0">
              <a:buNone/>
            </a:pPr>
            <a:r>
              <a:rPr lang="en-US" sz="1500" dirty="0">
                <a:solidFill>
                  <a:schemeClr val="bg1"/>
                </a:solidFill>
                <a:latin typeface="Cambria" pitchFamily="34" charset="0"/>
                <a:ea typeface="Cambria" pitchFamily="34" charset="-122"/>
                <a:cs typeface="Cambria" pitchFamily="34" charset="-120"/>
              </a:rPr>
              <a:t>, </a:t>
            </a:r>
            <a:pPr indent="0" marL="0">
              <a:buNone/>
            </a:pPr>
            <a:r>
              <a:rPr lang="en-US" sz="1500" i="1" dirty="0">
                <a:solidFill>
                  <a:schemeClr val="bg1"/>
                </a:solidFill>
                <a:latin typeface="Cambria" pitchFamily="34" charset="0"/>
                <a:ea typeface="Cambria" pitchFamily="34" charset="-122"/>
                <a:cs typeface="Cambria" pitchFamily="34" charset="-120"/>
              </a:rPr>
              <a:t>Size</a:t>
            </a:r>
            <a:pPr indent="0" marL="0">
              <a:buNone/>
            </a:pPr>
            <a:r>
              <a:rPr lang="en-US" sz="1500" dirty="0">
                <a:solidFill>
                  <a:schemeClr val="bg1"/>
                </a:solidFill>
                <a:latin typeface="Cambria" pitchFamily="34" charset="0"/>
                <a:ea typeface="Cambria" pitchFamily="34" charset="-122"/>
                <a:cs typeface="Cambria" pitchFamily="34" charset="-120"/>
              </a:rPr>
              <a:t> ]</a:t>
            </a:r>
            <a:endParaRPr lang="en-US" sz="1500" dirty="0"/>
          </a:p>
        </p:txBody>
      </p:sp>
      <p:sp>
        <p:nvSpPr>
          <p:cNvPr id="17" name="Right heading"/>
          <p:cNvSpPr txBox="1"/>
          <p:nvPr/>
        </p:nvSpPr>
        <p:spPr>
          <a:xfrm>
            <a:off x="4800600" y="1280160"/>
            <a:ext cx="3886200" cy="274320"/>
          </a:xfrm>
          <a:prstGeom prst="rect">
            <a:avLst/>
          </a:prstGeom>
          <a:noFill/>
          <a:ln/>
        </p:spPr>
        <p:txBody>
          <a:bodyPr wrap="square" lIns="0" tIns="0" rIns="0" bIns="0" rtlCol="0" anchor="ctr"/>
          <a:lstStyle/>
          <a:p>
            <a:pPr indent="0" marL="0">
              <a:buNone/>
            </a:pPr>
            <a:r>
              <a:rPr lang="en-US" sz="1700" b="1" dirty="0">
                <a:solidFill>
                  <a:schemeClr val="tx1"/>
                </a:solidFill>
              </a:rPr>
              <a:t>All spots together form one matrix X</a:t>
            </a:r>
            <a:endParaRPr lang="en-US" sz="1700" dirty="0"/>
          </a:p>
        </p:txBody>
      </p:sp>
      <p:graphicFrame>
        <p:nvGraphicFramePr>
          <p:cNvPr id="5" name="Matrix X table"/>
          <p:cNvGraphicFramePr>
            <a:graphicFrameLocks noGrp="1"/>
          </p:cNvGraphicFramePr>
          <p:nvPr>
            <p:extLst>
              <p:ext uri="{D42A27DB-BD31-4B8C-83A1-F6EECF244321}">
                <p14:modId xmlns:p14="http://schemas.microsoft.com/office/powerpoint/2010/main" val="1579011935"/>
              </p:ext>
            </p:extLst>
          </p:nvPr>
        </p:nvGraphicFramePr>
        <p:xfrm>
          <a:off x="4800600" y="1691640"/>
          <a:ext cx="3886200" cy="914400"/>
        </p:xfrm>
        <a:graphic>
          <a:graphicData uri="http://schemas.openxmlformats.org/drawingml/2006/table">
            <a:tbl>
              <a:tblPr/>
              <a:tblGrid>
                <a:gridCol w="868680"/>
                <a:gridCol w="603504"/>
                <a:gridCol w="603504"/>
                <a:gridCol w="603504"/>
                <a:gridCol w="603504"/>
                <a:gridCol w="603504"/>
              </a:tblGrid>
              <a:tr h="384048">
                <a:tc>
                  <a:txBody>
                    <a:bodyPr/>
                    <a:lstStyle/>
                    <a:p>
                      <a:pPr algn="ctr" indent="0" marL="0">
                        <a:buNone/>
                      </a:pPr>
                      <a:r>
                        <a:rPr lang="en-US" sz="1400" b="1" dirty="0">
                          <a:solidFill>
                            <a:schemeClr val="bg1"/>
                          </a:solidFill>
                          <a:latin typeface="Cambria" pitchFamily="34" charset="0"/>
                          <a:ea typeface="Cambria" pitchFamily="34" charset="-122"/>
                          <a:cs typeface="Cambria" pitchFamily="34" charset="-120"/>
                        </a:rPr>
                        <a:t>Spot</a:t>
                      </a:r>
                      <a:endParaRPr lang="en-US" sz="1400" dirty="0">
                        <a:latin typeface="Cambria" charset="0"/>
                        <a:ea typeface="Cambria" charset="0"/>
                        <a:cs typeface="Cambria"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algn="ctr" indent="0" marL="0">
                        <a:buNone/>
                      </a:pPr>
                      <a:r>
                        <a:rPr lang="en-US" sz="1400" b="1" i="1" dirty="0">
                          <a:solidFill>
                            <a:schemeClr val="bg1"/>
                          </a:solidFill>
                          <a:latin typeface="Cambria" pitchFamily="34" charset="0"/>
                          <a:ea typeface="Cambria" pitchFamily="34" charset="-122"/>
                          <a:cs typeface="Cambria" pitchFamily="34" charset="-120"/>
                        </a:rPr>
                        <a:t>dx</a:t>
                      </a:r>
                      <a:endParaRPr lang="en-US" sz="1400" dirty="0">
                        <a:latin typeface="Cambria" charset="0"/>
                        <a:ea typeface="Cambria" charset="0"/>
                        <a:cs typeface="Cambria"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algn="ctr" indent="0" marL="0">
                        <a:buNone/>
                      </a:pPr>
                      <a:r>
                        <a:rPr lang="en-US" sz="1400" b="1" i="1" dirty="0">
                          <a:solidFill>
                            <a:schemeClr val="bg1"/>
                          </a:solidFill>
                          <a:latin typeface="Cambria" pitchFamily="34" charset="0"/>
                          <a:ea typeface="Cambria" pitchFamily="34" charset="-122"/>
                          <a:cs typeface="Cambria" pitchFamily="34" charset="-120"/>
                        </a:rPr>
                        <a:t>dy</a:t>
                      </a:r>
                      <a:endParaRPr lang="en-US" sz="1400" dirty="0">
                        <a:latin typeface="Cambria" charset="0"/>
                        <a:ea typeface="Cambria" charset="0"/>
                        <a:cs typeface="Cambria"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algn="ctr" indent="0" marL="0">
                        <a:buNone/>
                      </a:pPr>
                      <a:r>
                        <a:rPr lang="en-US" sz="1400" b="1" i="1" dirty="0">
                          <a:solidFill>
                            <a:schemeClr val="bg1"/>
                          </a:solidFill>
                          <a:latin typeface="Cambria" pitchFamily="34" charset="0"/>
                          <a:ea typeface="Cambria" pitchFamily="34" charset="-122"/>
                          <a:cs typeface="Cambria" pitchFamily="34" charset="-120"/>
                        </a:rPr>
                        <a:t>EV</a:t>
                      </a:r>
                      <a:endParaRPr lang="en-US" sz="1400" dirty="0">
                        <a:latin typeface="Cambria" charset="0"/>
                        <a:ea typeface="Cambria" charset="0"/>
                        <a:cs typeface="Cambria"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algn="ctr" indent="0" marL="0">
                        <a:buNone/>
                      </a:pPr>
                      <a:r>
                        <a:rPr lang="en-US" sz="1400" b="1" i="1" dirty="0">
                          <a:solidFill>
                            <a:schemeClr val="bg1"/>
                          </a:solidFill>
                          <a:latin typeface="Cambria" pitchFamily="34" charset="0"/>
                          <a:ea typeface="Cambria" pitchFamily="34" charset="-122"/>
                          <a:cs typeface="Cambria" pitchFamily="34" charset="-120"/>
                        </a:rPr>
                        <a:t>Acc</a:t>
                      </a:r>
                      <a:endParaRPr lang="en-US" sz="1400" dirty="0">
                        <a:latin typeface="Cambria" charset="0"/>
                        <a:ea typeface="Cambria" charset="0"/>
                        <a:cs typeface="Cambria"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algn="ctr" indent="0" marL="0">
                        <a:buNone/>
                      </a:pPr>
                      <a:r>
                        <a:rPr lang="en-US" sz="1400" b="1" i="1" dirty="0">
                          <a:solidFill>
                            <a:schemeClr val="bg1"/>
                          </a:solidFill>
                          <a:latin typeface="Cambria" pitchFamily="34" charset="0"/>
                          <a:ea typeface="Cambria" pitchFamily="34" charset="-122"/>
                          <a:cs typeface="Cambria" pitchFamily="34" charset="-120"/>
                        </a:rPr>
                        <a:t>Size</a:t>
                      </a:r>
                      <a:endParaRPr lang="en-US" sz="1400" dirty="0">
                        <a:latin typeface="Cambria" charset="0"/>
                        <a:ea typeface="Cambria" charset="0"/>
                        <a:cs typeface="Cambria"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r>
              <a:tr h="384048">
                <a:tc>
                  <a:txBody>
                    <a:bodyPr/>
                    <a:lstStyle/>
                    <a:p>
                      <a:pPr algn="l" indent="0" marL="0">
                        <a:buNone/>
                      </a:pPr>
                      <a:r>
                        <a:rPr lang="en-US" sz="1400" b="1" dirty="0">
                          <a:solidFill>
                            <a:srgbClr val="000000"/>
                          </a:solidFill>
                        </a:rPr>
                        <a:t>Spot 1</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chemeClr val="tx1"/>
                          </a:solidFill>
                        </a:rPr>
                        <a:t>0.14</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0.18</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0.00</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0.00</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0.67</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r h="384048">
                <a:tc>
                  <a:txBody>
                    <a:bodyPr/>
                    <a:lstStyle/>
                    <a:p>
                      <a:pPr algn="l" indent="0" marL="0">
                        <a:buNone/>
                      </a:pPr>
                      <a:r>
                        <a:rPr lang="en-US" sz="1400" b="1" dirty="0">
                          <a:solidFill>
                            <a:srgbClr val="000000"/>
                          </a:solidFill>
                        </a:rPr>
                        <a:t>Spot 2</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chemeClr val="tx1"/>
                          </a:solidFill>
                        </a:rPr>
                        <a:t>0.29</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0.18</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0.00</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1.00</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0.67</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r h="384048">
                <a:tc>
                  <a:txBody>
                    <a:bodyPr/>
                    <a:lstStyle/>
                    <a:p>
                      <a:pPr algn="l" indent="0" marL="0">
                        <a:buNone/>
                      </a:pPr>
                      <a:r>
                        <a:rPr lang="en-US" sz="1400" b="1" dirty="0">
                          <a:solidFill>
                            <a:srgbClr val="000000"/>
                          </a:solidFill>
                        </a:rPr>
                        <a:t>Spot 3</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chemeClr val="tx1"/>
                          </a:solidFill>
                        </a:rPr>
                        <a:t>0.43</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0.18</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1.00</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0.00</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0.67</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r h="384048">
                <a:tc>
                  <a:txBody>
                    <a:bodyPr/>
                    <a:lstStyle/>
                    <a:p>
                      <a:pPr algn="l" indent="0" marL="0">
                        <a:buNone/>
                      </a:pPr>
                      <a:r>
                        <a:rPr lang="en-US" sz="1400" b="1" dirty="0">
                          <a:solidFill>
                            <a:srgbClr val="000000"/>
                          </a:solidFill>
                        </a:rPr>
                        <a:t>Spot 4</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chemeClr val="tx1"/>
                          </a:solidFill>
                        </a:rPr>
                        <a:t>0.14</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0.36</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1.00</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1.00</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1.00</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bl>
          </a:graphicData>
        </a:graphic>
      </p:graphicFrame>
      <p:sp>
        <p:nvSpPr>
          <p:cNvPr id="19" name="Matrix caption"/>
          <p:cNvSpPr txBox="1"/>
          <p:nvPr/>
        </p:nvSpPr>
        <p:spPr>
          <a:xfrm>
            <a:off x="4800600" y="3703320"/>
            <a:ext cx="3886200" cy="274320"/>
          </a:xfrm>
          <a:prstGeom prst="rect">
            <a:avLst/>
          </a:prstGeom>
          <a:noFill/>
          <a:ln/>
        </p:spPr>
        <p:txBody>
          <a:bodyPr wrap="square" lIns="0" tIns="0" rIns="0" bIns="0" rtlCol="0" anchor="ctr"/>
          <a:lstStyle/>
          <a:p>
            <a:pPr indent="0" marL="0">
              <a:buNone/>
            </a:pPr>
            <a:r>
              <a:rPr lang="en-US" sz="1400" b="1" dirty="0">
                <a:solidFill>
                  <a:schemeClr val="accent5"/>
                </a:solidFill>
                <a:latin typeface="Calibri" pitchFamily="34" charset="0"/>
                <a:ea typeface="Calibri" pitchFamily="34" charset="-122"/>
                <a:cs typeface="Calibri" pitchFamily="34" charset="-120"/>
              </a:rPr>
              <a:t>Rows</a:t>
            </a:r>
            <a:pPr indent="0" marL="0">
              <a:buNone/>
            </a:pPr>
            <a:r>
              <a:rPr lang="en-US" sz="1400" dirty="0">
                <a:solidFill>
                  <a:schemeClr val="accent5"/>
                </a:solidFill>
                <a:latin typeface="Calibri" pitchFamily="34" charset="0"/>
                <a:ea typeface="Calibri" pitchFamily="34" charset="-122"/>
                <a:cs typeface="Calibri" pitchFamily="34" charset="-120"/>
              </a:rPr>
              <a:t> = parking spots     </a:t>
            </a:r>
            <a:pPr indent="0" marL="0">
              <a:buNone/>
            </a:pPr>
            <a:r>
              <a:rPr lang="en-US" sz="1400" b="1" dirty="0">
                <a:solidFill>
                  <a:schemeClr val="accent5"/>
                </a:solidFill>
                <a:latin typeface="Calibri" pitchFamily="34" charset="0"/>
                <a:ea typeface="Calibri" pitchFamily="34" charset="-122"/>
                <a:cs typeface="Calibri" pitchFamily="34" charset="-120"/>
              </a:rPr>
              <a:t>Columns</a:t>
            </a:r>
            <a:pPr indent="0" marL="0">
              <a:buNone/>
            </a:pPr>
            <a:r>
              <a:rPr lang="en-US" sz="1400" dirty="0">
                <a:solidFill>
                  <a:schemeClr val="accent5"/>
                </a:solidFill>
                <a:latin typeface="Calibri" pitchFamily="34" charset="0"/>
                <a:ea typeface="Calibri" pitchFamily="34" charset="-122"/>
                <a:cs typeface="Calibri" pitchFamily="34" charset="-120"/>
              </a:rPr>
              <a:t> = features</a:t>
            </a:r>
            <a:endParaRPr lang="en-US" sz="1400" dirty="0"/>
          </a:p>
        </p:txBody>
      </p:sp>
      <p:sp>
        <p:nvSpPr>
          <p:cNvPr id="20" name="Matrix size card"/>
          <p:cNvSpPr/>
          <p:nvPr/>
        </p:nvSpPr>
        <p:spPr>
          <a:xfrm>
            <a:off x="4800600" y="4114800"/>
            <a:ext cx="3886200" cy="594360"/>
          </a:xfrm>
          <a:prstGeom prst="roundRect">
            <a:avLst>
              <a:gd name="adj" fmla="val 15385"/>
            </a:avLst>
          </a:prstGeom>
          <a:solidFill>
            <a:schemeClr val="bg1"/>
          </a:solidFill>
          <a:ln/>
          <a:effectLst>
            <a:outerShdw sx="100000" sy="100000" kx="0" ky="0" algn="bl" rotWithShape="0" blurRad="76200" dist="25400" dir="5400000">
              <a:srgbClr val="000000">
                <a:alpha val="12000"/>
              </a:srgbClr>
            </a:outerShdw>
          </a:effectLst>
        </p:spPr>
      </p:sp>
      <p:sp>
        <p:nvSpPr>
          <p:cNvPr id="21" name="Matrix size text"/>
          <p:cNvSpPr txBox="1"/>
          <p:nvPr/>
        </p:nvSpPr>
        <p:spPr>
          <a:xfrm>
            <a:off x="4800600" y="4114800"/>
            <a:ext cx="3886200" cy="594360"/>
          </a:xfrm>
          <a:prstGeom prst="rect">
            <a:avLst/>
          </a:prstGeom>
          <a:noFill/>
          <a:ln/>
        </p:spPr>
        <p:txBody>
          <a:bodyPr wrap="square" lIns="0" tIns="0" rIns="0" bIns="0" rtlCol="0" anchor="ctr"/>
          <a:lstStyle/>
          <a:p>
            <a:pPr algn="ctr" indent="0" marL="0">
              <a:buNone/>
            </a:pPr>
            <a:r>
              <a:rPr lang="en-US" sz="1600" dirty="0">
                <a:solidFill>
                  <a:schemeClr val="tx1"/>
                </a:solidFill>
                <a:latin typeface="Cambria" pitchFamily="34" charset="0"/>
                <a:ea typeface="Cambria" pitchFamily="34" charset="-122"/>
                <a:cs typeface="Cambria" pitchFamily="34" charset="-120"/>
              </a:rPr>
              <a:t>A lot with </a:t>
            </a:r>
            <a:pPr algn="ctr" indent="0" marL="0">
              <a:buNone/>
            </a:pPr>
            <a:r>
              <a:rPr lang="en-US" sz="1600" i="1" dirty="0">
                <a:solidFill>
                  <a:schemeClr val="tx1"/>
                </a:solidFill>
                <a:latin typeface="Cambria" pitchFamily="34" charset="0"/>
                <a:ea typeface="Cambria" pitchFamily="34" charset="-122"/>
                <a:cs typeface="Cambria" pitchFamily="34" charset="-120"/>
              </a:rPr>
              <a:t>n</a:t>
            </a:r>
            <a:pPr algn="ctr" indent="0" marL="0">
              <a:buNone/>
            </a:pPr>
            <a:r>
              <a:rPr lang="en-US" sz="1600" dirty="0">
                <a:solidFill>
                  <a:schemeClr val="tx1"/>
                </a:solidFill>
                <a:latin typeface="Cambria" pitchFamily="34" charset="0"/>
                <a:ea typeface="Cambria" pitchFamily="34" charset="-122"/>
                <a:cs typeface="Cambria" pitchFamily="34" charset="-120"/>
              </a:rPr>
              <a:t> spots gives an </a:t>
            </a:r>
            <a:pPr algn="ctr" indent="0" marL="0">
              <a:buNone/>
            </a:pPr>
            <a:r>
              <a:rPr lang="en-US" sz="1600" i="1" dirty="0">
                <a:solidFill>
                  <a:schemeClr val="tx1"/>
                </a:solidFill>
                <a:latin typeface="Cambria" pitchFamily="34" charset="0"/>
                <a:ea typeface="Cambria" pitchFamily="34" charset="-122"/>
                <a:cs typeface="Cambria" pitchFamily="34" charset="-120"/>
              </a:rPr>
              <a:t>n</a:t>
            </a:r>
            <a:pPr algn="ctr" indent="0" marL="0">
              <a:buNone/>
            </a:pPr>
            <a:r>
              <a:rPr lang="en-US" sz="1600" dirty="0">
                <a:solidFill>
                  <a:schemeClr val="tx1"/>
                </a:solidFill>
                <a:latin typeface="Cambria" pitchFamily="34" charset="0"/>
                <a:ea typeface="Cambria" pitchFamily="34" charset="-122"/>
                <a:cs typeface="Cambria" pitchFamily="34" charset="-120"/>
              </a:rPr>
              <a:t> × 5 matrix </a:t>
            </a:r>
            <a:pPr algn="ctr" indent="0" marL="0">
              <a:buNone/>
            </a:pPr>
            <a:r>
              <a:rPr lang="en-US" sz="1600" b="1" i="1" dirty="0">
                <a:solidFill>
                  <a:schemeClr val="tx1"/>
                </a:solidFill>
                <a:latin typeface="Cambria" pitchFamily="34" charset="0"/>
                <a:ea typeface="Cambria" pitchFamily="34" charset="-122"/>
                <a:cs typeface="Cambria" pitchFamily="34" charset="-120"/>
              </a:rPr>
              <a:t>X</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tion badge"/>
          <p:cNvSpPr txBox="1"/>
          <p:nvPr/>
        </p:nvSpPr>
        <p:spPr>
          <a:xfrm>
            <a:off x="457200" y="228600"/>
            <a:ext cx="1842516" cy="256032"/>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dirty="0">
                <a:solidFill>
                  <a:schemeClr val="tx1"/>
                </a:solidFill>
              </a:rPr>
              <a:t>STEP 2  ·  FILTER</a:t>
            </a:r>
            <a:endParaRPr lang="en-US" sz="1000" dirty="0"/>
          </a:p>
        </p:txBody>
      </p:sp>
      <p:sp>
        <p:nvSpPr>
          <p:cNvPr id="3" name="Text 0"/>
          <p:cNvSpPr/>
          <p:nvPr>
            <p:ph idx="100"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Remove impossible spots first</a:t>
            </a:r>
            <a:endParaRPr lang="en-US" sz="3200" dirty="0"/>
          </a:p>
        </p:txBody>
      </p:sp>
      <p:sp>
        <p:nvSpPr>
          <p:cNvPr id="4" name="Rule card 1"/>
          <p:cNvSpPr/>
          <p:nvPr/>
        </p:nvSpPr>
        <p:spPr>
          <a:xfrm>
            <a:off x="457200" y="1325880"/>
            <a:ext cx="3657600" cy="530352"/>
          </a:xfrm>
          <a:prstGeom prst="roundRect">
            <a:avLst>
              <a:gd name="adj" fmla="val 17241"/>
            </a:avLst>
          </a:prstGeom>
          <a:solidFill>
            <a:schemeClr val="bg1"/>
          </a:solidFill>
          <a:ln/>
        </p:spPr>
        <p:txBody>
          <a:bodyPr/>
          <a:p/>
        </p:txBody>
      </p:sp>
      <p:sp>
        <p:nvSpPr>
          <p:cNvPr id="5" name="Reject circle 1"/>
          <p:cNvSpPr/>
          <p:nvPr/>
        </p:nvSpPr>
        <p:spPr>
          <a:xfrm>
            <a:off x="566928" y="1408176"/>
            <a:ext cx="365760" cy="365760"/>
          </a:xfrm>
          <a:prstGeom prst="ellipse">
            <a:avLst/>
          </a:prstGeom>
          <a:solidFill>
            <a:schemeClr val="accent3"/>
          </a:solidFill>
          <a:ln/>
        </p:spPr>
        <p:txBody>
          <a:bodyPr/>
          <a:p/>
        </p:txBody>
      </p:sp>
      <p:pic>
        <p:nvPicPr>
          <p:cNvPr id="6" name="Reject icon 1" descr="preencoded.png">    </p:cNvPr>
          <p:cNvPicPr>
            <a:picLocks noChangeAspect="1"/>
          </p:cNvPicPr>
          <p:nvPr/>
        </p:nvPicPr>
        <p:blipFill>
          <a:blip r:embed="rId1"/>
          <a:stretch>
            <a:fillRect/>
          </a:stretch>
        </p:blipFill>
        <p:spPr>
          <a:xfrm>
            <a:off x="658368" y="1499616"/>
            <a:ext cx="182880" cy="182880"/>
          </a:xfrm>
          <a:prstGeom prst="rect">
            <a:avLst/>
          </a:prstGeom>
        </p:spPr>
      </p:pic>
      <p:sp>
        <p:nvSpPr>
          <p:cNvPr id="7" name="Rule text 1"/>
          <p:cNvSpPr txBox="1"/>
          <p:nvPr/>
        </p:nvSpPr>
        <p:spPr>
          <a:xfrm>
            <a:off x="1051560" y="1325880"/>
            <a:ext cx="2971800" cy="530352"/>
          </a:xfrm>
          <a:prstGeom prst="rect">
            <a:avLst/>
          </a:prstGeom>
          <a:noFill/>
          <a:ln/>
        </p:spPr>
        <p:txBody>
          <a:bodyPr wrap="square" lIns="0" tIns="0" rIns="0" bIns="0" rtlCol="0" anchor="ctr"/>
          <a:lstStyle/>
          <a:p>
            <a:pPr indent="0" marL="0">
              <a:buNone/>
            </a:pPr>
            <a:r>
              <a:rPr lang="en-US" sz="1400" dirty="0">
                <a:solidFill>
                  <a:schemeClr val="tx1"/>
                </a:solidFill>
              </a:rPr>
              <a:t>Spot is occupied</a:t>
            </a:r>
            <a:endParaRPr lang="en-US" sz="1400" dirty="0"/>
          </a:p>
        </p:txBody>
      </p:sp>
      <p:sp>
        <p:nvSpPr>
          <p:cNvPr id="8" name="Rule card 2"/>
          <p:cNvSpPr/>
          <p:nvPr/>
        </p:nvSpPr>
        <p:spPr>
          <a:xfrm>
            <a:off x="457200" y="1947672"/>
            <a:ext cx="3657600" cy="530352"/>
          </a:xfrm>
          <a:prstGeom prst="roundRect">
            <a:avLst>
              <a:gd name="adj" fmla="val 17241"/>
            </a:avLst>
          </a:prstGeom>
          <a:solidFill>
            <a:schemeClr val="bg1"/>
          </a:solidFill>
          <a:ln/>
        </p:spPr>
        <p:txBody>
          <a:bodyPr/>
          <a:p/>
        </p:txBody>
      </p:sp>
      <p:sp>
        <p:nvSpPr>
          <p:cNvPr id="9" name="Reject circle 2"/>
          <p:cNvSpPr/>
          <p:nvPr/>
        </p:nvSpPr>
        <p:spPr>
          <a:xfrm>
            <a:off x="566928" y="2029968"/>
            <a:ext cx="365760" cy="365760"/>
          </a:xfrm>
          <a:prstGeom prst="ellipse">
            <a:avLst/>
          </a:prstGeom>
          <a:solidFill>
            <a:schemeClr val="accent3"/>
          </a:solidFill>
          <a:ln/>
        </p:spPr>
        <p:txBody>
          <a:bodyPr/>
          <a:p/>
        </p:txBody>
      </p:sp>
      <p:pic>
        <p:nvPicPr>
          <p:cNvPr id="10" name="Reject icon 2" descr="preencoded.png">    </p:cNvPr>
          <p:cNvPicPr>
            <a:picLocks noChangeAspect="1"/>
          </p:cNvPicPr>
          <p:nvPr/>
        </p:nvPicPr>
        <p:blipFill>
          <a:blip r:embed="rId2"/>
          <a:stretch>
            <a:fillRect/>
          </a:stretch>
        </p:blipFill>
        <p:spPr>
          <a:xfrm>
            <a:off x="658368" y="2121408"/>
            <a:ext cx="182880" cy="182880"/>
          </a:xfrm>
          <a:prstGeom prst="rect">
            <a:avLst/>
          </a:prstGeom>
        </p:spPr>
      </p:pic>
      <p:sp>
        <p:nvSpPr>
          <p:cNvPr id="11" name="Rule text 2"/>
          <p:cNvSpPr txBox="1"/>
          <p:nvPr/>
        </p:nvSpPr>
        <p:spPr>
          <a:xfrm>
            <a:off x="1051560" y="1947672"/>
            <a:ext cx="2971800" cy="530352"/>
          </a:xfrm>
          <a:prstGeom prst="rect">
            <a:avLst/>
          </a:prstGeom>
          <a:noFill/>
          <a:ln/>
        </p:spPr>
        <p:txBody>
          <a:bodyPr wrap="square" lIns="0" tIns="0" rIns="0" bIns="0" rtlCol="0" anchor="ctr"/>
          <a:lstStyle/>
          <a:p>
            <a:pPr indent="0" marL="0">
              <a:buNone/>
            </a:pPr>
            <a:r>
              <a:rPr lang="en-US" sz="1400" dirty="0">
                <a:solidFill>
                  <a:schemeClr val="tx1"/>
                </a:solidFill>
              </a:rPr>
              <a:t>Car needs EV, spot has no charger</a:t>
            </a:r>
            <a:endParaRPr lang="en-US" sz="1400" dirty="0"/>
          </a:p>
        </p:txBody>
      </p:sp>
      <p:sp>
        <p:nvSpPr>
          <p:cNvPr id="12" name="Rule card 3"/>
          <p:cNvSpPr/>
          <p:nvPr/>
        </p:nvSpPr>
        <p:spPr>
          <a:xfrm>
            <a:off x="457200" y="2569464"/>
            <a:ext cx="3657600" cy="530352"/>
          </a:xfrm>
          <a:prstGeom prst="roundRect">
            <a:avLst>
              <a:gd name="adj" fmla="val 17241"/>
            </a:avLst>
          </a:prstGeom>
          <a:solidFill>
            <a:schemeClr val="bg1"/>
          </a:solidFill>
          <a:ln/>
        </p:spPr>
        <p:txBody>
          <a:bodyPr/>
          <a:p/>
        </p:txBody>
      </p:sp>
      <p:sp>
        <p:nvSpPr>
          <p:cNvPr id="13" name="Reject circle 3"/>
          <p:cNvSpPr/>
          <p:nvPr/>
        </p:nvSpPr>
        <p:spPr>
          <a:xfrm>
            <a:off x="566928" y="2651760"/>
            <a:ext cx="365760" cy="365760"/>
          </a:xfrm>
          <a:prstGeom prst="ellipse">
            <a:avLst/>
          </a:prstGeom>
          <a:solidFill>
            <a:schemeClr val="accent3"/>
          </a:solidFill>
          <a:ln/>
        </p:spPr>
        <p:txBody>
          <a:bodyPr/>
          <a:p/>
        </p:txBody>
      </p:sp>
      <p:pic>
        <p:nvPicPr>
          <p:cNvPr id="14" name="Reject icon 3" descr="preencoded.png">    </p:cNvPr>
          <p:cNvPicPr>
            <a:picLocks noChangeAspect="1"/>
          </p:cNvPicPr>
          <p:nvPr/>
        </p:nvPicPr>
        <p:blipFill>
          <a:blip r:embed="rId3"/>
          <a:stretch>
            <a:fillRect/>
          </a:stretch>
        </p:blipFill>
        <p:spPr>
          <a:xfrm>
            <a:off x="658368" y="2743200"/>
            <a:ext cx="182880" cy="182880"/>
          </a:xfrm>
          <a:prstGeom prst="rect">
            <a:avLst/>
          </a:prstGeom>
        </p:spPr>
      </p:pic>
      <p:sp>
        <p:nvSpPr>
          <p:cNvPr id="15" name="Rule text 3"/>
          <p:cNvSpPr txBox="1"/>
          <p:nvPr/>
        </p:nvSpPr>
        <p:spPr>
          <a:xfrm>
            <a:off x="1051560" y="2569464"/>
            <a:ext cx="2971800" cy="530352"/>
          </a:xfrm>
          <a:prstGeom prst="rect">
            <a:avLst/>
          </a:prstGeom>
          <a:noFill/>
          <a:ln/>
        </p:spPr>
        <p:txBody>
          <a:bodyPr wrap="square" lIns="0" tIns="0" rIns="0" bIns="0" rtlCol="0" anchor="ctr"/>
          <a:lstStyle/>
          <a:p>
            <a:pPr indent="0" marL="0">
              <a:buNone/>
            </a:pPr>
            <a:r>
              <a:rPr lang="en-US" sz="1400" dirty="0">
                <a:solidFill>
                  <a:schemeClr val="tx1"/>
                </a:solidFill>
              </a:rPr>
              <a:t>Car needs accessible, spot is not</a:t>
            </a:r>
            <a:endParaRPr lang="en-US" sz="1400" dirty="0"/>
          </a:p>
        </p:txBody>
      </p:sp>
      <p:sp>
        <p:nvSpPr>
          <p:cNvPr id="16" name="Rule card 4"/>
          <p:cNvSpPr/>
          <p:nvPr/>
        </p:nvSpPr>
        <p:spPr>
          <a:xfrm>
            <a:off x="457200" y="3191256"/>
            <a:ext cx="3657600" cy="530352"/>
          </a:xfrm>
          <a:prstGeom prst="roundRect">
            <a:avLst>
              <a:gd name="adj" fmla="val 17241"/>
            </a:avLst>
          </a:prstGeom>
          <a:solidFill>
            <a:schemeClr val="bg1"/>
          </a:solidFill>
          <a:ln/>
        </p:spPr>
        <p:txBody>
          <a:bodyPr/>
          <a:p/>
        </p:txBody>
      </p:sp>
      <p:sp>
        <p:nvSpPr>
          <p:cNvPr id="17" name="Reject circle 4"/>
          <p:cNvSpPr/>
          <p:nvPr/>
        </p:nvSpPr>
        <p:spPr>
          <a:xfrm>
            <a:off x="566928" y="3273552"/>
            <a:ext cx="365760" cy="365760"/>
          </a:xfrm>
          <a:prstGeom prst="ellipse">
            <a:avLst/>
          </a:prstGeom>
          <a:solidFill>
            <a:schemeClr val="accent3"/>
          </a:solidFill>
          <a:ln/>
        </p:spPr>
        <p:txBody>
          <a:bodyPr/>
          <a:p/>
        </p:txBody>
      </p:sp>
      <p:pic>
        <p:nvPicPr>
          <p:cNvPr id="18" name="Reject icon 4" descr="preencoded.png">    </p:cNvPr>
          <p:cNvPicPr>
            <a:picLocks noChangeAspect="1"/>
          </p:cNvPicPr>
          <p:nvPr/>
        </p:nvPicPr>
        <p:blipFill>
          <a:blip r:embed="rId4"/>
          <a:stretch>
            <a:fillRect/>
          </a:stretch>
        </p:blipFill>
        <p:spPr>
          <a:xfrm>
            <a:off x="658368" y="3364992"/>
            <a:ext cx="182880" cy="182880"/>
          </a:xfrm>
          <a:prstGeom prst="rect">
            <a:avLst/>
          </a:prstGeom>
        </p:spPr>
      </p:pic>
      <p:sp>
        <p:nvSpPr>
          <p:cNvPr id="19" name="Rule text 4"/>
          <p:cNvSpPr txBox="1"/>
          <p:nvPr/>
        </p:nvSpPr>
        <p:spPr>
          <a:xfrm>
            <a:off x="1051560" y="3191256"/>
            <a:ext cx="2971800" cy="530352"/>
          </a:xfrm>
          <a:prstGeom prst="rect">
            <a:avLst/>
          </a:prstGeom>
          <a:noFill/>
          <a:ln/>
        </p:spPr>
        <p:txBody>
          <a:bodyPr wrap="square" lIns="0" tIns="0" rIns="0" bIns="0" rtlCol="0" anchor="ctr"/>
          <a:lstStyle/>
          <a:p>
            <a:pPr indent="0" marL="0">
              <a:buNone/>
            </a:pPr>
            <a:r>
              <a:rPr lang="en-US" sz="1400" dirty="0">
                <a:solidFill>
                  <a:schemeClr val="tx1"/>
                </a:solidFill>
              </a:rPr>
              <a:t>Car is larger than the bay</a:t>
            </a:r>
            <a:endParaRPr lang="en-US" sz="1400" dirty="0"/>
          </a:p>
        </p:txBody>
      </p:sp>
      <p:sp>
        <p:nvSpPr>
          <p:cNvPr id="20" name="Filter callout"/>
          <p:cNvSpPr/>
          <p:nvPr/>
        </p:nvSpPr>
        <p:spPr>
          <a:xfrm>
            <a:off x="457200" y="3886200"/>
            <a:ext cx="3657600" cy="822960"/>
          </a:xfrm>
          <a:prstGeom prst="roundRect">
            <a:avLst>
              <a:gd name="adj" fmla="val 11111"/>
            </a:avLst>
          </a:prstGeom>
          <a:solidFill>
            <a:schemeClr val="tx1"/>
          </a:solidFill>
          <a:ln/>
          <a:effectLst>
            <a:outerShdw sx="100000" sy="100000" kx="0" ky="0" algn="bl" rotWithShape="0" blurRad="76200" dist="25400" dir="5400000">
              <a:srgbClr val="000000">
                <a:alpha val="12000"/>
              </a:srgbClr>
            </a:outerShdw>
          </a:effectLst>
        </p:spPr>
        <p:txBody>
          <a:bodyPr/>
          <a:p/>
        </p:txBody>
      </p:sp>
      <p:sp>
        <p:nvSpPr>
          <p:cNvPr id="21" name="Filter callout text"/>
          <p:cNvSpPr txBox="1"/>
          <p:nvPr/>
        </p:nvSpPr>
        <p:spPr>
          <a:xfrm>
            <a:off x="640080" y="3886200"/>
            <a:ext cx="3291840" cy="822960"/>
          </a:xfrm>
          <a:prstGeom prst="rect">
            <a:avLst/>
          </a:prstGeom>
          <a:noFill/>
          <a:ln/>
        </p:spPr>
        <p:txBody>
          <a:bodyPr wrap="square" lIns="0" tIns="0" rIns="0" bIns="0" rtlCol="0" anchor="ctr"/>
          <a:lstStyle/>
          <a:p>
            <a:pPr indent="0" marL="0">
              <a:buNone/>
            </a:pPr>
            <a:r>
              <a:rPr lang="en-US" sz="1500" b="1" i="1" dirty="0">
                <a:solidFill>
                  <a:schemeClr val="accent1"/>
                </a:solidFill>
                <a:latin typeface="Cambria" pitchFamily="34" charset="0"/>
                <a:ea typeface="Cambria" pitchFamily="34" charset="-122"/>
                <a:cs typeface="Cambria" pitchFamily="34" charset="-120"/>
              </a:rPr>
              <a:t>Hard rules first. </a:t>
            </a:r>
            <a:pPr indent="0" marL="0">
              <a:buNone/>
            </a:pPr>
            <a:r>
              <a:rPr lang="en-US" sz="1500" i="1" dirty="0">
                <a:solidFill>
                  <a:schemeClr val="bg1"/>
                </a:solidFill>
                <a:latin typeface="Cambria" pitchFamily="34" charset="0"/>
                <a:ea typeface="Cambria" pitchFamily="34" charset="-122"/>
                <a:cs typeface="Cambria" pitchFamily="34" charset="-120"/>
              </a:rPr>
              <a:t>Linear algebra then ranks only the valid spots.</a:t>
            </a:r>
            <a:endParaRPr lang="en-US" sz="1500" dirty="0"/>
          </a:p>
        </p:txBody>
      </p:sp>
      <p:sp>
        <p:nvSpPr>
          <p:cNvPr id="22" name="Lot heading"/>
          <p:cNvSpPr txBox="1"/>
          <p:nvPr/>
        </p:nvSpPr>
        <p:spPr>
          <a:xfrm>
            <a:off x="4526280" y="1280160"/>
            <a:ext cx="4160520" cy="274320"/>
          </a:xfrm>
          <a:prstGeom prst="rect">
            <a:avLst/>
          </a:prstGeom>
          <a:noFill/>
          <a:ln/>
        </p:spPr>
        <p:txBody>
          <a:bodyPr wrap="square" lIns="0" tIns="0" rIns="0" bIns="0" rtlCol="0" anchor="ctr"/>
          <a:lstStyle/>
          <a:p>
            <a:pPr indent="0" marL="0">
              <a:buNone/>
            </a:pPr>
            <a:r>
              <a:rPr lang="en-US" sz="1600" b="1" dirty="0">
                <a:solidFill>
                  <a:schemeClr val="tx1"/>
                </a:solidFill>
              </a:rPr>
              <a:t>Illustrative example: EV car of standard size</a:t>
            </a:r>
            <a:endParaRPr lang="en-US" sz="1600" dirty="0"/>
          </a:p>
        </p:txBody>
      </p:sp>
      <p:sp>
        <p:nvSpPr>
          <p:cNvPr id="23" name="Bay P01"/>
          <p:cNvSpPr/>
          <p:nvPr/>
        </p:nvSpPr>
        <p:spPr>
          <a:xfrm>
            <a:off x="4526280" y="1691640"/>
            <a:ext cx="621792" cy="960120"/>
          </a:xfrm>
          <a:prstGeom prst="roundRect">
            <a:avLst>
              <a:gd name="adj" fmla="val 10294"/>
            </a:avLst>
          </a:prstGeom>
          <a:solidFill>
            <a:schemeClr val="accent5"/>
          </a:solidFill>
          <a:ln/>
        </p:spPr>
        <p:txBody>
          <a:bodyPr/>
          <a:p/>
        </p:txBody>
      </p:sp>
      <p:pic>
        <p:nvPicPr>
          <p:cNvPr id="24" name="Bay icon P01" descr="preencoded.png">    </p:cNvPr>
          <p:cNvPicPr>
            <a:picLocks noChangeAspect="1"/>
          </p:cNvPicPr>
          <p:nvPr/>
        </p:nvPicPr>
        <p:blipFill>
          <a:blip r:embed="rId5"/>
          <a:stretch>
            <a:fillRect/>
          </a:stretch>
        </p:blipFill>
        <p:spPr>
          <a:xfrm>
            <a:off x="4700016" y="1837944"/>
            <a:ext cx="274320" cy="274320"/>
          </a:xfrm>
          <a:prstGeom prst="rect">
            <a:avLst/>
          </a:prstGeom>
        </p:spPr>
      </p:pic>
      <p:sp>
        <p:nvSpPr>
          <p:cNvPr id="25" name="Bay label P01"/>
          <p:cNvSpPr txBox="1"/>
          <p:nvPr/>
        </p:nvSpPr>
        <p:spPr>
          <a:xfrm>
            <a:off x="4526280" y="2286000"/>
            <a:ext cx="621792" cy="228600"/>
          </a:xfrm>
          <a:prstGeom prst="rect">
            <a:avLst/>
          </a:prstGeom>
          <a:noFill/>
          <a:ln/>
        </p:spPr>
        <p:txBody>
          <a:bodyPr wrap="square" lIns="0" tIns="0" rIns="0" bIns="0" rtlCol="0" anchor="ctr"/>
          <a:lstStyle/>
          <a:p>
            <a:pPr algn="ctr" indent="0" marL="0">
              <a:buNone/>
            </a:pPr>
            <a:r>
              <a:rPr lang="en-US" sz="1100" b="1" dirty="0">
                <a:solidFill>
                  <a:schemeClr val="bg1"/>
                </a:solidFill>
              </a:rPr>
              <a:t>S01</a:t>
            </a:r>
            <a:endParaRPr lang="en-US" sz="1100" dirty="0"/>
          </a:p>
        </p:txBody>
      </p:sp>
      <p:sp>
        <p:nvSpPr>
          <p:cNvPr id="26" name="Bay P02"/>
          <p:cNvSpPr/>
          <p:nvPr/>
        </p:nvSpPr>
        <p:spPr>
          <a:xfrm>
            <a:off x="5221224" y="1691640"/>
            <a:ext cx="621792" cy="960120"/>
          </a:xfrm>
          <a:prstGeom prst="roundRect">
            <a:avLst>
              <a:gd name="adj" fmla="val 10294"/>
            </a:avLst>
          </a:prstGeom>
          <a:solidFill>
            <a:schemeClr val="accent3"/>
          </a:solidFill>
          <a:ln/>
        </p:spPr>
        <p:txBody>
          <a:bodyPr/>
          <a:p/>
        </p:txBody>
      </p:sp>
      <p:pic>
        <p:nvPicPr>
          <p:cNvPr id="27" name="Bay icon P02" descr="preencoded.png">    </p:cNvPr>
          <p:cNvPicPr>
            <a:picLocks noChangeAspect="1"/>
          </p:cNvPicPr>
          <p:nvPr/>
        </p:nvPicPr>
        <p:blipFill>
          <a:blip r:embed="rId6"/>
          <a:stretch>
            <a:fillRect/>
          </a:stretch>
        </p:blipFill>
        <p:spPr>
          <a:xfrm>
            <a:off x="5394960" y="1837944"/>
            <a:ext cx="274320" cy="274320"/>
          </a:xfrm>
          <a:prstGeom prst="rect">
            <a:avLst/>
          </a:prstGeom>
        </p:spPr>
      </p:pic>
      <p:sp>
        <p:nvSpPr>
          <p:cNvPr id="28" name="Bay label P02"/>
          <p:cNvSpPr txBox="1"/>
          <p:nvPr/>
        </p:nvSpPr>
        <p:spPr>
          <a:xfrm>
            <a:off x="5221224" y="2286000"/>
            <a:ext cx="621792" cy="228600"/>
          </a:xfrm>
          <a:prstGeom prst="rect">
            <a:avLst/>
          </a:prstGeom>
          <a:noFill/>
          <a:ln/>
        </p:spPr>
        <p:txBody>
          <a:bodyPr wrap="square" lIns="0" tIns="0" rIns="0" bIns="0" rtlCol="0" anchor="ctr"/>
          <a:lstStyle/>
          <a:p>
            <a:pPr algn="ctr" indent="0" marL="0">
              <a:buNone/>
            </a:pPr>
            <a:r>
              <a:rPr lang="en-US" sz="1100" b="1" dirty="0">
                <a:solidFill>
                  <a:schemeClr val="bg1"/>
                </a:solidFill>
              </a:rPr>
              <a:t>S02</a:t>
            </a:r>
            <a:endParaRPr lang="en-US" sz="1100" dirty="0"/>
          </a:p>
        </p:txBody>
      </p:sp>
      <p:sp>
        <p:nvSpPr>
          <p:cNvPr id="29" name="Bay P03"/>
          <p:cNvSpPr/>
          <p:nvPr/>
        </p:nvSpPr>
        <p:spPr>
          <a:xfrm>
            <a:off x="5916168" y="1691640"/>
            <a:ext cx="621792" cy="960120"/>
          </a:xfrm>
          <a:prstGeom prst="roundRect">
            <a:avLst>
              <a:gd name="adj" fmla="val 10294"/>
            </a:avLst>
          </a:prstGeom>
          <a:solidFill>
            <a:schemeClr val="accent2"/>
          </a:solidFill>
          <a:ln/>
        </p:spPr>
        <p:txBody>
          <a:bodyPr/>
          <a:p/>
        </p:txBody>
      </p:sp>
      <p:pic>
        <p:nvPicPr>
          <p:cNvPr id="30" name="Bay icon P03" descr="preencoded.png">    </p:cNvPr>
          <p:cNvPicPr>
            <a:picLocks noChangeAspect="1"/>
          </p:cNvPicPr>
          <p:nvPr/>
        </p:nvPicPr>
        <p:blipFill>
          <a:blip r:embed="rId7"/>
          <a:stretch>
            <a:fillRect/>
          </a:stretch>
        </p:blipFill>
        <p:spPr>
          <a:xfrm>
            <a:off x="6089904" y="1837944"/>
            <a:ext cx="274320" cy="274320"/>
          </a:xfrm>
          <a:prstGeom prst="rect">
            <a:avLst/>
          </a:prstGeom>
        </p:spPr>
      </p:pic>
      <p:sp>
        <p:nvSpPr>
          <p:cNvPr id="31" name="Bay label P03"/>
          <p:cNvSpPr txBox="1"/>
          <p:nvPr/>
        </p:nvSpPr>
        <p:spPr>
          <a:xfrm>
            <a:off x="5916168" y="2286000"/>
            <a:ext cx="621792" cy="228600"/>
          </a:xfrm>
          <a:prstGeom prst="rect">
            <a:avLst/>
          </a:prstGeom>
          <a:noFill/>
          <a:ln/>
        </p:spPr>
        <p:txBody>
          <a:bodyPr wrap="square" lIns="0" tIns="0" rIns="0" bIns="0" rtlCol="0" anchor="ctr"/>
          <a:lstStyle/>
          <a:p>
            <a:pPr algn="ctr" indent="0" marL="0">
              <a:buNone/>
            </a:pPr>
            <a:r>
              <a:rPr lang="en-US" sz="1100" b="1" dirty="0">
                <a:solidFill>
                  <a:schemeClr val="bg1"/>
                </a:solidFill>
              </a:rPr>
              <a:t>S03</a:t>
            </a:r>
            <a:endParaRPr lang="en-US" sz="1100" dirty="0"/>
          </a:p>
        </p:txBody>
      </p:sp>
      <p:sp>
        <p:nvSpPr>
          <p:cNvPr id="32" name="Bay P04"/>
          <p:cNvSpPr/>
          <p:nvPr/>
        </p:nvSpPr>
        <p:spPr>
          <a:xfrm>
            <a:off x="6611112" y="1691640"/>
            <a:ext cx="621792" cy="960120"/>
          </a:xfrm>
          <a:prstGeom prst="roundRect">
            <a:avLst>
              <a:gd name="adj" fmla="val 10294"/>
            </a:avLst>
          </a:prstGeom>
          <a:solidFill>
            <a:schemeClr val="accent5"/>
          </a:solidFill>
          <a:ln/>
        </p:spPr>
        <p:txBody>
          <a:bodyPr/>
          <a:p/>
        </p:txBody>
      </p:sp>
      <p:pic>
        <p:nvPicPr>
          <p:cNvPr id="33" name="Bay icon P04" descr="preencoded.png">    </p:cNvPr>
          <p:cNvPicPr>
            <a:picLocks noChangeAspect="1"/>
          </p:cNvPicPr>
          <p:nvPr/>
        </p:nvPicPr>
        <p:blipFill>
          <a:blip r:embed="rId8"/>
          <a:stretch>
            <a:fillRect/>
          </a:stretch>
        </p:blipFill>
        <p:spPr>
          <a:xfrm>
            <a:off x="6784848" y="1837944"/>
            <a:ext cx="274320" cy="274320"/>
          </a:xfrm>
          <a:prstGeom prst="rect">
            <a:avLst/>
          </a:prstGeom>
        </p:spPr>
      </p:pic>
      <p:sp>
        <p:nvSpPr>
          <p:cNvPr id="34" name="Bay label P04"/>
          <p:cNvSpPr txBox="1"/>
          <p:nvPr/>
        </p:nvSpPr>
        <p:spPr>
          <a:xfrm>
            <a:off x="6611112" y="2286000"/>
            <a:ext cx="621792" cy="228600"/>
          </a:xfrm>
          <a:prstGeom prst="rect">
            <a:avLst/>
          </a:prstGeom>
          <a:noFill/>
          <a:ln/>
        </p:spPr>
        <p:txBody>
          <a:bodyPr wrap="square" lIns="0" tIns="0" rIns="0" bIns="0" rtlCol="0" anchor="ctr"/>
          <a:lstStyle/>
          <a:p>
            <a:pPr algn="ctr" indent="0" marL="0">
              <a:buNone/>
            </a:pPr>
            <a:r>
              <a:rPr lang="en-US" sz="1100" b="1" dirty="0">
                <a:solidFill>
                  <a:schemeClr val="bg1"/>
                </a:solidFill>
              </a:rPr>
              <a:t>S04</a:t>
            </a:r>
            <a:endParaRPr lang="en-US" sz="1100" dirty="0"/>
          </a:p>
        </p:txBody>
      </p:sp>
      <p:sp>
        <p:nvSpPr>
          <p:cNvPr id="35" name="Bay P05"/>
          <p:cNvSpPr/>
          <p:nvPr/>
        </p:nvSpPr>
        <p:spPr>
          <a:xfrm>
            <a:off x="7306056" y="1691640"/>
            <a:ext cx="621792" cy="960120"/>
          </a:xfrm>
          <a:prstGeom prst="roundRect">
            <a:avLst>
              <a:gd name="adj" fmla="val 10294"/>
            </a:avLst>
          </a:prstGeom>
          <a:solidFill>
            <a:schemeClr val="accent6"/>
          </a:solidFill>
          <a:ln/>
        </p:spPr>
        <p:txBody>
          <a:bodyPr/>
          <a:p/>
        </p:txBody>
      </p:sp>
      <p:pic>
        <p:nvPicPr>
          <p:cNvPr id="36" name="Bay icon P05" descr="preencoded.png">    </p:cNvPr>
          <p:cNvPicPr>
            <a:picLocks noChangeAspect="1"/>
          </p:cNvPicPr>
          <p:nvPr/>
        </p:nvPicPr>
        <p:blipFill>
          <a:blip r:embed="rId9"/>
          <a:stretch>
            <a:fillRect/>
          </a:stretch>
        </p:blipFill>
        <p:spPr>
          <a:xfrm>
            <a:off x="7479792" y="1837944"/>
            <a:ext cx="274320" cy="274320"/>
          </a:xfrm>
          <a:prstGeom prst="rect">
            <a:avLst/>
          </a:prstGeom>
        </p:spPr>
      </p:pic>
      <p:sp>
        <p:nvSpPr>
          <p:cNvPr id="37" name="Bay label P05"/>
          <p:cNvSpPr txBox="1"/>
          <p:nvPr/>
        </p:nvSpPr>
        <p:spPr>
          <a:xfrm>
            <a:off x="7306056" y="2286000"/>
            <a:ext cx="621792" cy="228600"/>
          </a:xfrm>
          <a:prstGeom prst="rect">
            <a:avLst/>
          </a:prstGeom>
          <a:noFill/>
          <a:ln/>
        </p:spPr>
        <p:txBody>
          <a:bodyPr wrap="square" lIns="0" tIns="0" rIns="0" bIns="0" rtlCol="0" anchor="ctr"/>
          <a:lstStyle/>
          <a:p>
            <a:pPr algn="ctr" indent="0" marL="0">
              <a:buNone/>
            </a:pPr>
            <a:r>
              <a:rPr lang="en-US" sz="1100" b="1" dirty="0">
                <a:solidFill>
                  <a:schemeClr val="tx1"/>
                </a:solidFill>
              </a:rPr>
              <a:t>S05</a:t>
            </a:r>
            <a:endParaRPr lang="en-US" sz="1100" dirty="0"/>
          </a:p>
        </p:txBody>
      </p:sp>
      <p:sp>
        <p:nvSpPr>
          <p:cNvPr id="38" name="Bay P06"/>
          <p:cNvSpPr/>
          <p:nvPr/>
        </p:nvSpPr>
        <p:spPr>
          <a:xfrm>
            <a:off x="8001000" y="1691640"/>
            <a:ext cx="621792" cy="960120"/>
          </a:xfrm>
          <a:prstGeom prst="roundRect">
            <a:avLst>
              <a:gd name="adj" fmla="val 10294"/>
            </a:avLst>
          </a:prstGeom>
          <a:solidFill>
            <a:schemeClr val="accent2"/>
          </a:solidFill>
          <a:ln/>
        </p:spPr>
        <p:txBody>
          <a:bodyPr/>
          <a:p/>
        </p:txBody>
      </p:sp>
      <p:pic>
        <p:nvPicPr>
          <p:cNvPr id="39" name="Bay icon P06" descr="preencoded.png">    </p:cNvPr>
          <p:cNvPicPr>
            <a:picLocks noChangeAspect="1"/>
          </p:cNvPicPr>
          <p:nvPr/>
        </p:nvPicPr>
        <p:blipFill>
          <a:blip r:embed="rId10"/>
          <a:stretch>
            <a:fillRect/>
          </a:stretch>
        </p:blipFill>
        <p:spPr>
          <a:xfrm>
            <a:off x="8174736" y="1837944"/>
            <a:ext cx="274320" cy="274320"/>
          </a:xfrm>
          <a:prstGeom prst="rect">
            <a:avLst/>
          </a:prstGeom>
        </p:spPr>
      </p:pic>
      <p:sp>
        <p:nvSpPr>
          <p:cNvPr id="40" name="Bay label P06"/>
          <p:cNvSpPr txBox="1"/>
          <p:nvPr/>
        </p:nvSpPr>
        <p:spPr>
          <a:xfrm>
            <a:off x="8001000" y="2286000"/>
            <a:ext cx="621792" cy="228600"/>
          </a:xfrm>
          <a:prstGeom prst="rect">
            <a:avLst/>
          </a:prstGeom>
          <a:noFill/>
          <a:ln/>
        </p:spPr>
        <p:txBody>
          <a:bodyPr wrap="square" lIns="0" tIns="0" rIns="0" bIns="0" rtlCol="0" anchor="ctr"/>
          <a:lstStyle/>
          <a:p>
            <a:pPr algn="ctr" indent="0" marL="0">
              <a:buNone/>
            </a:pPr>
            <a:r>
              <a:rPr lang="en-US" sz="1100" b="1" dirty="0">
                <a:solidFill>
                  <a:schemeClr val="bg1"/>
                </a:solidFill>
              </a:rPr>
              <a:t>S06</a:t>
            </a:r>
            <a:endParaRPr lang="en-US" sz="1100" dirty="0"/>
          </a:p>
        </p:txBody>
      </p:sp>
      <p:sp>
        <p:nvSpPr>
          <p:cNvPr id="41" name="Bay P07"/>
          <p:cNvSpPr/>
          <p:nvPr/>
        </p:nvSpPr>
        <p:spPr>
          <a:xfrm>
            <a:off x="4526280" y="2788920"/>
            <a:ext cx="621792" cy="960120"/>
          </a:xfrm>
          <a:prstGeom prst="roundRect">
            <a:avLst>
              <a:gd name="adj" fmla="val 10294"/>
            </a:avLst>
          </a:prstGeom>
          <a:solidFill>
            <a:schemeClr val="accent3"/>
          </a:solidFill>
          <a:ln/>
        </p:spPr>
        <p:txBody>
          <a:bodyPr/>
          <a:p/>
        </p:txBody>
      </p:sp>
      <p:pic>
        <p:nvPicPr>
          <p:cNvPr id="42" name="Bay icon P07" descr="preencoded.png">    </p:cNvPr>
          <p:cNvPicPr>
            <a:picLocks noChangeAspect="1"/>
          </p:cNvPicPr>
          <p:nvPr/>
        </p:nvPicPr>
        <p:blipFill>
          <a:blip r:embed="rId11"/>
          <a:stretch>
            <a:fillRect/>
          </a:stretch>
        </p:blipFill>
        <p:spPr>
          <a:xfrm>
            <a:off x="4700016" y="2935224"/>
            <a:ext cx="274320" cy="274320"/>
          </a:xfrm>
          <a:prstGeom prst="rect">
            <a:avLst/>
          </a:prstGeom>
        </p:spPr>
      </p:pic>
      <p:sp>
        <p:nvSpPr>
          <p:cNvPr id="43" name="Bay label P07"/>
          <p:cNvSpPr txBox="1"/>
          <p:nvPr/>
        </p:nvSpPr>
        <p:spPr>
          <a:xfrm>
            <a:off x="4526280" y="3383280"/>
            <a:ext cx="621792" cy="228600"/>
          </a:xfrm>
          <a:prstGeom prst="rect">
            <a:avLst/>
          </a:prstGeom>
          <a:noFill/>
          <a:ln/>
        </p:spPr>
        <p:txBody>
          <a:bodyPr wrap="square" lIns="0" tIns="0" rIns="0" bIns="0" rtlCol="0" anchor="ctr"/>
          <a:lstStyle/>
          <a:p>
            <a:pPr algn="ctr" indent="0" marL="0">
              <a:buNone/>
            </a:pPr>
            <a:r>
              <a:rPr lang="en-US" sz="1100" b="1" dirty="0">
                <a:solidFill>
                  <a:schemeClr val="bg1"/>
                </a:solidFill>
              </a:rPr>
              <a:t>S07</a:t>
            </a:r>
            <a:endParaRPr lang="en-US" sz="1100" dirty="0"/>
          </a:p>
        </p:txBody>
      </p:sp>
      <p:sp>
        <p:nvSpPr>
          <p:cNvPr id="44" name="Bay P08"/>
          <p:cNvSpPr/>
          <p:nvPr/>
        </p:nvSpPr>
        <p:spPr>
          <a:xfrm>
            <a:off x="5221224" y="2788920"/>
            <a:ext cx="621792" cy="960120"/>
          </a:xfrm>
          <a:prstGeom prst="roundRect">
            <a:avLst>
              <a:gd name="adj" fmla="val 10294"/>
            </a:avLst>
          </a:prstGeom>
          <a:solidFill>
            <a:schemeClr val="accent2"/>
          </a:solidFill>
          <a:ln/>
        </p:spPr>
        <p:txBody>
          <a:bodyPr/>
          <a:p/>
        </p:txBody>
      </p:sp>
      <p:pic>
        <p:nvPicPr>
          <p:cNvPr id="45" name="Bay icon P08" descr="preencoded.png">    </p:cNvPr>
          <p:cNvPicPr>
            <a:picLocks noChangeAspect="1"/>
          </p:cNvPicPr>
          <p:nvPr/>
        </p:nvPicPr>
        <p:blipFill>
          <a:blip r:embed="rId12"/>
          <a:stretch>
            <a:fillRect/>
          </a:stretch>
        </p:blipFill>
        <p:spPr>
          <a:xfrm>
            <a:off x="5394960" y="2935224"/>
            <a:ext cx="274320" cy="274320"/>
          </a:xfrm>
          <a:prstGeom prst="rect">
            <a:avLst/>
          </a:prstGeom>
        </p:spPr>
      </p:pic>
      <p:sp>
        <p:nvSpPr>
          <p:cNvPr id="46" name="Bay label P08"/>
          <p:cNvSpPr txBox="1"/>
          <p:nvPr/>
        </p:nvSpPr>
        <p:spPr>
          <a:xfrm>
            <a:off x="5221224" y="3383280"/>
            <a:ext cx="621792" cy="228600"/>
          </a:xfrm>
          <a:prstGeom prst="rect">
            <a:avLst/>
          </a:prstGeom>
          <a:noFill/>
          <a:ln/>
        </p:spPr>
        <p:txBody>
          <a:bodyPr wrap="square" lIns="0" tIns="0" rIns="0" bIns="0" rtlCol="0" anchor="ctr"/>
          <a:lstStyle/>
          <a:p>
            <a:pPr algn="ctr" indent="0" marL="0">
              <a:buNone/>
            </a:pPr>
            <a:r>
              <a:rPr lang="en-US" sz="1100" b="1" dirty="0">
                <a:solidFill>
                  <a:schemeClr val="bg1"/>
                </a:solidFill>
              </a:rPr>
              <a:t>S08</a:t>
            </a:r>
            <a:endParaRPr lang="en-US" sz="1100" dirty="0"/>
          </a:p>
        </p:txBody>
      </p:sp>
      <p:sp>
        <p:nvSpPr>
          <p:cNvPr id="47" name="Bay P09"/>
          <p:cNvSpPr/>
          <p:nvPr/>
        </p:nvSpPr>
        <p:spPr>
          <a:xfrm>
            <a:off x="5916168" y="2788920"/>
            <a:ext cx="621792" cy="960120"/>
          </a:xfrm>
          <a:prstGeom prst="roundRect">
            <a:avLst>
              <a:gd name="adj" fmla="val 10294"/>
            </a:avLst>
          </a:prstGeom>
          <a:solidFill>
            <a:schemeClr val="accent5"/>
          </a:solidFill>
          <a:ln/>
        </p:spPr>
        <p:txBody>
          <a:bodyPr/>
          <a:p/>
        </p:txBody>
      </p:sp>
      <p:pic>
        <p:nvPicPr>
          <p:cNvPr id="48" name="Bay icon P09" descr="preencoded.png">    </p:cNvPr>
          <p:cNvPicPr>
            <a:picLocks noChangeAspect="1"/>
          </p:cNvPicPr>
          <p:nvPr/>
        </p:nvPicPr>
        <p:blipFill>
          <a:blip r:embed="rId13"/>
          <a:stretch>
            <a:fillRect/>
          </a:stretch>
        </p:blipFill>
        <p:spPr>
          <a:xfrm>
            <a:off x="6089904" y="2935224"/>
            <a:ext cx="274320" cy="274320"/>
          </a:xfrm>
          <a:prstGeom prst="rect">
            <a:avLst/>
          </a:prstGeom>
        </p:spPr>
      </p:pic>
      <p:sp>
        <p:nvSpPr>
          <p:cNvPr id="49" name="Bay label P09"/>
          <p:cNvSpPr txBox="1"/>
          <p:nvPr/>
        </p:nvSpPr>
        <p:spPr>
          <a:xfrm>
            <a:off x="5916168" y="3383280"/>
            <a:ext cx="621792" cy="228600"/>
          </a:xfrm>
          <a:prstGeom prst="rect">
            <a:avLst/>
          </a:prstGeom>
          <a:noFill/>
          <a:ln/>
        </p:spPr>
        <p:txBody>
          <a:bodyPr wrap="square" lIns="0" tIns="0" rIns="0" bIns="0" rtlCol="0" anchor="ctr"/>
          <a:lstStyle/>
          <a:p>
            <a:pPr algn="ctr" indent="0" marL="0">
              <a:buNone/>
            </a:pPr>
            <a:r>
              <a:rPr lang="en-US" sz="1100" b="1" dirty="0">
                <a:solidFill>
                  <a:schemeClr val="bg1"/>
                </a:solidFill>
              </a:rPr>
              <a:t>S09</a:t>
            </a:r>
            <a:endParaRPr lang="en-US" sz="1100" dirty="0"/>
          </a:p>
        </p:txBody>
      </p:sp>
      <p:sp>
        <p:nvSpPr>
          <p:cNvPr id="50" name="Bay P10"/>
          <p:cNvSpPr/>
          <p:nvPr/>
        </p:nvSpPr>
        <p:spPr>
          <a:xfrm>
            <a:off x="6611112" y="2788920"/>
            <a:ext cx="621792" cy="960120"/>
          </a:xfrm>
          <a:prstGeom prst="roundRect">
            <a:avLst>
              <a:gd name="adj" fmla="val 10294"/>
            </a:avLst>
          </a:prstGeom>
          <a:solidFill>
            <a:schemeClr val="accent3"/>
          </a:solidFill>
          <a:ln/>
        </p:spPr>
        <p:txBody>
          <a:bodyPr/>
          <a:p/>
        </p:txBody>
      </p:sp>
      <p:pic>
        <p:nvPicPr>
          <p:cNvPr id="51" name="Bay icon P10" descr="preencoded.png">    </p:cNvPr>
          <p:cNvPicPr>
            <a:picLocks noChangeAspect="1"/>
          </p:cNvPicPr>
          <p:nvPr/>
        </p:nvPicPr>
        <p:blipFill>
          <a:blip r:embed="rId14"/>
          <a:stretch>
            <a:fillRect/>
          </a:stretch>
        </p:blipFill>
        <p:spPr>
          <a:xfrm>
            <a:off x="6784848" y="2935224"/>
            <a:ext cx="274320" cy="274320"/>
          </a:xfrm>
          <a:prstGeom prst="rect">
            <a:avLst/>
          </a:prstGeom>
        </p:spPr>
      </p:pic>
      <p:sp>
        <p:nvSpPr>
          <p:cNvPr id="52" name="Bay label P10"/>
          <p:cNvSpPr txBox="1"/>
          <p:nvPr/>
        </p:nvSpPr>
        <p:spPr>
          <a:xfrm>
            <a:off x="6611112" y="3383280"/>
            <a:ext cx="621792" cy="228600"/>
          </a:xfrm>
          <a:prstGeom prst="rect">
            <a:avLst/>
          </a:prstGeom>
          <a:noFill/>
          <a:ln/>
        </p:spPr>
        <p:txBody>
          <a:bodyPr wrap="square" lIns="0" tIns="0" rIns="0" bIns="0" rtlCol="0" anchor="ctr"/>
          <a:lstStyle/>
          <a:p>
            <a:pPr algn="ctr" indent="0" marL="0">
              <a:buNone/>
            </a:pPr>
            <a:r>
              <a:rPr lang="en-US" sz="1100" b="1" dirty="0">
                <a:solidFill>
                  <a:schemeClr val="bg1"/>
                </a:solidFill>
              </a:rPr>
              <a:t>S10</a:t>
            </a:r>
            <a:endParaRPr lang="en-US" sz="1100" dirty="0"/>
          </a:p>
        </p:txBody>
      </p:sp>
      <p:sp>
        <p:nvSpPr>
          <p:cNvPr id="53" name="Bay P11"/>
          <p:cNvSpPr/>
          <p:nvPr/>
        </p:nvSpPr>
        <p:spPr>
          <a:xfrm>
            <a:off x="7306056" y="2788920"/>
            <a:ext cx="621792" cy="960120"/>
          </a:xfrm>
          <a:prstGeom prst="roundRect">
            <a:avLst>
              <a:gd name="adj" fmla="val 10294"/>
            </a:avLst>
          </a:prstGeom>
          <a:solidFill>
            <a:schemeClr val="accent2"/>
          </a:solidFill>
          <a:ln/>
        </p:spPr>
        <p:txBody>
          <a:bodyPr/>
          <a:p/>
        </p:txBody>
      </p:sp>
      <p:pic>
        <p:nvPicPr>
          <p:cNvPr id="54" name="Bay icon P11" descr="preencoded.png">    </p:cNvPr>
          <p:cNvPicPr>
            <a:picLocks noChangeAspect="1"/>
          </p:cNvPicPr>
          <p:nvPr/>
        </p:nvPicPr>
        <p:blipFill>
          <a:blip r:embed="rId15"/>
          <a:stretch>
            <a:fillRect/>
          </a:stretch>
        </p:blipFill>
        <p:spPr>
          <a:xfrm>
            <a:off x="7479792" y="2935224"/>
            <a:ext cx="274320" cy="274320"/>
          </a:xfrm>
          <a:prstGeom prst="rect">
            <a:avLst/>
          </a:prstGeom>
        </p:spPr>
      </p:pic>
      <p:sp>
        <p:nvSpPr>
          <p:cNvPr id="55" name="Bay label P11"/>
          <p:cNvSpPr txBox="1"/>
          <p:nvPr/>
        </p:nvSpPr>
        <p:spPr>
          <a:xfrm>
            <a:off x="7306056" y="3383280"/>
            <a:ext cx="621792" cy="228600"/>
          </a:xfrm>
          <a:prstGeom prst="rect">
            <a:avLst/>
          </a:prstGeom>
          <a:noFill/>
          <a:ln/>
        </p:spPr>
        <p:txBody>
          <a:bodyPr wrap="square" lIns="0" tIns="0" rIns="0" bIns="0" rtlCol="0" anchor="ctr"/>
          <a:lstStyle/>
          <a:p>
            <a:pPr algn="ctr" indent="0" marL="0">
              <a:buNone/>
            </a:pPr>
            <a:r>
              <a:rPr lang="en-US" sz="1100" b="1" dirty="0">
                <a:solidFill>
                  <a:schemeClr val="bg1"/>
                </a:solidFill>
              </a:rPr>
              <a:t>S11</a:t>
            </a:r>
            <a:endParaRPr lang="en-US" sz="1100" dirty="0"/>
          </a:p>
        </p:txBody>
      </p:sp>
      <p:sp>
        <p:nvSpPr>
          <p:cNvPr id="56" name="Bay P12"/>
          <p:cNvSpPr/>
          <p:nvPr/>
        </p:nvSpPr>
        <p:spPr>
          <a:xfrm>
            <a:off x="8001000" y="2788920"/>
            <a:ext cx="621792" cy="960120"/>
          </a:xfrm>
          <a:prstGeom prst="roundRect">
            <a:avLst>
              <a:gd name="adj" fmla="val 10294"/>
            </a:avLst>
          </a:prstGeom>
          <a:solidFill>
            <a:schemeClr val="accent3"/>
          </a:solidFill>
          <a:ln/>
        </p:spPr>
        <p:txBody>
          <a:bodyPr/>
          <a:p/>
        </p:txBody>
      </p:sp>
      <p:pic>
        <p:nvPicPr>
          <p:cNvPr id="57" name="Bay icon P12" descr="preencoded.png">    </p:cNvPr>
          <p:cNvPicPr>
            <a:picLocks noChangeAspect="1"/>
          </p:cNvPicPr>
          <p:nvPr/>
        </p:nvPicPr>
        <p:blipFill>
          <a:blip r:embed="rId16"/>
          <a:stretch>
            <a:fillRect/>
          </a:stretch>
        </p:blipFill>
        <p:spPr>
          <a:xfrm>
            <a:off x="8174736" y="2935224"/>
            <a:ext cx="274320" cy="274320"/>
          </a:xfrm>
          <a:prstGeom prst="rect">
            <a:avLst/>
          </a:prstGeom>
        </p:spPr>
      </p:pic>
      <p:sp>
        <p:nvSpPr>
          <p:cNvPr id="58" name="Bay label P12"/>
          <p:cNvSpPr txBox="1"/>
          <p:nvPr/>
        </p:nvSpPr>
        <p:spPr>
          <a:xfrm>
            <a:off x="8001000" y="3383280"/>
            <a:ext cx="621792" cy="228600"/>
          </a:xfrm>
          <a:prstGeom prst="rect">
            <a:avLst/>
          </a:prstGeom>
          <a:noFill/>
          <a:ln/>
        </p:spPr>
        <p:txBody>
          <a:bodyPr wrap="square" lIns="0" tIns="0" rIns="0" bIns="0" rtlCol="0" anchor="ctr"/>
          <a:lstStyle/>
          <a:p>
            <a:pPr algn="ctr" indent="0" marL="0">
              <a:buNone/>
            </a:pPr>
            <a:r>
              <a:rPr lang="en-US" sz="1100" b="1" dirty="0">
                <a:solidFill>
                  <a:schemeClr val="bg1"/>
                </a:solidFill>
              </a:rPr>
              <a:t>S12</a:t>
            </a:r>
            <a:endParaRPr lang="en-US" sz="1100" dirty="0"/>
          </a:p>
        </p:txBody>
      </p:sp>
      <p:sp>
        <p:nvSpPr>
          <p:cNvPr id="59" name="Legend swatch 1"/>
          <p:cNvSpPr/>
          <p:nvPr/>
        </p:nvSpPr>
        <p:spPr>
          <a:xfrm>
            <a:off x="4526280" y="3977640"/>
            <a:ext cx="146304" cy="146304"/>
          </a:xfrm>
          <a:prstGeom prst="roundRect">
            <a:avLst>
              <a:gd name="adj" fmla="val 18750"/>
            </a:avLst>
          </a:prstGeom>
          <a:solidFill>
            <a:schemeClr val="accent5"/>
          </a:solidFill>
          <a:ln/>
        </p:spPr>
        <p:txBody>
          <a:bodyPr/>
          <a:p/>
        </p:txBody>
      </p:sp>
      <p:sp>
        <p:nvSpPr>
          <p:cNvPr id="60" name="Legend text 1"/>
          <p:cNvSpPr txBox="1"/>
          <p:nvPr/>
        </p:nvSpPr>
        <p:spPr>
          <a:xfrm>
            <a:off x="4754880" y="3931920"/>
            <a:ext cx="1737360" cy="237744"/>
          </a:xfrm>
          <a:prstGeom prst="rect">
            <a:avLst/>
          </a:prstGeom>
          <a:noFill/>
          <a:ln/>
        </p:spPr>
        <p:txBody>
          <a:bodyPr wrap="square" lIns="0" tIns="0" rIns="0" bIns="0" rtlCol="0" anchor="ctr"/>
          <a:lstStyle/>
          <a:p>
            <a:pPr indent="0" marL="0">
              <a:buNone/>
            </a:pPr>
            <a:r>
              <a:rPr lang="en-US" sz="1200" dirty="0">
                <a:solidFill>
                  <a:schemeClr val="tx1"/>
                </a:solidFill>
              </a:rPr>
              <a:t>Occupied</a:t>
            </a:r>
            <a:endParaRPr lang="en-US" sz="1200" dirty="0"/>
          </a:p>
        </p:txBody>
      </p:sp>
      <p:sp>
        <p:nvSpPr>
          <p:cNvPr id="61" name="Legend swatch 2"/>
          <p:cNvSpPr/>
          <p:nvPr/>
        </p:nvSpPr>
        <p:spPr>
          <a:xfrm>
            <a:off x="6629400" y="3977640"/>
            <a:ext cx="146304" cy="146304"/>
          </a:xfrm>
          <a:prstGeom prst="roundRect">
            <a:avLst>
              <a:gd name="adj" fmla="val 18750"/>
            </a:avLst>
          </a:prstGeom>
          <a:solidFill>
            <a:schemeClr val="accent3"/>
          </a:solidFill>
          <a:ln/>
        </p:spPr>
        <p:txBody>
          <a:bodyPr/>
          <a:p/>
        </p:txBody>
      </p:sp>
      <p:sp>
        <p:nvSpPr>
          <p:cNvPr id="62" name="Legend text 2"/>
          <p:cNvSpPr txBox="1"/>
          <p:nvPr/>
        </p:nvSpPr>
        <p:spPr>
          <a:xfrm>
            <a:off x="6858000" y="3931920"/>
            <a:ext cx="1737360" cy="237744"/>
          </a:xfrm>
          <a:prstGeom prst="rect">
            <a:avLst/>
          </a:prstGeom>
          <a:noFill/>
          <a:ln/>
        </p:spPr>
        <p:txBody>
          <a:bodyPr wrap="square" lIns="0" tIns="0" rIns="0" bIns="0" rtlCol="0" anchor="ctr"/>
          <a:lstStyle/>
          <a:p>
            <a:pPr indent="0" marL="0">
              <a:buNone/>
            </a:pPr>
            <a:r>
              <a:rPr lang="en-US" sz="1200" dirty="0">
                <a:solidFill>
                  <a:schemeClr val="tx1"/>
                </a:solidFill>
              </a:rPr>
              <a:t>No charger</a:t>
            </a:r>
            <a:endParaRPr lang="en-US" sz="1200" dirty="0"/>
          </a:p>
        </p:txBody>
      </p:sp>
      <p:sp>
        <p:nvSpPr>
          <p:cNvPr id="63" name="Legend swatch 3"/>
          <p:cNvSpPr/>
          <p:nvPr/>
        </p:nvSpPr>
        <p:spPr>
          <a:xfrm>
            <a:off x="4526280" y="4251960"/>
            <a:ext cx="146304" cy="146304"/>
          </a:xfrm>
          <a:prstGeom prst="roundRect">
            <a:avLst>
              <a:gd name="adj" fmla="val 18750"/>
            </a:avLst>
          </a:prstGeom>
          <a:solidFill>
            <a:schemeClr val="accent6"/>
          </a:solidFill>
          <a:ln/>
        </p:spPr>
        <p:txBody>
          <a:bodyPr/>
          <a:p/>
        </p:txBody>
      </p:sp>
      <p:sp>
        <p:nvSpPr>
          <p:cNvPr id="64" name="Legend text 3"/>
          <p:cNvSpPr txBox="1"/>
          <p:nvPr/>
        </p:nvSpPr>
        <p:spPr>
          <a:xfrm>
            <a:off x="4754880" y="4206240"/>
            <a:ext cx="1737360" cy="237744"/>
          </a:xfrm>
          <a:prstGeom prst="rect">
            <a:avLst/>
          </a:prstGeom>
          <a:noFill/>
          <a:ln/>
        </p:spPr>
        <p:txBody>
          <a:bodyPr wrap="square" lIns="0" tIns="0" rIns="0" bIns="0" rtlCol="0" anchor="ctr"/>
          <a:lstStyle/>
          <a:p>
            <a:pPr indent="0" marL="0">
              <a:buNone/>
            </a:pPr>
            <a:r>
              <a:rPr lang="en-US" sz="1200" dirty="0">
                <a:solidFill>
                  <a:schemeClr val="tx1"/>
                </a:solidFill>
              </a:rPr>
              <a:t>Too small</a:t>
            </a:r>
            <a:endParaRPr lang="en-US" sz="1200" dirty="0"/>
          </a:p>
        </p:txBody>
      </p:sp>
      <p:sp>
        <p:nvSpPr>
          <p:cNvPr id="65" name="Legend swatch 4"/>
          <p:cNvSpPr/>
          <p:nvPr/>
        </p:nvSpPr>
        <p:spPr>
          <a:xfrm>
            <a:off x="6629400" y="4251960"/>
            <a:ext cx="146304" cy="146304"/>
          </a:xfrm>
          <a:prstGeom prst="roundRect">
            <a:avLst>
              <a:gd name="adj" fmla="val 18750"/>
            </a:avLst>
          </a:prstGeom>
          <a:solidFill>
            <a:schemeClr val="accent2"/>
          </a:solidFill>
          <a:ln/>
        </p:spPr>
        <p:txBody>
          <a:bodyPr/>
          <a:p/>
        </p:txBody>
      </p:sp>
      <p:sp>
        <p:nvSpPr>
          <p:cNvPr id="66" name="Legend text 4"/>
          <p:cNvSpPr txBox="1"/>
          <p:nvPr/>
        </p:nvSpPr>
        <p:spPr>
          <a:xfrm>
            <a:off x="6858000" y="4206240"/>
            <a:ext cx="1737360" cy="237744"/>
          </a:xfrm>
          <a:prstGeom prst="rect">
            <a:avLst/>
          </a:prstGeom>
          <a:noFill/>
          <a:ln/>
        </p:spPr>
        <p:txBody>
          <a:bodyPr wrap="square" lIns="0" tIns="0" rIns="0" bIns="0" rtlCol="0" anchor="ctr"/>
          <a:lstStyle/>
          <a:p>
            <a:pPr indent="0" marL="0">
              <a:buNone/>
            </a:pPr>
            <a:r>
              <a:rPr lang="en-US" sz="1200" dirty="0">
                <a:solidFill>
                  <a:schemeClr val="tx1"/>
                </a:solidFill>
              </a:rPr>
              <a:t>Feasible</a:t>
            </a:r>
            <a:endParaRPr lang="en-US" sz="1200" dirty="0"/>
          </a:p>
        </p:txBody>
      </p:sp>
      <p:sp>
        <p:nvSpPr>
          <p:cNvPr id="67" name="Feasible set text"/>
          <p:cNvSpPr txBox="1"/>
          <p:nvPr/>
        </p:nvSpPr>
        <p:spPr>
          <a:xfrm>
            <a:off x="4526280" y="4462272"/>
            <a:ext cx="4160520" cy="27432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Illustrative feasible set: S03, S06, S08, S11</a:t>
            </a:r>
            <a:pPr indent="0" marL="0">
              <a:buNone/>
            </a:pPr>
            <a:r>
              <a:rPr lang="en-US" sz="1500" b="1" dirty="0">
                <a:solidFill>
                  <a:schemeClr val="accent2"/>
                </a:solidFill>
                <a:latin typeface="Cambria" pitchFamily="34" charset="0"/>
                <a:ea typeface="Cambria" pitchFamily="34" charset="-122"/>
                <a:cs typeface="Cambria" pitchFamily="34" charset="-120"/>
              </a:rPr>
              <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badge"/>
          <p:cNvSpPr txBox="1"/>
          <p:nvPr/>
        </p:nvSpPr>
        <p:spPr>
          <a:xfrm>
            <a:off x="457200" y="228600"/>
            <a:ext cx="1929384" cy="256032"/>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dirty="0">
                <a:solidFill>
                  <a:schemeClr val="tx1"/>
                </a:solidFill>
              </a:rPr>
              <a:t>STEP 3  ·  PROJECT</a:t>
            </a:r>
            <a:endParaRPr lang="en-US" sz="1000" dirty="0"/>
          </a:p>
        </p:txBody>
      </p:sp>
      <p:sp>
        <p:nvSpPr>
          <p:cNvPr id="3" name="Text 0"/>
          <p:cNvSpPr/>
          <p:nvPr>
            <p:ph idx="100"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Projection: the closest “shadow”</a:t>
            </a:r>
            <a:endParaRPr lang="en-US" sz="3200" dirty="0"/>
          </a:p>
        </p:txBody>
      </p:sp>
      <p:sp>
        <p:nvSpPr>
          <p:cNvPr id="4" name="Diagram card"/>
          <p:cNvSpPr/>
          <p:nvPr/>
        </p:nvSpPr>
        <p:spPr>
          <a:xfrm>
            <a:off x="457200" y="1280160"/>
            <a:ext cx="4663440" cy="3429000"/>
          </a:xfrm>
          <a:prstGeom prst="roundRect">
            <a:avLst>
              <a:gd name="adj" fmla="val 2667"/>
            </a:avLst>
          </a:prstGeom>
          <a:solidFill>
            <a:schemeClr val="bg1"/>
          </a:solidFill>
          <a:ln/>
          <a:effectLst>
            <a:outerShdw sx="100000" sy="100000" kx="0" ky="0" algn="bl" rotWithShape="0" blurRad="76200" dist="25400" dir="5400000">
              <a:srgbClr val="000000">
                <a:alpha val="12000"/>
              </a:srgbClr>
            </a:outerShdw>
          </a:effectLst>
        </p:spPr>
      </p:sp>
      <p:sp>
        <p:nvSpPr>
          <p:cNvPr id="5" name="Span line"/>
          <p:cNvSpPr/>
          <p:nvPr/>
        </p:nvSpPr>
        <p:spPr>
          <a:xfrm flipV="1">
            <a:off x="914400" y="3163582"/>
            <a:ext cx="3815125" cy="951218"/>
          </a:xfrm>
          <a:prstGeom prst="line">
            <a:avLst/>
          </a:prstGeom>
          <a:noFill/>
          <a:ln w="50800">
            <a:solidFill>
              <a:schemeClr val="accent2"/>
            </a:solidFill>
            <a:prstDash val="solid"/>
            <a:tailEnd type="triangle"/>
          </a:ln>
        </p:spPr>
      </p:sp>
      <p:sp>
        <p:nvSpPr>
          <p:cNvPr id="6" name="Vector v"/>
          <p:cNvSpPr/>
          <p:nvPr/>
        </p:nvSpPr>
        <p:spPr>
          <a:xfrm flipV="1">
            <a:off x="914400" y="2331720"/>
            <a:ext cx="2103120" cy="1783080"/>
          </a:xfrm>
          <a:prstGeom prst="line">
            <a:avLst/>
          </a:prstGeom>
          <a:noFill/>
          <a:ln w="38100">
            <a:solidFill>
              <a:schemeClr val="tx1"/>
            </a:solidFill>
            <a:prstDash val="solid"/>
            <a:tailEnd type="triangle"/>
          </a:ln>
        </p:spPr>
      </p:sp>
      <p:sp>
        <p:nvSpPr>
          <p:cNvPr id="7" name="Residual r"/>
          <p:cNvSpPr/>
          <p:nvPr/>
        </p:nvSpPr>
        <p:spPr>
          <a:xfrm>
            <a:off x="3017520" y="2331720"/>
            <a:ext cx="295465" cy="1185046"/>
          </a:xfrm>
          <a:prstGeom prst="line">
            <a:avLst/>
          </a:prstGeom>
          <a:noFill/>
          <a:ln w="28575">
            <a:solidFill>
              <a:schemeClr val="accent3"/>
            </a:solidFill>
            <a:prstDash val="dash"/>
          </a:ln>
        </p:spPr>
      </p:sp>
      <p:sp>
        <p:nvSpPr>
          <p:cNvPr id="8" name="Right angle a"/>
          <p:cNvSpPr/>
          <p:nvPr/>
        </p:nvSpPr>
        <p:spPr>
          <a:xfrm flipH="1" flipV="1">
            <a:off x="3091295" y="3383561"/>
            <a:ext cx="44243" cy="177448"/>
          </a:xfrm>
          <a:prstGeom prst="line">
            <a:avLst/>
          </a:prstGeom>
          <a:noFill/>
          <a:ln w="19050">
            <a:solidFill>
              <a:schemeClr val="accent3"/>
            </a:solidFill>
            <a:prstDash val="solid"/>
          </a:ln>
        </p:spPr>
      </p:sp>
      <p:sp>
        <p:nvSpPr>
          <p:cNvPr id="9" name="Right angle b"/>
          <p:cNvSpPr/>
          <p:nvPr/>
        </p:nvSpPr>
        <p:spPr>
          <a:xfrm flipV="1">
            <a:off x="3091295" y="3339318"/>
            <a:ext cx="177448" cy="44243"/>
          </a:xfrm>
          <a:prstGeom prst="line">
            <a:avLst/>
          </a:prstGeom>
          <a:noFill/>
          <a:ln w="19050">
            <a:solidFill>
              <a:schemeClr val="accent3"/>
            </a:solidFill>
            <a:prstDash val="solid"/>
          </a:ln>
        </p:spPr>
      </p:sp>
      <p:sp>
        <p:nvSpPr>
          <p:cNvPr id="10" name="Foot point"/>
          <p:cNvSpPr/>
          <p:nvPr/>
        </p:nvSpPr>
        <p:spPr>
          <a:xfrm>
            <a:off x="3248977" y="3452758"/>
            <a:ext cx="128016" cy="128016"/>
          </a:xfrm>
          <a:prstGeom prst="ellipse">
            <a:avLst/>
          </a:prstGeom>
          <a:solidFill>
            <a:schemeClr val="accent2"/>
          </a:solidFill>
          <a:ln w="19050">
            <a:solidFill>
              <a:schemeClr val="bg1"/>
            </a:solidFill>
            <a:prstDash val="solid"/>
          </a:ln>
        </p:spPr>
      </p:sp>
      <p:sp>
        <p:nvSpPr>
          <p:cNvPr id="11" name="Origin"/>
          <p:cNvSpPr/>
          <p:nvPr/>
        </p:nvSpPr>
        <p:spPr>
          <a:xfrm>
            <a:off x="859536" y="4059936"/>
            <a:ext cx="109728" cy="109728"/>
          </a:xfrm>
          <a:prstGeom prst="ellipse">
            <a:avLst/>
          </a:prstGeom>
          <a:solidFill>
            <a:schemeClr val="tx1"/>
          </a:solidFill>
          <a:ln/>
        </p:spPr>
      </p:sp>
      <p:sp>
        <p:nvSpPr>
          <p:cNvPr id="12" name="Label v"/>
          <p:cNvSpPr txBox="1"/>
          <p:nvPr/>
        </p:nvSpPr>
        <p:spPr>
          <a:xfrm>
            <a:off x="3090672" y="1965960"/>
            <a:ext cx="365760" cy="320040"/>
          </a:xfrm>
          <a:prstGeom prst="rect">
            <a:avLst/>
          </a:prstGeom>
          <a:noFill/>
          <a:ln/>
        </p:spPr>
        <p:txBody>
          <a:bodyPr wrap="square" lIns="0" tIns="0" rIns="0" bIns="0" rtlCol="0" anchor="ctr"/>
          <a:lstStyle/>
          <a:p>
            <a:pPr indent="0" marL="0">
              <a:buNone/>
            </a:pPr>
            <a:r>
              <a:rPr lang="en-US" sz="2200" b="1" i="1" dirty="0">
                <a:solidFill>
                  <a:schemeClr val="tx1"/>
                </a:solidFill>
                <a:latin typeface="Cambria" pitchFamily="34" charset="0"/>
                <a:ea typeface="Cambria" pitchFamily="34" charset="-122"/>
                <a:cs typeface="Cambria" pitchFamily="34" charset="-120"/>
              </a:rPr>
              <a:t>v</a:t>
            </a:r>
            <a:endParaRPr lang="en-US" sz="2200" dirty="0"/>
          </a:p>
        </p:txBody>
      </p:sp>
      <p:sp>
        <p:nvSpPr>
          <p:cNvPr id="13" name="Label v hat"/>
          <p:cNvSpPr txBox="1"/>
          <p:nvPr/>
        </p:nvSpPr>
        <p:spPr>
          <a:xfrm>
            <a:off x="3267265" y="3626494"/>
            <a:ext cx="365760" cy="320040"/>
          </a:xfrm>
          <a:prstGeom prst="rect">
            <a:avLst/>
          </a:prstGeom>
          <a:noFill/>
          <a:ln/>
        </p:spPr>
        <p:txBody>
          <a:bodyPr wrap="square" lIns="0" tIns="0" rIns="0" bIns="0" rtlCol="0" anchor="ctr"/>
          <a:lstStyle/>
          <a:p>
            <a:pPr indent="0" marL="0">
              <a:buNone/>
            </a:pPr>
            <a:r>
              <a:rPr lang="en-US" sz="2200" b="1" i="1" dirty="0">
                <a:solidFill>
                  <a:schemeClr val="accent2"/>
                </a:solidFill>
                <a:latin typeface="Cambria" pitchFamily="34" charset="0"/>
                <a:ea typeface="Cambria" pitchFamily="34" charset="-122"/>
                <a:cs typeface="Cambria" pitchFamily="34" charset="-120"/>
              </a:rPr>
              <a:t>v̂</a:t>
            </a:r>
            <a:endParaRPr lang="en-US" sz="2200" dirty="0"/>
          </a:p>
        </p:txBody>
      </p:sp>
      <p:sp>
        <p:nvSpPr>
          <p:cNvPr id="14" name="Label r"/>
          <p:cNvSpPr txBox="1"/>
          <p:nvPr/>
        </p:nvSpPr>
        <p:spPr>
          <a:xfrm>
            <a:off x="3302413" y="2787083"/>
            <a:ext cx="1280160" cy="292608"/>
          </a:xfrm>
          <a:prstGeom prst="rect">
            <a:avLst/>
          </a:prstGeom>
          <a:noFill/>
          <a:ln/>
        </p:spPr>
        <p:txBody>
          <a:bodyPr wrap="square" lIns="0" tIns="0" rIns="0" bIns="0" rtlCol="0" anchor="ctr"/>
          <a:lstStyle/>
          <a:p>
            <a:pPr indent="0" marL="0">
              <a:buNone/>
            </a:pPr>
            <a:r>
              <a:rPr lang="en-US" sz="1600" i="1" dirty="0">
                <a:solidFill>
                  <a:schemeClr val="accent3"/>
                </a:solidFill>
                <a:latin typeface="Cambria" pitchFamily="34" charset="0"/>
                <a:ea typeface="Cambria" pitchFamily="34" charset="-122"/>
                <a:cs typeface="Cambria" pitchFamily="34" charset="-120"/>
              </a:rPr>
              <a:t>r</a:t>
            </a:r>
            <a:pPr indent="0" marL="0">
              <a:buNone/>
            </a:pPr>
            <a:r>
              <a:rPr lang="en-US" sz="1600" dirty="0">
                <a:solidFill>
                  <a:schemeClr val="accent3"/>
                </a:solidFill>
                <a:latin typeface="Cambria" pitchFamily="34" charset="0"/>
                <a:ea typeface="Cambria" pitchFamily="34" charset="-122"/>
                <a:cs typeface="Cambria" pitchFamily="34" charset="-120"/>
              </a:rPr>
              <a:t> = </a:t>
            </a:r>
            <a:pPr indent="0" marL="0">
              <a:buNone/>
            </a:pPr>
            <a:r>
              <a:rPr lang="en-US" sz="1600" i="1" dirty="0">
                <a:solidFill>
                  <a:schemeClr val="accent3"/>
                </a:solidFill>
                <a:latin typeface="Cambria" pitchFamily="34" charset="0"/>
                <a:ea typeface="Cambria" pitchFamily="34" charset="-122"/>
                <a:cs typeface="Cambria" pitchFamily="34" charset="-120"/>
              </a:rPr>
              <a:t>v</a:t>
            </a:r>
            <a:pPr indent="0" marL="0">
              <a:buNone/>
            </a:pPr>
            <a:r>
              <a:rPr lang="en-US" sz="1600" dirty="0">
                <a:solidFill>
                  <a:schemeClr val="accent3"/>
                </a:solidFill>
                <a:latin typeface="Cambria" pitchFamily="34" charset="0"/>
                <a:ea typeface="Cambria" pitchFamily="34" charset="-122"/>
                <a:cs typeface="Cambria" pitchFamily="34" charset="-120"/>
              </a:rPr>
              <a:t> − </a:t>
            </a:r>
            <a:pPr indent="0" marL="0">
              <a:buNone/>
            </a:pPr>
            <a:r>
              <a:rPr lang="en-US" sz="1600" i="1" dirty="0">
                <a:solidFill>
                  <a:schemeClr val="accent3"/>
                </a:solidFill>
                <a:latin typeface="Cambria" pitchFamily="34" charset="0"/>
                <a:ea typeface="Cambria" pitchFamily="34" charset="-122"/>
                <a:cs typeface="Cambria" pitchFamily="34" charset="-120"/>
              </a:rPr>
              <a:t>v̂</a:t>
            </a:r>
            <a:endParaRPr lang="en-US" sz="1600" dirty="0"/>
          </a:p>
        </p:txBody>
      </p:sp>
      <p:sp>
        <p:nvSpPr>
          <p:cNvPr id="15" name="Label span"/>
          <p:cNvSpPr txBox="1"/>
          <p:nvPr/>
        </p:nvSpPr>
        <p:spPr>
          <a:xfrm>
            <a:off x="3657600" y="3611880"/>
            <a:ext cx="1417320" cy="457200"/>
          </a:xfrm>
          <a:prstGeom prst="rect">
            <a:avLst/>
          </a:prstGeom>
          <a:noFill/>
          <a:ln/>
        </p:spPr>
        <p:txBody>
          <a:bodyPr wrap="square" lIns="0" tIns="0" rIns="0" bIns="0" rtlCol="0" anchor="t"/>
          <a:lstStyle/>
          <a:p>
            <a:pPr indent="0" marL="0">
              <a:buNone/>
            </a:pPr>
            <a:r>
              <a:rPr lang="en-US" sz="1200" b="1" dirty="0">
                <a:solidFill>
                  <a:schemeClr val="accent2"/>
                </a:solidFill>
              </a:rPr>
              <a:t>span of the feasible spots</a:t>
            </a:r>
            <a:endParaRPr lang="en-US" sz="1200" dirty="0"/>
          </a:p>
        </p:txBody>
      </p:sp>
      <p:sp>
        <p:nvSpPr>
          <p:cNvPr id="16" name="Diagram caption"/>
          <p:cNvSpPr txBox="1"/>
          <p:nvPr/>
        </p:nvSpPr>
        <p:spPr>
          <a:xfrm>
            <a:off x="640080" y="1371600"/>
            <a:ext cx="2286000" cy="228600"/>
          </a:xfrm>
          <a:prstGeom prst="rect">
            <a:avLst/>
          </a:prstGeom>
          <a:noFill/>
          <a:ln/>
        </p:spPr>
        <p:txBody>
          <a:bodyPr wrap="square" lIns="0" tIns="0" rIns="0" bIns="0" rtlCol="0" anchor="ctr"/>
          <a:lstStyle/>
          <a:p>
            <a:pPr indent="0" marL="0">
              <a:buNone/>
            </a:pPr>
            <a:r>
              <a:rPr lang="en-US" sz="1100" dirty="0">
                <a:solidFill>
                  <a:schemeClr val="accent5"/>
                </a:solidFill>
              </a:rPr>
              <a:t>2-D picture of the idea</a:t>
            </a:r>
            <a:endParaRPr lang="en-US" sz="1100" dirty="0"/>
          </a:p>
        </p:txBody>
      </p:sp>
      <p:sp>
        <p:nvSpPr>
          <p:cNvPr id="17" name="Point circle 1"/>
          <p:cNvSpPr/>
          <p:nvPr/>
        </p:nvSpPr>
        <p:spPr>
          <a:xfrm>
            <a:off x="5440680" y="1325880"/>
            <a:ext cx="365760" cy="365760"/>
          </a:xfrm>
          <a:prstGeom prst="ellipse">
            <a:avLst/>
          </a:prstGeom>
          <a:solidFill>
            <a:schemeClr val="accent1"/>
          </a:solidFill>
          <a:ln/>
        </p:spPr>
      </p:sp>
      <p:sp>
        <p:nvSpPr>
          <p:cNvPr id="18" name="Point number 1"/>
          <p:cNvSpPr txBox="1"/>
          <p:nvPr/>
        </p:nvSpPr>
        <p:spPr>
          <a:xfrm>
            <a:off x="5440680" y="1325880"/>
            <a:ext cx="365760" cy="36576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19" name="Point text 1"/>
          <p:cNvSpPr txBox="1"/>
          <p:nvPr/>
        </p:nvSpPr>
        <p:spPr>
          <a:xfrm>
            <a:off x="5943600" y="1280160"/>
            <a:ext cx="2743200" cy="777240"/>
          </a:xfrm>
          <a:prstGeom prst="rect">
            <a:avLst/>
          </a:prstGeom>
          <a:noFill/>
          <a:ln/>
        </p:spPr>
        <p:txBody>
          <a:bodyPr wrap="square" lIns="0" tIns="0" rIns="0" bIns="0" rtlCol="0" anchor="t"/>
          <a:lstStyle/>
          <a:p>
            <a:pPr indent="0" marL="0">
              <a:buNone/>
            </a:pPr>
            <a:r>
              <a:rPr lang="en-US" sz="1400" i="1" dirty="0">
                <a:solidFill>
                  <a:schemeClr val="tx1"/>
                </a:solidFill>
                <a:latin typeface="Cambria" pitchFamily="34" charset="0"/>
                <a:ea typeface="Cambria" pitchFamily="34" charset="-122"/>
                <a:cs typeface="Cambria" pitchFamily="34" charset="-120"/>
              </a:rPr>
              <a:t>v</a:t>
            </a:r>
            <a:pPr indent="0" marL="0">
              <a:buNone/>
            </a:pPr>
            <a:r>
              <a:rPr lang="en-US" sz="1400" dirty="0">
                <a:solidFill>
                  <a:schemeClr val="tx1"/>
                </a:solidFill>
                <a:latin typeface="Cambria" pitchFamily="34" charset="0"/>
                <a:ea typeface="Cambria" pitchFamily="34" charset="-122"/>
                <a:cs typeface="Cambria" pitchFamily="34" charset="-120"/>
              </a:rPr>
              <a:t> is the vehicle's perfect request. No real spot matches it exactly.</a:t>
            </a:r>
            <a:endParaRPr lang="en-US" sz="1400" dirty="0"/>
          </a:p>
        </p:txBody>
      </p:sp>
      <p:sp>
        <p:nvSpPr>
          <p:cNvPr id="20" name="Point circle 2"/>
          <p:cNvSpPr/>
          <p:nvPr/>
        </p:nvSpPr>
        <p:spPr>
          <a:xfrm>
            <a:off x="5440680" y="2194560"/>
            <a:ext cx="365760" cy="365760"/>
          </a:xfrm>
          <a:prstGeom prst="ellipse">
            <a:avLst/>
          </a:prstGeom>
          <a:solidFill>
            <a:schemeClr val="accent1"/>
          </a:solidFill>
          <a:ln/>
        </p:spPr>
      </p:sp>
      <p:sp>
        <p:nvSpPr>
          <p:cNvPr id="21" name="Point number 2"/>
          <p:cNvSpPr txBox="1"/>
          <p:nvPr/>
        </p:nvSpPr>
        <p:spPr>
          <a:xfrm>
            <a:off x="5440680" y="2194560"/>
            <a:ext cx="365760" cy="36576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22" name="Point text 2"/>
          <p:cNvSpPr txBox="1"/>
          <p:nvPr/>
        </p:nvSpPr>
        <p:spPr>
          <a:xfrm>
            <a:off x="5943600" y="2148840"/>
            <a:ext cx="2743200" cy="777240"/>
          </a:xfrm>
          <a:prstGeom prst="rect">
            <a:avLst/>
          </a:prstGeom>
          <a:noFill/>
          <a:ln/>
        </p:spPr>
        <p:txBody>
          <a:bodyPr wrap="square" lIns="0" tIns="0" rIns="0" bIns="0" rtlCol="0" anchor="t"/>
          <a:lstStyle/>
          <a:p>
            <a:pPr indent="0" marL="0">
              <a:buNone/>
            </a:pPr>
            <a:r>
              <a:rPr lang="en-US" sz="1400" dirty="0">
                <a:solidFill>
                  <a:schemeClr val="tx1"/>
                </a:solidFill>
                <a:latin typeface="Cambria" pitchFamily="34" charset="0"/>
                <a:ea typeface="Cambria" pitchFamily="34" charset="-122"/>
                <a:cs typeface="Cambria" pitchFamily="34" charset="-120"/>
              </a:rPr>
              <a:t>Projection finds the nearest point </a:t>
            </a:r>
            <a:pPr indent="0" marL="0">
              <a:buNone/>
            </a:pPr>
            <a:r>
              <a:rPr lang="en-US" sz="1400" i="1" dirty="0">
                <a:solidFill>
                  <a:schemeClr val="tx1"/>
                </a:solidFill>
                <a:latin typeface="Cambria" pitchFamily="34" charset="0"/>
                <a:ea typeface="Cambria" pitchFamily="34" charset="-122"/>
                <a:cs typeface="Cambria" pitchFamily="34" charset="-120"/>
              </a:rPr>
              <a:t>v̂</a:t>
            </a:r>
            <a:pPr indent="0" marL="0">
              <a:buNone/>
            </a:pPr>
            <a:r>
              <a:rPr lang="en-US" sz="1400" dirty="0">
                <a:solidFill>
                  <a:schemeClr val="tx1"/>
                </a:solidFill>
                <a:latin typeface="Cambria" pitchFamily="34" charset="0"/>
                <a:ea typeface="Cambria" pitchFamily="34" charset="-122"/>
                <a:cs typeface="Cambria" pitchFamily="34" charset="-120"/>
              </a:rPr>
              <a:t> that the real spots can build.</a:t>
            </a:r>
            <a:endParaRPr lang="en-US" sz="1400" dirty="0"/>
          </a:p>
        </p:txBody>
      </p:sp>
      <p:sp>
        <p:nvSpPr>
          <p:cNvPr id="23" name="Point circle 3"/>
          <p:cNvSpPr/>
          <p:nvPr/>
        </p:nvSpPr>
        <p:spPr>
          <a:xfrm>
            <a:off x="5440680" y="3063240"/>
            <a:ext cx="365760" cy="365760"/>
          </a:xfrm>
          <a:prstGeom prst="ellipse">
            <a:avLst/>
          </a:prstGeom>
          <a:solidFill>
            <a:schemeClr val="accent1"/>
          </a:solidFill>
          <a:ln/>
        </p:spPr>
      </p:sp>
      <p:sp>
        <p:nvSpPr>
          <p:cNvPr id="24" name="Point number 3"/>
          <p:cNvSpPr txBox="1"/>
          <p:nvPr/>
        </p:nvSpPr>
        <p:spPr>
          <a:xfrm>
            <a:off x="5440680" y="3063240"/>
            <a:ext cx="365760" cy="36576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25" name="Point text 3"/>
          <p:cNvSpPr txBox="1"/>
          <p:nvPr/>
        </p:nvSpPr>
        <p:spPr>
          <a:xfrm>
            <a:off x="5943600" y="3017520"/>
            <a:ext cx="2743200" cy="777240"/>
          </a:xfrm>
          <a:prstGeom prst="rect">
            <a:avLst/>
          </a:prstGeom>
          <a:noFill/>
          <a:ln/>
        </p:spPr>
        <p:txBody>
          <a:bodyPr wrap="square" lIns="0" tIns="0" rIns="0" bIns="0" rtlCol="0" anchor="t"/>
          <a:lstStyle/>
          <a:p>
            <a:pPr indent="0" marL="0">
              <a:buNone/>
            </a:pPr>
            <a:r>
              <a:rPr lang="en-US" sz="1400" dirty="0">
                <a:solidFill>
                  <a:schemeClr val="tx1"/>
                </a:solidFill>
                <a:latin typeface="Cambria" pitchFamily="34" charset="0"/>
                <a:ea typeface="Cambria" pitchFamily="34" charset="-122"/>
                <a:cs typeface="Cambria" pitchFamily="34" charset="-120"/>
              </a:rPr>
              <a:t>The gap </a:t>
            </a:r>
            <a:pPr indent="0" marL="0">
              <a:buNone/>
            </a:pPr>
            <a:r>
              <a:rPr lang="en-US" sz="1400" i="1" dirty="0">
                <a:solidFill>
                  <a:schemeClr val="tx1"/>
                </a:solidFill>
                <a:latin typeface="Cambria" pitchFamily="34" charset="0"/>
                <a:ea typeface="Cambria" pitchFamily="34" charset="-122"/>
                <a:cs typeface="Cambria" pitchFamily="34" charset="-120"/>
              </a:rPr>
              <a:t>r</a:t>
            </a:r>
            <a:pPr indent="0" marL="0">
              <a:buNone/>
            </a:pPr>
            <a:r>
              <a:rPr lang="en-US" sz="1400" dirty="0">
                <a:solidFill>
                  <a:schemeClr val="tx1"/>
                </a:solidFill>
                <a:latin typeface="Cambria" pitchFamily="34" charset="0"/>
                <a:ea typeface="Cambria" pitchFamily="34" charset="-122"/>
                <a:cs typeface="Cambria" pitchFamily="34" charset="-120"/>
              </a:rPr>
              <a:t> meets the spots at 90°, so </a:t>
            </a:r>
            <a:pPr indent="0" marL="0">
              <a:buNone/>
            </a:pPr>
            <a:r>
              <a:rPr lang="en-US" sz="1400" i="1" dirty="0">
                <a:solidFill>
                  <a:schemeClr val="tx1"/>
                </a:solidFill>
                <a:latin typeface="Cambria" pitchFamily="34" charset="0"/>
                <a:ea typeface="Cambria" pitchFamily="34" charset="-122"/>
                <a:cs typeface="Cambria" pitchFamily="34" charset="-120"/>
              </a:rPr>
              <a:t>v̂</a:t>
            </a:r>
            <a:pPr indent="0" marL="0">
              <a:buNone/>
            </a:pPr>
            <a:r>
              <a:rPr lang="en-US" sz="1400" dirty="0">
                <a:solidFill>
                  <a:schemeClr val="tx1"/>
                </a:solidFill>
                <a:latin typeface="Cambria" pitchFamily="34" charset="0"/>
                <a:ea typeface="Cambria" pitchFamily="34" charset="-122"/>
                <a:cs typeface="Cambria" pitchFamily="34" charset="-120"/>
              </a:rPr>
              <a:t> is the closest possible.</a:t>
            </a:r>
            <a:endParaRPr lang="en-US" sz="1400" dirty="0"/>
          </a:p>
        </p:txBody>
      </p:sp>
      <p:sp>
        <p:nvSpPr>
          <p:cNvPr id="26" name="One-spot formula card"/>
          <p:cNvSpPr/>
          <p:nvPr/>
        </p:nvSpPr>
        <p:spPr>
          <a:xfrm>
            <a:off x="5440680" y="3931920"/>
            <a:ext cx="3246120" cy="777240"/>
          </a:xfrm>
          <a:prstGeom prst="roundRect">
            <a:avLst>
              <a:gd name="adj" fmla="val 11765"/>
            </a:avLst>
          </a:prstGeom>
          <a:solidFill>
            <a:schemeClr val="tx1"/>
          </a:solidFill>
          <a:ln/>
          <a:effectLst>
            <a:outerShdw sx="100000" sy="100000" kx="0" ky="0" algn="bl" rotWithShape="0" blurRad="76200" dist="25400" dir="5400000">
              <a:srgbClr val="000000">
                <a:alpha val="12000"/>
              </a:srgbClr>
            </a:outerShdw>
          </a:effectLst>
        </p:spPr>
      </p:sp>
      <p:sp>
        <p:nvSpPr>
          <p:cNvPr id="27" name="One-spot formula"/>
          <p:cNvSpPr txBox="1"/>
          <p:nvPr/>
        </p:nvSpPr>
        <p:spPr>
          <a:xfrm>
            <a:off x="5440680" y="3931920"/>
            <a:ext cx="3246120" cy="502920"/>
          </a:xfrm>
          <a:prstGeom prst="rect">
            <a:avLst/>
          </a:prstGeom>
          <a:noFill/>
          <a:ln/>
        </p:spPr>
        <p:txBody>
          <a:bodyPr wrap="square" lIns="0" tIns="0" rIns="0" bIns="0" rtlCol="0" anchor="ctr"/>
          <a:lstStyle/>
          <a:p>
            <a:pPr algn="ctr" indent="0" marL="0">
              <a:buNone/>
            </a:pPr>
            <a:r>
              <a:rPr lang="en-US" sz="1800" i="1" dirty="0">
                <a:solidFill>
                  <a:schemeClr val="accent1"/>
                </a:solidFill>
                <a:latin typeface="Cambria" pitchFamily="34" charset="0"/>
                <a:ea typeface="Cambria" pitchFamily="34" charset="-122"/>
                <a:cs typeface="Cambria" pitchFamily="34" charset="-120"/>
              </a:rPr>
              <a:t>v̂</a:t>
            </a:r>
            <a:pPr algn="ctr" indent="0" marL="0">
              <a:buNone/>
            </a:pPr>
            <a:r>
              <a:rPr lang="en-US" sz="1800" dirty="0">
                <a:solidFill>
                  <a:schemeClr val="bg1"/>
                </a:solidFill>
                <a:latin typeface="Cambria" pitchFamily="34" charset="0"/>
                <a:ea typeface="Cambria" pitchFamily="34" charset="-122"/>
                <a:cs typeface="Cambria" pitchFamily="34" charset="-120"/>
              </a:rPr>
              <a:t>  =  ( </a:t>
            </a:r>
            <a:pPr algn="ctr" indent="0" marL="0">
              <a:buNone/>
            </a:pPr>
            <a:r>
              <a:rPr lang="en-US" sz="1800" i="1" dirty="0">
                <a:solidFill>
                  <a:schemeClr val="bg1"/>
                </a:solidFill>
                <a:latin typeface="Cambria" pitchFamily="34" charset="0"/>
                <a:ea typeface="Cambria" pitchFamily="34" charset="-122"/>
                <a:cs typeface="Cambria" pitchFamily="34" charset="-120"/>
              </a:rPr>
              <a:t>x</a:t>
            </a:r>
            <a:pPr algn="ctr" indent="0" marL="0">
              <a:buNone/>
            </a:pPr>
            <a:r>
              <a:rPr lang="en-US" sz="1800" dirty="0">
                <a:solidFill>
                  <a:schemeClr val="bg1"/>
                </a:solidFill>
                <a:latin typeface="Cambria" pitchFamily="34" charset="0"/>
                <a:ea typeface="Cambria" pitchFamily="34" charset="-122"/>
                <a:cs typeface="Cambria" pitchFamily="34" charset="-120"/>
              </a:rPr>
              <a:t>·</a:t>
            </a:r>
            <a:pPr algn="ctr" indent="0" marL="0">
              <a:buNone/>
            </a:pPr>
            <a:r>
              <a:rPr lang="en-US" sz="1800" i="1" dirty="0">
                <a:solidFill>
                  <a:schemeClr val="bg1"/>
                </a:solidFill>
                <a:latin typeface="Cambria" pitchFamily="34" charset="0"/>
                <a:ea typeface="Cambria" pitchFamily="34" charset="-122"/>
                <a:cs typeface="Cambria" pitchFamily="34" charset="-120"/>
              </a:rPr>
              <a:t>v</a:t>
            </a:r>
            <a:pPr algn="ctr" indent="0" marL="0">
              <a:buNone/>
            </a:pPr>
            <a:r>
              <a:rPr lang="en-US" sz="1800" dirty="0">
                <a:solidFill>
                  <a:schemeClr val="bg1"/>
                </a:solidFill>
                <a:latin typeface="Cambria" pitchFamily="34" charset="0"/>
                <a:ea typeface="Cambria" pitchFamily="34" charset="-122"/>
                <a:cs typeface="Cambria" pitchFamily="34" charset="-120"/>
              </a:rPr>
              <a:t>  /  </a:t>
            </a:r>
            <a:pPr algn="ctr" indent="0" marL="0">
              <a:buNone/>
            </a:pPr>
            <a:r>
              <a:rPr lang="en-US" sz="1800" i="1" dirty="0">
                <a:solidFill>
                  <a:schemeClr val="bg1"/>
                </a:solidFill>
                <a:latin typeface="Cambria" pitchFamily="34" charset="0"/>
                <a:ea typeface="Cambria" pitchFamily="34" charset="-122"/>
                <a:cs typeface="Cambria" pitchFamily="34" charset="-120"/>
              </a:rPr>
              <a:t>x</a:t>
            </a:r>
            <a:pPr algn="ctr" indent="0" marL="0">
              <a:buNone/>
            </a:pPr>
            <a:r>
              <a:rPr lang="en-US" sz="1800" dirty="0">
                <a:solidFill>
                  <a:schemeClr val="bg1"/>
                </a:solidFill>
                <a:latin typeface="Cambria" pitchFamily="34" charset="0"/>
                <a:ea typeface="Cambria" pitchFamily="34" charset="-122"/>
                <a:cs typeface="Cambria" pitchFamily="34" charset="-120"/>
              </a:rPr>
              <a:t>·</a:t>
            </a:r>
            <a:pPr algn="ctr" indent="0" marL="0">
              <a:buNone/>
            </a:pPr>
            <a:r>
              <a:rPr lang="en-US" sz="1800" i="1" dirty="0">
                <a:solidFill>
                  <a:schemeClr val="bg1"/>
                </a:solidFill>
                <a:latin typeface="Cambria" pitchFamily="34" charset="0"/>
                <a:ea typeface="Cambria" pitchFamily="34" charset="-122"/>
                <a:cs typeface="Cambria" pitchFamily="34" charset="-120"/>
              </a:rPr>
              <a:t>x</a:t>
            </a:r>
            <a:pPr algn="ctr" indent="0" marL="0">
              <a:buNone/>
            </a:pPr>
            <a:r>
              <a:rPr lang="en-US" sz="1800" dirty="0">
                <a:solidFill>
                  <a:schemeClr val="bg1"/>
                </a:solidFill>
                <a:latin typeface="Cambria" pitchFamily="34" charset="0"/>
                <a:ea typeface="Cambria" pitchFamily="34" charset="-122"/>
                <a:cs typeface="Cambria" pitchFamily="34" charset="-120"/>
              </a:rPr>
              <a:t> )  </a:t>
            </a:r>
            <a:pPr algn="ctr" indent="0" marL="0">
              <a:buNone/>
            </a:pPr>
            <a:r>
              <a:rPr lang="en-US" sz="1800" i="1" dirty="0">
                <a:solidFill>
                  <a:schemeClr val="bg1"/>
                </a:solidFill>
                <a:latin typeface="Cambria" pitchFamily="34" charset="0"/>
                <a:ea typeface="Cambria" pitchFamily="34" charset="-122"/>
                <a:cs typeface="Cambria" pitchFamily="34" charset="-120"/>
              </a:rPr>
              <a:t>x</a:t>
            </a:r>
            <a:endParaRPr lang="en-US" sz="1800" dirty="0"/>
          </a:p>
        </p:txBody>
      </p:sp>
      <p:sp>
        <p:nvSpPr>
          <p:cNvPr id="28" name="One-spot caption"/>
          <p:cNvSpPr txBox="1"/>
          <p:nvPr/>
        </p:nvSpPr>
        <p:spPr>
          <a:xfrm>
            <a:off x="5440680" y="4407408"/>
            <a:ext cx="3246120" cy="228600"/>
          </a:xfrm>
          <a:prstGeom prst="rect">
            <a:avLst/>
          </a:prstGeom>
          <a:noFill/>
          <a:ln/>
        </p:spPr>
        <p:txBody>
          <a:bodyPr wrap="square" lIns="0" tIns="0" rIns="0" bIns="0" rtlCol="0" anchor="ctr"/>
          <a:lstStyle/>
          <a:p>
            <a:pPr algn="ctr" indent="0" marL="0">
              <a:buNone/>
            </a:pPr>
            <a:r>
              <a:rPr lang="en-US" sz="1200" dirty="0">
                <a:solidFill>
                  <a:schemeClr val="bg2"/>
                </a:solidFill>
              </a:rPr>
              <a:t>projection onto a single spot x</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badge"/>
          <p:cNvSpPr txBox="1"/>
          <p:nvPr/>
        </p:nvSpPr>
        <p:spPr>
          <a:xfrm>
            <a:off x="457200" y="228600"/>
            <a:ext cx="2276856" cy="256032"/>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dirty="0">
                <a:solidFill>
                  <a:schemeClr val="tx1"/>
                </a:solidFill>
              </a:rPr>
              <a:t>STEP 3  ·  THE FORMULA</a:t>
            </a:r>
            <a:endParaRPr lang="en-US" sz="1000" dirty="0"/>
          </a:p>
        </p:txBody>
      </p:sp>
      <p:sp>
        <p:nvSpPr>
          <p:cNvPr id="3" name="Text 0"/>
          <p:cNvSpPr/>
          <p:nvPr>
            <p:ph idx="100"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The projection formula</a:t>
            </a:r>
            <a:endParaRPr lang="en-US" sz="3200" dirty="0"/>
          </a:p>
        </p:txBody>
      </p:sp>
      <p:sp>
        <p:nvSpPr>
          <p:cNvPr id="4" name="Formula banner"/>
          <p:cNvSpPr/>
          <p:nvPr/>
        </p:nvSpPr>
        <p:spPr>
          <a:xfrm>
            <a:off x="457200" y="1280160"/>
            <a:ext cx="8229600" cy="1143000"/>
          </a:xfrm>
          <a:prstGeom prst="roundRect">
            <a:avLst>
              <a:gd name="adj" fmla="val 8000"/>
            </a:avLst>
          </a:prstGeom>
          <a:solidFill>
            <a:schemeClr val="tx1"/>
          </a:solidFill>
          <a:ln/>
          <a:effectLst>
            <a:outerShdw sx="100000" sy="100000" kx="0" ky="0" algn="bl" rotWithShape="0" blurRad="76200" dist="25400" dir="5400000">
              <a:srgbClr val="000000">
                <a:alpha val="12000"/>
              </a:srgbClr>
            </a:outerShdw>
          </a:effectLst>
        </p:spPr>
      </p:sp>
      <p:sp>
        <p:nvSpPr>
          <p:cNvPr id="5" name="Formula P"/>
          <p:cNvSpPr txBox="1"/>
          <p:nvPr/>
        </p:nvSpPr>
        <p:spPr>
          <a:xfrm>
            <a:off x="731520" y="1325880"/>
            <a:ext cx="4206240" cy="1051560"/>
          </a:xfrm>
          <a:prstGeom prst="rect">
            <a:avLst/>
          </a:prstGeom>
          <a:noFill/>
          <a:ln/>
        </p:spPr>
        <p:txBody>
          <a:bodyPr wrap="square" lIns="0" tIns="0" rIns="0" bIns="0" rtlCol="0" anchor="ctr"/>
          <a:lstStyle/>
          <a:p>
            <a:pPr indent="0" marL="0">
              <a:buNone/>
            </a:pPr>
            <a:r>
              <a:rPr lang="en-US" sz="3000" i="1" dirty="0">
                <a:solidFill>
                  <a:schemeClr val="bg1"/>
                </a:solidFill>
                <a:latin typeface="Cambria" pitchFamily="34" charset="0"/>
                <a:ea typeface="Cambria" pitchFamily="34" charset="-122"/>
                <a:cs typeface="Cambria" pitchFamily="34" charset="-120"/>
              </a:rPr>
              <a:t>P</a:t>
            </a:r>
            <a:pPr indent="0" marL="0">
              <a:buNone/>
            </a:pPr>
            <a:r>
              <a:rPr lang="en-US" sz="3000" dirty="0">
                <a:solidFill>
                  <a:schemeClr val="bg1"/>
                </a:solidFill>
                <a:latin typeface="Cambria" pitchFamily="34" charset="0"/>
                <a:ea typeface="Cambria" pitchFamily="34" charset="-122"/>
                <a:cs typeface="Cambria" pitchFamily="34" charset="-120"/>
              </a:rPr>
              <a:t>  =  </a:t>
            </a:r>
            <a:pPr indent="0" marL="0">
              <a:buNone/>
            </a:pPr>
            <a:r>
              <a:rPr lang="en-US" sz="3000" i="1" dirty="0">
                <a:solidFill>
                  <a:schemeClr val="bg1"/>
                </a:solidFill>
                <a:latin typeface="Cambria" pitchFamily="34" charset="0"/>
                <a:ea typeface="Cambria" pitchFamily="34" charset="-122"/>
                <a:cs typeface="Cambria" pitchFamily="34" charset="-120"/>
              </a:rPr>
              <a:t>X</a:t>
            </a:r>
            <a:pPr indent="0" marL="0">
              <a:buNone/>
            </a:pPr>
            <a:r>
              <a:rPr lang="en-US" sz="3000" baseline="30000" dirty="0">
                <a:solidFill>
                  <a:schemeClr val="bg1"/>
                </a:solidFill>
                <a:latin typeface="Cambria" pitchFamily="34" charset="0"/>
                <a:ea typeface="Cambria" pitchFamily="34" charset="-122"/>
                <a:cs typeface="Cambria" pitchFamily="34" charset="-120"/>
              </a:rPr>
              <a:t>T</a:t>
            </a:r>
            <a:pPr indent="0" marL="0">
              <a:buNone/>
            </a:pPr>
            <a:r>
              <a:rPr lang="en-US" sz="3000" dirty="0">
                <a:solidFill>
                  <a:schemeClr val="bg1"/>
                </a:solidFill>
                <a:latin typeface="Cambria" pitchFamily="34" charset="0"/>
                <a:ea typeface="Cambria" pitchFamily="34" charset="-122"/>
                <a:cs typeface="Cambria" pitchFamily="34" charset="-120"/>
              </a:rPr>
              <a:t> ( </a:t>
            </a:r>
            <a:pPr indent="0" marL="0">
              <a:buNone/>
            </a:pPr>
            <a:r>
              <a:rPr lang="en-US" sz="3000" i="1" dirty="0">
                <a:solidFill>
                  <a:schemeClr val="bg1"/>
                </a:solidFill>
                <a:latin typeface="Cambria" pitchFamily="34" charset="0"/>
                <a:ea typeface="Cambria" pitchFamily="34" charset="-122"/>
                <a:cs typeface="Cambria" pitchFamily="34" charset="-120"/>
              </a:rPr>
              <a:t>X</a:t>
            </a:r>
            <a:pPr indent="0" marL="0">
              <a:buNone/>
            </a:pPr>
            <a:r>
              <a:rPr lang="en-US" sz="3000" i="1" dirty="0">
                <a:solidFill>
                  <a:schemeClr val="bg1"/>
                </a:solidFill>
                <a:latin typeface="Cambria" pitchFamily="34" charset="0"/>
                <a:ea typeface="Cambria" pitchFamily="34" charset="-122"/>
                <a:cs typeface="Cambria" pitchFamily="34" charset="-120"/>
              </a:rPr>
              <a:t>X</a:t>
            </a:r>
            <a:pPr indent="0" marL="0">
              <a:buNone/>
            </a:pPr>
            <a:r>
              <a:rPr lang="en-US" sz="3000" baseline="30000" dirty="0">
                <a:solidFill>
                  <a:schemeClr val="bg1"/>
                </a:solidFill>
                <a:latin typeface="Cambria" pitchFamily="34" charset="0"/>
                <a:ea typeface="Cambria" pitchFamily="34" charset="-122"/>
                <a:cs typeface="Cambria" pitchFamily="34" charset="-120"/>
              </a:rPr>
              <a:t>T</a:t>
            </a:r>
            <a:pPr indent="0" marL="0">
              <a:buNone/>
            </a:pPr>
            <a:r>
              <a:rPr lang="en-US" sz="3000" dirty="0">
                <a:solidFill>
                  <a:schemeClr val="bg1"/>
                </a:solidFill>
                <a:latin typeface="Cambria" pitchFamily="34" charset="0"/>
                <a:ea typeface="Cambria" pitchFamily="34" charset="-122"/>
                <a:cs typeface="Cambria" pitchFamily="34" charset="-120"/>
              </a:rPr>
              <a:t> )</a:t>
            </a:r>
            <a:pPr indent="0" marL="0">
              <a:buNone/>
            </a:pPr>
            <a:r>
              <a:rPr lang="en-US" sz="3000" baseline="30000" dirty="0">
                <a:solidFill>
                  <a:schemeClr val="bg1"/>
                </a:solidFill>
                <a:latin typeface="Cambria" pitchFamily="34" charset="0"/>
                <a:ea typeface="Cambria" pitchFamily="34" charset="-122"/>
                <a:cs typeface="Cambria" pitchFamily="34" charset="-120"/>
              </a:rPr>
              <a:t>+</a:t>
            </a:r>
            <a:pPr indent="0" marL="0">
              <a:buNone/>
            </a:pPr>
            <a:r>
              <a:rPr lang="en-US" sz="3000" i="1" dirty="0">
                <a:solidFill>
                  <a:schemeClr val="bg1"/>
                </a:solidFill>
                <a:latin typeface="Cambria" pitchFamily="34" charset="0"/>
                <a:ea typeface="Cambria" pitchFamily="34" charset="-122"/>
                <a:cs typeface="Cambria" pitchFamily="34" charset="-120"/>
              </a:rPr>
              <a:t>X</a:t>
            </a:r>
            <a:endParaRPr lang="en-US" sz="3000" dirty="0"/>
          </a:p>
        </p:txBody>
      </p:sp>
      <p:sp>
        <p:nvSpPr>
          <p:cNvPr id="6" name="Formula then"/>
          <p:cNvSpPr txBox="1"/>
          <p:nvPr/>
        </p:nvSpPr>
        <p:spPr>
          <a:xfrm>
            <a:off x="4892040" y="1325880"/>
            <a:ext cx="640080" cy="1051560"/>
          </a:xfrm>
          <a:prstGeom prst="rect">
            <a:avLst/>
          </a:prstGeom>
          <a:noFill/>
          <a:ln/>
        </p:spPr>
        <p:txBody>
          <a:bodyPr wrap="square" lIns="0" tIns="0" rIns="0" bIns="0" rtlCol="0" anchor="ctr"/>
          <a:lstStyle/>
          <a:p>
            <a:pPr algn="ctr" indent="0" marL="0">
              <a:buNone/>
            </a:pPr>
            <a:r>
              <a:rPr lang="en-US" sz="1400" i="1" dirty="0">
                <a:solidFill>
                  <a:schemeClr val="bg2"/>
                </a:solidFill>
              </a:rPr>
              <a:t>then</a:t>
            </a:r>
            <a:endParaRPr lang="en-US" sz="1400" dirty="0"/>
          </a:p>
        </p:txBody>
      </p:sp>
      <p:sp>
        <p:nvSpPr>
          <p:cNvPr id="7" name="Formula v hat"/>
          <p:cNvSpPr txBox="1"/>
          <p:nvPr/>
        </p:nvSpPr>
        <p:spPr>
          <a:xfrm>
            <a:off x="5577840" y="1325880"/>
            <a:ext cx="2926080" cy="1051560"/>
          </a:xfrm>
          <a:prstGeom prst="rect">
            <a:avLst/>
          </a:prstGeom>
          <a:noFill/>
          <a:ln/>
        </p:spPr>
        <p:txBody>
          <a:bodyPr wrap="square" lIns="0" tIns="0" rIns="0" bIns="0" rtlCol="0" anchor="ctr"/>
          <a:lstStyle/>
          <a:p>
            <a:pPr indent="0" marL="0">
              <a:buNone/>
            </a:pPr>
            <a:r>
              <a:rPr lang="en-US" sz="3000" i="1" dirty="0">
                <a:solidFill>
                  <a:schemeClr val="accent1"/>
                </a:solidFill>
                <a:latin typeface="Cambria" pitchFamily="34" charset="0"/>
                <a:ea typeface="Cambria" pitchFamily="34" charset="-122"/>
                <a:cs typeface="Cambria" pitchFamily="34" charset="-120"/>
              </a:rPr>
              <a:t>v̂</a:t>
            </a:r>
            <a:pPr indent="0" marL="0">
              <a:buNone/>
            </a:pPr>
            <a:r>
              <a:rPr lang="en-US" sz="3000" dirty="0">
                <a:solidFill>
                  <a:schemeClr val="bg1"/>
                </a:solidFill>
                <a:latin typeface="Cambria" pitchFamily="34" charset="0"/>
                <a:ea typeface="Cambria" pitchFamily="34" charset="-122"/>
                <a:cs typeface="Cambria" pitchFamily="34" charset="-120"/>
              </a:rPr>
              <a:t>  =  </a:t>
            </a:r>
            <a:pPr indent="0" marL="0">
              <a:buNone/>
            </a:pPr>
            <a:r>
              <a:rPr lang="en-US" sz="3000" i="1" dirty="0">
                <a:solidFill>
                  <a:schemeClr val="bg1"/>
                </a:solidFill>
                <a:latin typeface="Cambria" pitchFamily="34" charset="0"/>
                <a:ea typeface="Cambria" pitchFamily="34" charset="-122"/>
                <a:cs typeface="Cambria" pitchFamily="34" charset="-120"/>
              </a:rPr>
              <a:t>P</a:t>
            </a:r>
            <a:pPr indent="0" marL="0">
              <a:buNone/>
            </a:pPr>
            <a:r>
              <a:rPr lang="en-US" sz="3000" i="1" dirty="0">
                <a:solidFill>
                  <a:schemeClr val="bg1"/>
                </a:solidFill>
                <a:latin typeface="Cambria" pitchFamily="34" charset="0"/>
                <a:ea typeface="Cambria" pitchFamily="34" charset="-122"/>
                <a:cs typeface="Cambria" pitchFamily="34" charset="-120"/>
              </a:rPr>
              <a:t>v</a:t>
            </a:r>
            <a:endParaRPr lang="en-US" sz="3000" dirty="0"/>
          </a:p>
        </p:txBody>
      </p:sp>
      <p:sp>
        <p:nvSpPr>
          <p:cNvPr id="8" name="Key heading"/>
          <p:cNvSpPr txBox="1"/>
          <p:nvPr/>
        </p:nvSpPr>
        <p:spPr>
          <a:xfrm>
            <a:off x="457200" y="2606040"/>
            <a:ext cx="3931920" cy="274320"/>
          </a:xfrm>
          <a:prstGeom prst="rect">
            <a:avLst/>
          </a:prstGeom>
          <a:noFill/>
          <a:ln/>
        </p:spPr>
        <p:txBody>
          <a:bodyPr wrap="square" lIns="0" tIns="0" rIns="0" bIns="0" rtlCol="0" anchor="ctr"/>
          <a:lstStyle/>
          <a:p>
            <a:pPr indent="0" marL="0">
              <a:buNone/>
            </a:pPr>
            <a:r>
              <a:rPr lang="en-US" sz="1600" b="1" dirty="0">
                <a:solidFill>
                  <a:schemeClr val="tx1"/>
                </a:solidFill>
              </a:rPr>
              <a:t>What each symbol means</a:t>
            </a:r>
            <a:endParaRPr lang="en-US" sz="1600" dirty="0"/>
          </a:p>
        </p:txBody>
      </p:sp>
      <p:sp>
        <p:nvSpPr>
          <p:cNvPr id="9" name="Key symbol 1"/>
          <p:cNvSpPr txBox="1"/>
          <p:nvPr/>
        </p:nvSpPr>
        <p:spPr>
          <a:xfrm>
            <a:off x="457200" y="2926080"/>
            <a:ext cx="457200" cy="310896"/>
          </a:xfrm>
          <a:prstGeom prst="rect">
            <a:avLst/>
          </a:prstGeom>
          <a:noFill/>
          <a:ln/>
        </p:spPr>
        <p:txBody>
          <a:bodyPr wrap="square" lIns="0" tIns="0" rIns="0" bIns="0" rtlCol="0" anchor="ctr"/>
          <a:lstStyle/>
          <a:p>
            <a:pPr algn="ctr" indent="0" marL="0">
              <a:buNone/>
            </a:pPr>
            <a:r>
              <a:rPr lang="en-US" sz="1800" b="1" i="1" dirty="0">
                <a:solidFill>
                  <a:schemeClr val="accent2"/>
                </a:solidFill>
                <a:latin typeface="Cambria" pitchFamily="34" charset="0"/>
                <a:ea typeface="Cambria" pitchFamily="34" charset="-122"/>
                <a:cs typeface="Cambria" pitchFamily="34" charset="-120"/>
              </a:rPr>
              <a:t>X</a:t>
            </a:r>
            <a:endParaRPr lang="en-US" sz="1800" dirty="0"/>
          </a:p>
        </p:txBody>
      </p:sp>
      <p:sp>
        <p:nvSpPr>
          <p:cNvPr id="10" name="Key meaning 1"/>
          <p:cNvSpPr txBox="1"/>
          <p:nvPr/>
        </p:nvSpPr>
        <p:spPr>
          <a:xfrm>
            <a:off x="1005840" y="2926080"/>
            <a:ext cx="3383280" cy="310896"/>
          </a:xfrm>
          <a:prstGeom prst="rect">
            <a:avLst/>
          </a:prstGeom>
          <a:noFill/>
          <a:ln/>
        </p:spPr>
        <p:txBody>
          <a:bodyPr wrap="square" lIns="0" tIns="0" rIns="0" bIns="0" rtlCol="0" anchor="ctr"/>
          <a:lstStyle/>
          <a:p>
            <a:pPr indent="0" marL="0">
              <a:buNone/>
            </a:pPr>
            <a:r>
              <a:rPr lang="en-US" sz="1400" dirty="0">
                <a:solidFill>
                  <a:schemeClr val="tx1"/>
                </a:solidFill>
              </a:rPr>
              <a:t>matrix of feasible spots (n × 5)</a:t>
            </a:r>
            <a:endParaRPr lang="en-US" sz="1400" dirty="0"/>
          </a:p>
        </p:txBody>
      </p:sp>
      <p:sp>
        <p:nvSpPr>
          <p:cNvPr id="11" name="Key symbol 2"/>
          <p:cNvSpPr txBox="1"/>
          <p:nvPr/>
        </p:nvSpPr>
        <p:spPr>
          <a:xfrm>
            <a:off x="457200" y="3273552"/>
            <a:ext cx="457200" cy="310896"/>
          </a:xfrm>
          <a:prstGeom prst="rect">
            <a:avLst/>
          </a:prstGeom>
          <a:noFill/>
          <a:ln/>
        </p:spPr>
        <p:txBody>
          <a:bodyPr wrap="square" lIns="0" tIns="0" rIns="0" bIns="0" rtlCol="0" anchor="ctr"/>
          <a:lstStyle/>
          <a:p>
            <a:pPr algn="ctr" indent="0" marL="0">
              <a:buNone/>
            </a:pPr>
            <a:r>
              <a:rPr lang="en-US" sz="1800" b="1" i="1" dirty="0">
                <a:solidFill>
                  <a:schemeClr val="accent2"/>
                </a:solidFill>
                <a:latin typeface="Cambria" pitchFamily="34" charset="0"/>
                <a:ea typeface="Cambria" pitchFamily="34" charset="-122"/>
                <a:cs typeface="Cambria" pitchFamily="34" charset="-120"/>
              </a:rPr>
              <a:t>v</a:t>
            </a:r>
            <a:endParaRPr lang="en-US" sz="1800" dirty="0"/>
          </a:p>
        </p:txBody>
      </p:sp>
      <p:sp>
        <p:nvSpPr>
          <p:cNvPr id="12" name="Key meaning 2"/>
          <p:cNvSpPr txBox="1"/>
          <p:nvPr/>
        </p:nvSpPr>
        <p:spPr>
          <a:xfrm>
            <a:off x="1005840" y="3273552"/>
            <a:ext cx="3383280" cy="310896"/>
          </a:xfrm>
          <a:prstGeom prst="rect">
            <a:avLst/>
          </a:prstGeom>
          <a:noFill/>
          <a:ln/>
        </p:spPr>
        <p:txBody>
          <a:bodyPr wrap="square" lIns="0" tIns="0" rIns="0" bIns="0" rtlCol="0" anchor="ctr"/>
          <a:lstStyle/>
          <a:p>
            <a:pPr indent="0" marL="0">
              <a:buNone/>
            </a:pPr>
            <a:r>
              <a:rPr lang="en-US" sz="1400" dirty="0">
                <a:solidFill>
                  <a:schemeClr val="tx1"/>
                </a:solidFill>
              </a:rPr>
              <a:t>vehicle vector</a:t>
            </a:r>
            <a:endParaRPr lang="en-US" sz="1400" dirty="0"/>
          </a:p>
        </p:txBody>
      </p:sp>
      <p:sp>
        <p:nvSpPr>
          <p:cNvPr id="13" name="Key symbol 3"/>
          <p:cNvSpPr txBox="1"/>
          <p:nvPr/>
        </p:nvSpPr>
        <p:spPr>
          <a:xfrm>
            <a:off x="457200" y="3621024"/>
            <a:ext cx="457200" cy="310896"/>
          </a:xfrm>
          <a:prstGeom prst="rect">
            <a:avLst/>
          </a:prstGeom>
          <a:noFill/>
          <a:ln/>
        </p:spPr>
        <p:txBody>
          <a:bodyPr wrap="square" lIns="0" tIns="0" rIns="0" bIns="0" rtlCol="0" anchor="ctr"/>
          <a:lstStyle/>
          <a:p>
            <a:pPr algn="ctr" indent="0" marL="0">
              <a:buNone/>
            </a:pPr>
            <a:r>
              <a:rPr lang="en-US" sz="1800" b="1" dirty="0">
                <a:solidFill>
                  <a:schemeClr val="accent2"/>
                </a:solidFill>
                <a:latin typeface="Cambria" pitchFamily="34" charset="0"/>
                <a:ea typeface="Cambria" pitchFamily="34" charset="-122"/>
                <a:cs typeface="Cambria" pitchFamily="34" charset="-120"/>
              </a:rPr>
              <a:t>+</a:t>
            </a:r>
            <a:endParaRPr lang="en-US" sz="1800" dirty="0"/>
          </a:p>
        </p:txBody>
      </p:sp>
      <p:sp>
        <p:nvSpPr>
          <p:cNvPr id="14" name="Key meaning 3"/>
          <p:cNvSpPr txBox="1"/>
          <p:nvPr/>
        </p:nvSpPr>
        <p:spPr>
          <a:xfrm>
            <a:off x="1005840" y="3621024"/>
            <a:ext cx="3383280" cy="310896"/>
          </a:xfrm>
          <a:prstGeom prst="rect">
            <a:avLst/>
          </a:prstGeom>
          <a:noFill/>
          <a:ln/>
        </p:spPr>
        <p:txBody>
          <a:bodyPr wrap="square" lIns="0" tIns="0" rIns="0" bIns="0" rtlCol="0" anchor="ctr"/>
          <a:lstStyle/>
          <a:p>
            <a:pPr indent="0" marL="0">
              <a:buNone/>
            </a:pPr>
            <a:r>
              <a:rPr lang="en-US" sz="1400" dirty="0">
                <a:solidFill>
                  <a:schemeClr val="tx1"/>
                </a:solidFill>
              </a:rPr>
              <a:t>pseudoinverse (a safe “inverse”)</a:t>
            </a:r>
            <a:endParaRPr lang="en-US" sz="1400" dirty="0"/>
          </a:p>
        </p:txBody>
      </p:sp>
      <p:sp>
        <p:nvSpPr>
          <p:cNvPr id="15" name="Key symbol 4"/>
          <p:cNvSpPr txBox="1"/>
          <p:nvPr/>
        </p:nvSpPr>
        <p:spPr>
          <a:xfrm>
            <a:off x="457200" y="3968496"/>
            <a:ext cx="457200" cy="310896"/>
          </a:xfrm>
          <a:prstGeom prst="rect">
            <a:avLst/>
          </a:prstGeom>
          <a:noFill/>
          <a:ln/>
        </p:spPr>
        <p:txBody>
          <a:bodyPr wrap="square" lIns="0" tIns="0" rIns="0" bIns="0" rtlCol="0" anchor="ctr"/>
          <a:lstStyle/>
          <a:p>
            <a:pPr algn="ctr" indent="0" marL="0">
              <a:buNone/>
            </a:pPr>
            <a:r>
              <a:rPr lang="en-US" sz="1800" b="1" i="1" dirty="0">
                <a:solidFill>
                  <a:schemeClr val="accent2"/>
                </a:solidFill>
                <a:latin typeface="Cambria" pitchFamily="34" charset="0"/>
                <a:ea typeface="Cambria" pitchFamily="34" charset="-122"/>
                <a:cs typeface="Cambria" pitchFamily="34" charset="-120"/>
              </a:rPr>
              <a:t>P</a:t>
            </a:r>
            <a:endParaRPr lang="en-US" sz="1800" dirty="0"/>
          </a:p>
        </p:txBody>
      </p:sp>
      <p:sp>
        <p:nvSpPr>
          <p:cNvPr id="16" name="Key meaning 4"/>
          <p:cNvSpPr txBox="1"/>
          <p:nvPr/>
        </p:nvSpPr>
        <p:spPr>
          <a:xfrm>
            <a:off x="1005840" y="3968496"/>
            <a:ext cx="3383280" cy="310896"/>
          </a:xfrm>
          <a:prstGeom prst="rect">
            <a:avLst/>
          </a:prstGeom>
          <a:noFill/>
          <a:ln/>
        </p:spPr>
        <p:txBody>
          <a:bodyPr wrap="square" lIns="0" tIns="0" rIns="0" bIns="0" rtlCol="0" anchor="ctr"/>
          <a:lstStyle/>
          <a:p>
            <a:pPr indent="0" marL="0">
              <a:buNone/>
            </a:pPr>
            <a:r>
              <a:rPr lang="en-US" sz="1400" dirty="0">
                <a:solidFill>
                  <a:schemeClr val="tx1"/>
                </a:solidFill>
              </a:rPr>
              <a:t>projection matrix</a:t>
            </a:r>
            <a:endParaRPr lang="en-US" sz="1400" dirty="0"/>
          </a:p>
        </p:txBody>
      </p:sp>
      <p:sp>
        <p:nvSpPr>
          <p:cNvPr id="17" name="Key symbol 5"/>
          <p:cNvSpPr txBox="1"/>
          <p:nvPr/>
        </p:nvSpPr>
        <p:spPr>
          <a:xfrm>
            <a:off x="457200" y="4315968"/>
            <a:ext cx="457200" cy="310896"/>
          </a:xfrm>
          <a:prstGeom prst="rect">
            <a:avLst/>
          </a:prstGeom>
          <a:noFill/>
          <a:ln/>
        </p:spPr>
        <p:txBody>
          <a:bodyPr wrap="square" lIns="0" tIns="0" rIns="0" bIns="0" rtlCol="0" anchor="ctr"/>
          <a:lstStyle/>
          <a:p>
            <a:pPr algn="ctr" indent="0" marL="0">
              <a:buNone/>
            </a:pPr>
            <a:r>
              <a:rPr lang="en-US" sz="1800" b="1" i="1" dirty="0">
                <a:solidFill>
                  <a:schemeClr val="accent2"/>
                </a:solidFill>
                <a:latin typeface="Cambria" pitchFamily="34" charset="0"/>
                <a:ea typeface="Cambria" pitchFamily="34" charset="-122"/>
                <a:cs typeface="Cambria" pitchFamily="34" charset="-120"/>
              </a:rPr>
              <a:t>v̂</a:t>
            </a:r>
            <a:endParaRPr lang="en-US" sz="1800" dirty="0"/>
          </a:p>
        </p:txBody>
      </p:sp>
      <p:sp>
        <p:nvSpPr>
          <p:cNvPr id="18" name="Key meaning 5"/>
          <p:cNvSpPr txBox="1"/>
          <p:nvPr/>
        </p:nvSpPr>
        <p:spPr>
          <a:xfrm>
            <a:off x="1005840" y="4315968"/>
            <a:ext cx="3383280" cy="310896"/>
          </a:xfrm>
          <a:prstGeom prst="rect">
            <a:avLst/>
          </a:prstGeom>
          <a:noFill/>
          <a:ln/>
        </p:spPr>
        <p:txBody>
          <a:bodyPr wrap="square" lIns="0" tIns="0" rIns="0" bIns="0" rtlCol="0" anchor="ctr"/>
          <a:lstStyle/>
          <a:p>
            <a:pPr indent="0" marL="0">
              <a:buNone/>
            </a:pPr>
            <a:r>
              <a:rPr lang="en-US" sz="1400" dirty="0">
                <a:solidFill>
                  <a:schemeClr val="tx1"/>
                </a:solidFill>
              </a:rPr>
              <a:t>projected (ideal) vector</a:t>
            </a:r>
            <a:endParaRPr lang="en-US" sz="1400" dirty="0"/>
          </a:p>
        </p:txBody>
      </p:sp>
      <p:sp>
        <p:nvSpPr>
          <p:cNvPr id="19" name="Facts heading"/>
          <p:cNvSpPr txBox="1"/>
          <p:nvPr/>
        </p:nvSpPr>
        <p:spPr>
          <a:xfrm>
            <a:off x="4754880" y="2606040"/>
            <a:ext cx="3931920" cy="274320"/>
          </a:xfrm>
          <a:prstGeom prst="rect">
            <a:avLst/>
          </a:prstGeom>
          <a:noFill/>
          <a:ln/>
        </p:spPr>
        <p:txBody>
          <a:bodyPr wrap="square" lIns="0" tIns="0" rIns="0" bIns="0" rtlCol="0" anchor="ctr"/>
          <a:lstStyle/>
          <a:p>
            <a:pPr indent="0" marL="0">
              <a:buNone/>
            </a:pPr>
            <a:r>
              <a:rPr lang="en-US" sz="1600" b="1" dirty="0">
                <a:solidFill>
                  <a:schemeClr val="tx1"/>
                </a:solidFill>
              </a:rPr>
              <a:t>Three facts we prove and test</a:t>
            </a:r>
            <a:endParaRPr lang="en-US" sz="1600" dirty="0"/>
          </a:p>
        </p:txBody>
      </p:sp>
      <p:sp>
        <p:nvSpPr>
          <p:cNvPr id="20" name="Fact card 1"/>
          <p:cNvSpPr/>
          <p:nvPr/>
        </p:nvSpPr>
        <p:spPr>
          <a:xfrm>
            <a:off x="4754880" y="2926080"/>
            <a:ext cx="3931920" cy="530352"/>
          </a:xfrm>
          <a:prstGeom prst="roundRect">
            <a:avLst>
              <a:gd name="adj" fmla="val 17241"/>
            </a:avLst>
          </a:prstGeom>
          <a:solidFill>
            <a:schemeClr val="bg1"/>
          </a:solidFill>
          <a:ln/>
        </p:spPr>
      </p:sp>
      <p:sp>
        <p:nvSpPr>
          <p:cNvPr id="21" name="Fact formula 1"/>
          <p:cNvSpPr txBox="1"/>
          <p:nvPr/>
        </p:nvSpPr>
        <p:spPr>
          <a:xfrm>
            <a:off x="4892040" y="2926080"/>
            <a:ext cx="1600200" cy="530352"/>
          </a:xfrm>
          <a:prstGeom prst="rect">
            <a:avLst/>
          </a:prstGeom>
          <a:noFill/>
          <a:ln/>
        </p:spPr>
        <p:txBody>
          <a:bodyPr wrap="square" lIns="0" tIns="0" rIns="0" bIns="0" rtlCol="0" anchor="ctr"/>
          <a:lstStyle/>
          <a:p>
            <a:pPr indent="0" marL="0">
              <a:buNone/>
            </a:pPr>
            <a:r>
              <a:rPr lang="en-US" sz="1700" i="1" dirty="0">
                <a:solidFill>
                  <a:schemeClr val="tx1"/>
                </a:solidFill>
                <a:latin typeface="Cambria" pitchFamily="34" charset="0"/>
                <a:ea typeface="Cambria" pitchFamily="34" charset="-122"/>
                <a:cs typeface="Cambria" pitchFamily="34" charset="-120"/>
              </a:rPr>
              <a:t>P</a:t>
            </a:r>
            <a:pPr indent="0" marL="0">
              <a:buNone/>
            </a:pPr>
            <a:r>
              <a:rPr lang="en-US" sz="1700" baseline="30000" dirty="0">
                <a:solidFill>
                  <a:schemeClr val="tx1"/>
                </a:solidFill>
                <a:latin typeface="Cambria" pitchFamily="34" charset="0"/>
                <a:ea typeface="Cambria" pitchFamily="34" charset="-122"/>
                <a:cs typeface="Cambria" pitchFamily="34" charset="-120"/>
              </a:rPr>
              <a:t>2</a:t>
            </a:r>
            <a:pPr indent="0" marL="0">
              <a:buNone/>
            </a:pPr>
            <a:r>
              <a:rPr lang="en-US" sz="1700" dirty="0">
                <a:solidFill>
                  <a:schemeClr val="tx1"/>
                </a:solidFill>
                <a:latin typeface="Cambria" pitchFamily="34" charset="0"/>
                <a:ea typeface="Cambria" pitchFamily="34" charset="-122"/>
                <a:cs typeface="Cambria" pitchFamily="34" charset="-120"/>
              </a:rPr>
              <a:t> = </a:t>
            </a:r>
            <a:pPr indent="0" marL="0">
              <a:buNone/>
            </a:pPr>
            <a:r>
              <a:rPr lang="en-US" sz="1700" i="1" dirty="0">
                <a:solidFill>
                  <a:schemeClr val="tx1"/>
                </a:solidFill>
                <a:latin typeface="Cambria" pitchFamily="34" charset="0"/>
                <a:ea typeface="Cambria" pitchFamily="34" charset="-122"/>
                <a:cs typeface="Cambria" pitchFamily="34" charset="-120"/>
              </a:rPr>
              <a:t>P</a:t>
            </a:r>
            <a:endParaRPr lang="en-US" sz="1700" dirty="0"/>
          </a:p>
        </p:txBody>
      </p:sp>
      <p:sp>
        <p:nvSpPr>
          <p:cNvPr id="22" name="Fact meaning 1"/>
          <p:cNvSpPr txBox="1"/>
          <p:nvPr/>
        </p:nvSpPr>
        <p:spPr>
          <a:xfrm>
            <a:off x="6492240" y="2926080"/>
            <a:ext cx="2103120" cy="530352"/>
          </a:xfrm>
          <a:prstGeom prst="rect">
            <a:avLst/>
          </a:prstGeom>
          <a:noFill/>
          <a:ln/>
        </p:spPr>
        <p:txBody>
          <a:bodyPr wrap="square" lIns="0" tIns="0" rIns="0" bIns="0" rtlCol="0" anchor="ctr"/>
          <a:lstStyle/>
          <a:p>
            <a:pPr indent="0" marL="0">
              <a:buNone/>
            </a:pPr>
            <a:r>
              <a:rPr lang="en-US" sz="1300" dirty="0">
                <a:solidFill>
                  <a:schemeClr val="accent5"/>
                </a:solidFill>
              </a:rPr>
              <a:t>projecting twice changes nothing</a:t>
            </a:r>
            <a:endParaRPr lang="en-US" sz="1300" dirty="0"/>
          </a:p>
        </p:txBody>
      </p:sp>
      <p:sp>
        <p:nvSpPr>
          <p:cNvPr id="23" name="Fact card 2"/>
          <p:cNvSpPr/>
          <p:nvPr/>
        </p:nvSpPr>
        <p:spPr>
          <a:xfrm>
            <a:off x="4754880" y="3538728"/>
            <a:ext cx="3931920" cy="530352"/>
          </a:xfrm>
          <a:prstGeom prst="roundRect">
            <a:avLst>
              <a:gd name="adj" fmla="val 17241"/>
            </a:avLst>
          </a:prstGeom>
          <a:solidFill>
            <a:schemeClr val="bg1"/>
          </a:solidFill>
          <a:ln/>
        </p:spPr>
      </p:sp>
      <p:sp>
        <p:nvSpPr>
          <p:cNvPr id="24" name="Fact formula 2"/>
          <p:cNvSpPr txBox="1"/>
          <p:nvPr/>
        </p:nvSpPr>
        <p:spPr>
          <a:xfrm>
            <a:off x="4892040" y="3538728"/>
            <a:ext cx="1600200" cy="530352"/>
          </a:xfrm>
          <a:prstGeom prst="rect">
            <a:avLst/>
          </a:prstGeom>
          <a:noFill/>
          <a:ln/>
        </p:spPr>
        <p:txBody>
          <a:bodyPr wrap="square" lIns="0" tIns="0" rIns="0" bIns="0" rtlCol="0" anchor="ctr"/>
          <a:lstStyle/>
          <a:p>
            <a:pPr indent="0" marL="0">
              <a:buNone/>
            </a:pPr>
            <a:r>
              <a:rPr lang="en-US" sz="1700" i="1" dirty="0">
                <a:solidFill>
                  <a:schemeClr val="tx1"/>
                </a:solidFill>
                <a:latin typeface="Cambria" pitchFamily="34" charset="0"/>
                <a:ea typeface="Cambria" pitchFamily="34" charset="-122"/>
                <a:cs typeface="Cambria" pitchFamily="34" charset="-120"/>
              </a:rPr>
              <a:t>P</a:t>
            </a:r>
            <a:pPr indent="0" marL="0">
              <a:buNone/>
            </a:pPr>
            <a:r>
              <a:rPr lang="en-US" sz="1700" baseline="30000" dirty="0">
                <a:solidFill>
                  <a:schemeClr val="tx1"/>
                </a:solidFill>
                <a:latin typeface="Cambria" pitchFamily="34" charset="0"/>
                <a:ea typeface="Cambria" pitchFamily="34" charset="-122"/>
                <a:cs typeface="Cambria" pitchFamily="34" charset="-120"/>
              </a:rPr>
              <a:t>T</a:t>
            </a:r>
            <a:pPr indent="0" marL="0">
              <a:buNone/>
            </a:pPr>
            <a:r>
              <a:rPr lang="en-US" sz="1700" dirty="0">
                <a:solidFill>
                  <a:schemeClr val="tx1"/>
                </a:solidFill>
                <a:latin typeface="Cambria" pitchFamily="34" charset="0"/>
                <a:ea typeface="Cambria" pitchFamily="34" charset="-122"/>
                <a:cs typeface="Cambria" pitchFamily="34" charset="-120"/>
              </a:rPr>
              <a:t> = </a:t>
            </a:r>
            <a:pPr indent="0" marL="0">
              <a:buNone/>
            </a:pPr>
            <a:r>
              <a:rPr lang="en-US" sz="1700" i="1" dirty="0">
                <a:solidFill>
                  <a:schemeClr val="tx1"/>
                </a:solidFill>
                <a:latin typeface="Cambria" pitchFamily="34" charset="0"/>
                <a:ea typeface="Cambria" pitchFamily="34" charset="-122"/>
                <a:cs typeface="Cambria" pitchFamily="34" charset="-120"/>
              </a:rPr>
              <a:t>P</a:t>
            </a:r>
            <a:endParaRPr lang="en-US" sz="1700" dirty="0"/>
          </a:p>
        </p:txBody>
      </p:sp>
      <p:sp>
        <p:nvSpPr>
          <p:cNvPr id="25" name="Fact meaning 2"/>
          <p:cNvSpPr txBox="1"/>
          <p:nvPr/>
        </p:nvSpPr>
        <p:spPr>
          <a:xfrm>
            <a:off x="6492240" y="3538728"/>
            <a:ext cx="2103120" cy="530352"/>
          </a:xfrm>
          <a:prstGeom prst="rect">
            <a:avLst/>
          </a:prstGeom>
          <a:noFill/>
          <a:ln/>
        </p:spPr>
        <p:txBody>
          <a:bodyPr wrap="square" lIns="0" tIns="0" rIns="0" bIns="0" rtlCol="0" anchor="ctr"/>
          <a:lstStyle/>
          <a:p>
            <a:pPr indent="0" marL="0">
              <a:buNone/>
            </a:pPr>
            <a:r>
              <a:rPr lang="en-US" sz="1300" dirty="0">
                <a:solidFill>
                  <a:schemeClr val="accent5"/>
                </a:solidFill>
              </a:rPr>
              <a:t>P is symmetric</a:t>
            </a:r>
            <a:endParaRPr lang="en-US" sz="1300" dirty="0"/>
          </a:p>
        </p:txBody>
      </p:sp>
      <p:sp>
        <p:nvSpPr>
          <p:cNvPr id="26" name="Fact card 3"/>
          <p:cNvSpPr/>
          <p:nvPr/>
        </p:nvSpPr>
        <p:spPr>
          <a:xfrm>
            <a:off x="4754880" y="4151376"/>
            <a:ext cx="3931920" cy="530352"/>
          </a:xfrm>
          <a:prstGeom prst="roundRect">
            <a:avLst>
              <a:gd name="adj" fmla="val 17241"/>
            </a:avLst>
          </a:prstGeom>
          <a:solidFill>
            <a:schemeClr val="bg1"/>
          </a:solidFill>
          <a:ln/>
        </p:spPr>
      </p:sp>
      <p:sp>
        <p:nvSpPr>
          <p:cNvPr id="27" name="Fact formula 3"/>
          <p:cNvSpPr txBox="1"/>
          <p:nvPr/>
        </p:nvSpPr>
        <p:spPr>
          <a:xfrm>
            <a:off x="4892040" y="4151376"/>
            <a:ext cx="1600200" cy="530352"/>
          </a:xfrm>
          <a:prstGeom prst="rect">
            <a:avLst/>
          </a:prstGeom>
          <a:noFill/>
          <a:ln/>
        </p:spPr>
        <p:txBody>
          <a:bodyPr wrap="square" lIns="0" tIns="0" rIns="0" bIns="0" rtlCol="0" anchor="ctr"/>
          <a:lstStyle/>
          <a:p>
            <a:pPr indent="0" marL="0">
              <a:buNone/>
            </a:pPr>
            <a:r>
              <a:rPr lang="en-US" sz="1700" i="1" dirty="0">
                <a:solidFill>
                  <a:schemeClr val="tx1"/>
                </a:solidFill>
                <a:latin typeface="Cambria" pitchFamily="34" charset="0"/>
                <a:ea typeface="Cambria" pitchFamily="34" charset="-122"/>
                <a:cs typeface="Cambria" pitchFamily="34" charset="-120"/>
              </a:rPr>
              <a:t>X</a:t>
            </a:r>
            <a:pPr indent="0" marL="0">
              <a:buNone/>
            </a:pPr>
            <a:r>
              <a:rPr lang="en-US" sz="1700" dirty="0">
                <a:solidFill>
                  <a:schemeClr val="tx1"/>
                </a:solidFill>
                <a:latin typeface="Cambria" pitchFamily="34" charset="0"/>
                <a:ea typeface="Cambria" pitchFamily="34" charset="-122"/>
                <a:cs typeface="Cambria" pitchFamily="34" charset="-120"/>
              </a:rPr>
              <a:t>(</a:t>
            </a:r>
            <a:pPr indent="0" marL="0">
              <a:buNone/>
            </a:pPr>
            <a:r>
              <a:rPr lang="en-US" sz="1700" i="1" dirty="0">
                <a:solidFill>
                  <a:schemeClr val="tx1"/>
                </a:solidFill>
                <a:latin typeface="Cambria" pitchFamily="34" charset="0"/>
                <a:ea typeface="Cambria" pitchFamily="34" charset="-122"/>
                <a:cs typeface="Cambria" pitchFamily="34" charset="-120"/>
              </a:rPr>
              <a:t>v</a:t>
            </a:r>
            <a:pPr indent="0" marL="0">
              <a:buNone/>
            </a:pPr>
            <a:r>
              <a:rPr lang="en-US" sz="1700" dirty="0">
                <a:solidFill>
                  <a:schemeClr val="tx1"/>
                </a:solidFill>
                <a:latin typeface="Cambria" pitchFamily="34" charset="0"/>
                <a:ea typeface="Cambria" pitchFamily="34" charset="-122"/>
                <a:cs typeface="Cambria" pitchFamily="34" charset="-120"/>
              </a:rPr>
              <a:t> − </a:t>
            </a:r>
            <a:pPr indent="0" marL="0">
              <a:buNone/>
            </a:pPr>
            <a:r>
              <a:rPr lang="en-US" sz="1700" i="1" dirty="0">
                <a:solidFill>
                  <a:schemeClr val="tx1"/>
                </a:solidFill>
                <a:latin typeface="Cambria" pitchFamily="34" charset="0"/>
                <a:ea typeface="Cambria" pitchFamily="34" charset="-122"/>
                <a:cs typeface="Cambria" pitchFamily="34" charset="-120"/>
              </a:rPr>
              <a:t>v̂</a:t>
            </a:r>
            <a:pPr indent="0" marL="0">
              <a:buNone/>
            </a:pPr>
            <a:r>
              <a:rPr lang="en-US" sz="1700" dirty="0">
                <a:solidFill>
                  <a:schemeClr val="tx1"/>
                </a:solidFill>
                <a:latin typeface="Cambria" pitchFamily="34" charset="0"/>
                <a:ea typeface="Cambria" pitchFamily="34" charset="-122"/>
                <a:cs typeface="Cambria" pitchFamily="34" charset="-120"/>
              </a:rPr>
              <a:t>) = 0</a:t>
            </a:r>
            <a:endParaRPr lang="en-US" sz="1700" dirty="0"/>
          </a:p>
        </p:txBody>
      </p:sp>
      <p:sp>
        <p:nvSpPr>
          <p:cNvPr id="28" name="Fact meaning 3"/>
          <p:cNvSpPr txBox="1"/>
          <p:nvPr/>
        </p:nvSpPr>
        <p:spPr>
          <a:xfrm>
            <a:off x="6492240" y="4151376"/>
            <a:ext cx="2103120" cy="530352"/>
          </a:xfrm>
          <a:prstGeom prst="rect">
            <a:avLst/>
          </a:prstGeom>
          <a:noFill/>
          <a:ln/>
        </p:spPr>
        <p:txBody>
          <a:bodyPr wrap="square" lIns="0" tIns="0" rIns="0" bIns="0" rtlCol="0" anchor="ctr"/>
          <a:lstStyle/>
          <a:p>
            <a:pPr indent="0" marL="0">
              <a:buNone/>
            </a:pPr>
            <a:r>
              <a:rPr lang="en-US" sz="1300" dirty="0">
                <a:solidFill>
                  <a:schemeClr val="accent5"/>
                </a:solidFill>
              </a:rPr>
              <a:t>the gap is ⟂ to every spot</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tion badge"/>
          <p:cNvSpPr txBox="1"/>
          <p:nvPr/>
        </p:nvSpPr>
        <p:spPr>
          <a:xfrm>
            <a:off x="457200" y="228600"/>
            <a:ext cx="2363724" cy="256032"/>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dirty="0">
                <a:solidFill>
                  <a:schemeClr val="tx1"/>
                </a:solidFill>
              </a:rPr>
              <a:t>STEP 3  ·  WHY IT WORKS</a:t>
            </a:r>
            <a:endParaRPr lang="en-US" sz="1000" dirty="0"/>
          </a:p>
        </p:txBody>
      </p:sp>
      <p:sp>
        <p:nvSpPr>
          <p:cNvPr id="3" name="Text 0"/>
          <p:cNvSpPr/>
          <p:nvPr>
            <p:ph idx="100"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Where the formula comes from</a:t>
            </a:r>
            <a:endParaRPr lang="en-US" sz="3200" dirty="0"/>
          </a:p>
        </p:txBody>
      </p:sp>
      <p:sp>
        <p:nvSpPr>
          <p:cNvPr id="4" name="Derivation card 1"/>
          <p:cNvSpPr/>
          <p:nvPr/>
        </p:nvSpPr>
        <p:spPr>
          <a:xfrm>
            <a:off x="457200" y="1280160"/>
            <a:ext cx="5303520" cy="731520"/>
          </a:xfrm>
          <a:prstGeom prst="roundRect">
            <a:avLst>
              <a:gd name="adj" fmla="val 12500"/>
            </a:avLst>
          </a:prstGeom>
          <a:solidFill>
            <a:schemeClr val="bg1"/>
          </a:solidFill>
          <a:ln/>
        </p:spPr>
      </p:sp>
      <p:sp>
        <p:nvSpPr>
          <p:cNvPr id="5" name="Derivation circle 1"/>
          <p:cNvSpPr/>
          <p:nvPr/>
        </p:nvSpPr>
        <p:spPr>
          <a:xfrm>
            <a:off x="594360" y="1444752"/>
            <a:ext cx="402336" cy="402336"/>
          </a:xfrm>
          <a:prstGeom prst="ellipse">
            <a:avLst/>
          </a:prstGeom>
          <a:solidFill>
            <a:schemeClr val="accent1"/>
          </a:solidFill>
          <a:ln/>
        </p:spPr>
      </p:sp>
      <p:sp>
        <p:nvSpPr>
          <p:cNvPr id="6" name="Derivation number 1"/>
          <p:cNvSpPr txBox="1"/>
          <p:nvPr/>
        </p:nvSpPr>
        <p:spPr>
          <a:xfrm>
            <a:off x="594360" y="1444752"/>
            <a:ext cx="402336" cy="402336"/>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7" name="Derivation text 1"/>
          <p:cNvSpPr txBox="1"/>
          <p:nvPr/>
        </p:nvSpPr>
        <p:spPr>
          <a:xfrm>
            <a:off x="1143000" y="1280160"/>
            <a:ext cx="4526280" cy="73152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Build </a:t>
            </a:r>
            <a:pPr indent="0" marL="0">
              <a:buNone/>
            </a:pPr>
            <a:r>
              <a:rPr lang="en-US" sz="1600" i="1" dirty="0">
                <a:solidFill>
                  <a:schemeClr val="accent2"/>
                </a:solidFill>
                <a:latin typeface="Cambria" pitchFamily="34" charset="0"/>
                <a:ea typeface="Cambria" pitchFamily="34" charset="-122"/>
                <a:cs typeface="Cambria" pitchFamily="34" charset="-120"/>
              </a:rPr>
              <a:t>v̂</a:t>
            </a:r>
            <a:pPr indent="0" marL="0">
              <a:buNone/>
            </a:pPr>
            <a:r>
              <a:rPr lang="en-US" sz="1600" dirty="0">
                <a:solidFill>
                  <a:schemeClr val="accent2"/>
                </a:solidFill>
                <a:latin typeface="Cambria" pitchFamily="34" charset="0"/>
                <a:ea typeface="Cambria" pitchFamily="34" charset="-122"/>
                <a:cs typeface="Cambria" pitchFamily="34" charset="-120"/>
              </a:rPr>
              <a:t> = </a:t>
            </a:r>
            <a:pPr indent="0" marL="0">
              <a:buNone/>
            </a:pPr>
            <a:r>
              <a:rPr lang="en-US" sz="1600" i="1" dirty="0">
                <a:solidFill>
                  <a:schemeClr val="accent2"/>
                </a:solidFill>
                <a:latin typeface="Cambria" pitchFamily="34" charset="0"/>
                <a:ea typeface="Cambria" pitchFamily="34" charset="-122"/>
                <a:cs typeface="Cambria" pitchFamily="34" charset="-120"/>
              </a:rPr>
              <a:t>X</a:t>
            </a:r>
            <a:pPr indent="0" marL="0">
              <a:buNone/>
            </a:pPr>
            <a:r>
              <a:rPr lang="en-US" sz="1600" baseline="30000" dirty="0">
                <a:solidFill>
                  <a:schemeClr val="accent2"/>
                </a:solidFill>
                <a:latin typeface="Cambria" pitchFamily="34" charset="0"/>
                <a:ea typeface="Cambria" pitchFamily="34" charset="-122"/>
                <a:cs typeface="Cambria" pitchFamily="34" charset="-120"/>
              </a:rPr>
              <a:t>T</a:t>
            </a:r>
            <a:pPr indent="0" marL="0">
              <a:buNone/>
            </a:pPr>
            <a:r>
              <a:rPr lang="en-US" sz="1600" i="1" dirty="0">
                <a:solidFill>
                  <a:schemeClr val="accent2"/>
                </a:solidFill>
                <a:latin typeface="Cambria" pitchFamily="34" charset="0"/>
                <a:ea typeface="Cambria" pitchFamily="34" charset="-122"/>
                <a:cs typeface="Cambria" pitchFamily="34" charset="-120"/>
              </a:rPr>
              <a:t>c</a:t>
            </a:r>
            <a:pPr indent="0" marL="0">
              <a:buNone/>
            </a:pPr>
            <a:r>
              <a:rPr lang="en-US" sz="1200" dirty="0">
                <a:solidFill>
                  <a:schemeClr val="accent5"/>
                </a:solidFill>
                <a:latin typeface="Calibri" pitchFamily="34" charset="0"/>
                <a:ea typeface="Calibri" pitchFamily="34" charset="-122"/>
                <a:cs typeface="Calibri" pitchFamily="34" charset="-120"/>
              </a:rPr>
              <a:t>  from the spots (c = mixing weights)</a:t>
            </a:r>
            <a:endParaRPr lang="en-US" sz="1400" dirty="0"/>
          </a:p>
        </p:txBody>
      </p:sp>
      <p:sp>
        <p:nvSpPr>
          <p:cNvPr id="8" name="Derivation card 2"/>
          <p:cNvSpPr/>
          <p:nvPr/>
        </p:nvSpPr>
        <p:spPr>
          <a:xfrm>
            <a:off x="457200" y="2121408"/>
            <a:ext cx="5303520" cy="731520"/>
          </a:xfrm>
          <a:prstGeom prst="roundRect">
            <a:avLst>
              <a:gd name="adj" fmla="val 12500"/>
            </a:avLst>
          </a:prstGeom>
          <a:solidFill>
            <a:schemeClr val="bg1"/>
          </a:solidFill>
          <a:ln/>
        </p:spPr>
      </p:sp>
      <p:sp>
        <p:nvSpPr>
          <p:cNvPr id="9" name="Derivation circle 2"/>
          <p:cNvSpPr/>
          <p:nvPr/>
        </p:nvSpPr>
        <p:spPr>
          <a:xfrm>
            <a:off x="594360" y="2286000"/>
            <a:ext cx="402336" cy="402336"/>
          </a:xfrm>
          <a:prstGeom prst="ellipse">
            <a:avLst/>
          </a:prstGeom>
          <a:solidFill>
            <a:schemeClr val="accent1"/>
          </a:solidFill>
          <a:ln/>
        </p:spPr>
      </p:sp>
      <p:sp>
        <p:nvSpPr>
          <p:cNvPr id="10" name="Derivation number 2"/>
          <p:cNvSpPr txBox="1"/>
          <p:nvPr/>
        </p:nvSpPr>
        <p:spPr>
          <a:xfrm>
            <a:off x="594360" y="2286000"/>
            <a:ext cx="402336" cy="402336"/>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1" name="Derivation text 2"/>
          <p:cNvSpPr txBox="1"/>
          <p:nvPr/>
        </p:nvSpPr>
        <p:spPr>
          <a:xfrm>
            <a:off x="1143000" y="2121408"/>
            <a:ext cx="4526280" cy="73152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Make the gap smallest: minimise </a:t>
            </a:r>
            <a:pPr indent="0" marL="0">
              <a:buNone/>
            </a:pPr>
            <a:r>
              <a:rPr lang="en-US" sz="1600" dirty="0">
                <a:solidFill>
                  <a:schemeClr val="accent2"/>
                </a:solidFill>
                <a:latin typeface="Cambria" pitchFamily="34" charset="0"/>
                <a:ea typeface="Cambria" pitchFamily="34" charset="-122"/>
                <a:cs typeface="Cambria" pitchFamily="34" charset="-120"/>
              </a:rPr>
              <a:t>‖ </a:t>
            </a:r>
            <a:pPr indent="0" marL="0">
              <a:buNone/>
            </a:pPr>
            <a:r>
              <a:rPr lang="en-US" sz="1600" i="1" dirty="0">
                <a:solidFill>
                  <a:schemeClr val="accent2"/>
                </a:solidFill>
                <a:latin typeface="Cambria" pitchFamily="34" charset="0"/>
                <a:ea typeface="Cambria" pitchFamily="34" charset="-122"/>
                <a:cs typeface="Cambria" pitchFamily="34" charset="-120"/>
              </a:rPr>
              <a:t>v</a:t>
            </a:r>
            <a:pPr indent="0" marL="0">
              <a:buNone/>
            </a:pPr>
            <a:r>
              <a:rPr lang="en-US" sz="1600" dirty="0">
                <a:solidFill>
                  <a:schemeClr val="accent2"/>
                </a:solidFill>
                <a:latin typeface="Cambria" pitchFamily="34" charset="0"/>
                <a:ea typeface="Cambria" pitchFamily="34" charset="-122"/>
                <a:cs typeface="Cambria" pitchFamily="34" charset="-120"/>
              </a:rPr>
              <a:t> − </a:t>
            </a:r>
            <a:pPr indent="0" marL="0">
              <a:buNone/>
            </a:pPr>
            <a:r>
              <a:rPr lang="en-US" sz="1600" i="1" dirty="0">
                <a:solidFill>
                  <a:schemeClr val="accent2"/>
                </a:solidFill>
                <a:latin typeface="Cambria" pitchFamily="34" charset="0"/>
                <a:ea typeface="Cambria" pitchFamily="34" charset="-122"/>
                <a:cs typeface="Cambria" pitchFamily="34" charset="-120"/>
              </a:rPr>
              <a:t>X</a:t>
            </a:r>
            <a:pPr indent="0" marL="0">
              <a:buNone/>
            </a:pPr>
            <a:r>
              <a:rPr lang="en-US" sz="1600" baseline="30000" dirty="0">
                <a:solidFill>
                  <a:schemeClr val="accent2"/>
                </a:solidFill>
                <a:latin typeface="Cambria" pitchFamily="34" charset="0"/>
                <a:ea typeface="Cambria" pitchFamily="34" charset="-122"/>
                <a:cs typeface="Cambria" pitchFamily="34" charset="-120"/>
              </a:rPr>
              <a:t>T</a:t>
            </a:r>
            <a:pPr indent="0" marL="0">
              <a:buNone/>
            </a:pPr>
            <a:r>
              <a:rPr lang="en-US" sz="1600" i="1" dirty="0">
                <a:solidFill>
                  <a:schemeClr val="accent2"/>
                </a:solidFill>
                <a:latin typeface="Cambria" pitchFamily="34" charset="0"/>
                <a:ea typeface="Cambria" pitchFamily="34" charset="-122"/>
                <a:cs typeface="Cambria" pitchFamily="34" charset="-120"/>
              </a:rPr>
              <a:t>c</a:t>
            </a:r>
            <a:pPr indent="0" marL="0">
              <a:buNone/>
            </a:pPr>
            <a:r>
              <a:rPr lang="en-US" sz="1600" dirty="0">
                <a:solidFill>
                  <a:schemeClr val="accent2"/>
                </a:solidFill>
                <a:latin typeface="Cambria" pitchFamily="34" charset="0"/>
                <a:ea typeface="Cambria" pitchFamily="34" charset="-122"/>
                <a:cs typeface="Cambria" pitchFamily="34" charset="-120"/>
              </a:rPr>
              <a:t> ‖</a:t>
            </a:r>
            <a:pPr indent="0" marL="0">
              <a:buNone/>
            </a:pPr>
            <a:r>
              <a:rPr lang="en-US" sz="1600" baseline="30000" dirty="0">
                <a:solidFill>
                  <a:schemeClr val="accent2"/>
                </a:solidFill>
                <a:latin typeface="Cambria" pitchFamily="34" charset="0"/>
                <a:ea typeface="Cambria" pitchFamily="34" charset="-122"/>
                <a:cs typeface="Cambria" pitchFamily="34" charset="-120"/>
              </a:rPr>
              <a:t>2</a:t>
            </a:r>
            <a:pPr indent="0" marL="0">
              <a:buNone/>
            </a:pPr>
            <a:r>
              <a:rPr lang="en-US" sz="1200" dirty="0">
                <a:solidFill>
                  <a:schemeClr val="accent5"/>
                </a:solidFill>
                <a:latin typeface="Calibri" pitchFamily="34" charset="0"/>
                <a:ea typeface="Calibri" pitchFamily="34" charset="-122"/>
                <a:cs typeface="Calibri" pitchFamily="34" charset="-120"/>
              </a:rPr>
              <a:t>  (least squares)</a:t>
            </a:r>
            <a:endParaRPr lang="en-US" sz="1400" dirty="0"/>
          </a:p>
        </p:txBody>
      </p:sp>
      <p:sp>
        <p:nvSpPr>
          <p:cNvPr id="12" name="Derivation card 3"/>
          <p:cNvSpPr/>
          <p:nvPr/>
        </p:nvSpPr>
        <p:spPr>
          <a:xfrm>
            <a:off x="457200" y="2962656"/>
            <a:ext cx="5303520" cy="731520"/>
          </a:xfrm>
          <a:prstGeom prst="roundRect">
            <a:avLst>
              <a:gd name="adj" fmla="val 12500"/>
            </a:avLst>
          </a:prstGeom>
          <a:solidFill>
            <a:schemeClr val="bg1"/>
          </a:solidFill>
          <a:ln/>
        </p:spPr>
      </p:sp>
      <p:sp>
        <p:nvSpPr>
          <p:cNvPr id="13" name="Derivation circle 3"/>
          <p:cNvSpPr/>
          <p:nvPr/>
        </p:nvSpPr>
        <p:spPr>
          <a:xfrm>
            <a:off x="594360" y="3127248"/>
            <a:ext cx="402336" cy="402336"/>
          </a:xfrm>
          <a:prstGeom prst="ellipse">
            <a:avLst/>
          </a:prstGeom>
          <a:solidFill>
            <a:schemeClr val="accent1"/>
          </a:solidFill>
          <a:ln/>
        </p:spPr>
      </p:sp>
      <p:sp>
        <p:nvSpPr>
          <p:cNvPr id="14" name="Derivation number 3"/>
          <p:cNvSpPr txBox="1"/>
          <p:nvPr/>
        </p:nvSpPr>
        <p:spPr>
          <a:xfrm>
            <a:off x="594360" y="3127248"/>
            <a:ext cx="402336" cy="402336"/>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5" name="Derivation text 3"/>
          <p:cNvSpPr txBox="1"/>
          <p:nvPr/>
        </p:nvSpPr>
        <p:spPr>
          <a:xfrm>
            <a:off x="1143000" y="2962656"/>
            <a:ext cx="4526280" cy="73152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Set the derivative to zero: </a:t>
            </a:r>
            <a:pPr indent="0" marL="0">
              <a:buNone/>
            </a:pPr>
            <a:r>
              <a:rPr lang="en-US" sz="1600" i="1" dirty="0">
                <a:solidFill>
                  <a:schemeClr val="accent2"/>
                </a:solidFill>
                <a:latin typeface="Cambria" pitchFamily="34" charset="0"/>
                <a:ea typeface="Cambria" pitchFamily="34" charset="-122"/>
                <a:cs typeface="Cambria" pitchFamily="34" charset="-120"/>
              </a:rPr>
              <a:t>X</a:t>
            </a:r>
            <a:pPr indent="0" marL="0">
              <a:buNone/>
            </a:pPr>
            <a:r>
              <a:rPr lang="en-US" sz="1600" i="1" dirty="0">
                <a:solidFill>
                  <a:schemeClr val="accent2"/>
                </a:solidFill>
                <a:latin typeface="Cambria" pitchFamily="34" charset="0"/>
                <a:ea typeface="Cambria" pitchFamily="34" charset="-122"/>
                <a:cs typeface="Cambria" pitchFamily="34" charset="-120"/>
              </a:rPr>
              <a:t>X</a:t>
            </a:r>
            <a:pPr indent="0" marL="0">
              <a:buNone/>
            </a:pPr>
            <a:r>
              <a:rPr lang="en-US" sz="1600" baseline="30000" dirty="0">
                <a:solidFill>
                  <a:schemeClr val="accent2"/>
                </a:solidFill>
                <a:latin typeface="Cambria" pitchFamily="34" charset="0"/>
                <a:ea typeface="Cambria" pitchFamily="34" charset="-122"/>
                <a:cs typeface="Cambria" pitchFamily="34" charset="-120"/>
              </a:rPr>
              <a:t>T</a:t>
            </a:r>
            <a:pPr indent="0" marL="0">
              <a:buNone/>
            </a:pPr>
            <a:r>
              <a:rPr lang="en-US" sz="1600" i="1" dirty="0">
                <a:solidFill>
                  <a:schemeClr val="accent2"/>
                </a:solidFill>
                <a:latin typeface="Cambria" pitchFamily="34" charset="0"/>
                <a:ea typeface="Cambria" pitchFamily="34" charset="-122"/>
                <a:cs typeface="Cambria" pitchFamily="34" charset="-120"/>
              </a:rPr>
              <a:t>c</a:t>
            </a:r>
            <a:pPr indent="0" marL="0">
              <a:buNone/>
            </a:pPr>
            <a:r>
              <a:rPr lang="en-US" sz="1600" dirty="0">
                <a:solidFill>
                  <a:schemeClr val="accent2"/>
                </a:solidFill>
                <a:latin typeface="Cambria" pitchFamily="34" charset="0"/>
                <a:ea typeface="Cambria" pitchFamily="34" charset="-122"/>
                <a:cs typeface="Cambria" pitchFamily="34" charset="-120"/>
              </a:rPr>
              <a:t> = </a:t>
            </a:r>
            <a:pPr indent="0" marL="0">
              <a:buNone/>
            </a:pPr>
            <a:r>
              <a:rPr lang="en-US" sz="1600" i="1" dirty="0">
                <a:solidFill>
                  <a:schemeClr val="accent2"/>
                </a:solidFill>
                <a:latin typeface="Cambria" pitchFamily="34" charset="0"/>
                <a:ea typeface="Cambria" pitchFamily="34" charset="-122"/>
                <a:cs typeface="Cambria" pitchFamily="34" charset="-120"/>
              </a:rPr>
              <a:t>X</a:t>
            </a:r>
            <a:pPr indent="0" marL="0">
              <a:buNone/>
            </a:pPr>
            <a:r>
              <a:rPr lang="en-US" sz="1600" i="1" dirty="0">
                <a:solidFill>
                  <a:schemeClr val="accent2"/>
                </a:solidFill>
                <a:latin typeface="Cambria" pitchFamily="34" charset="0"/>
                <a:ea typeface="Cambria" pitchFamily="34" charset="-122"/>
                <a:cs typeface="Cambria" pitchFamily="34" charset="-120"/>
              </a:rPr>
              <a:t>v</a:t>
            </a:r>
            <a:pPr indent="0" marL="0">
              <a:buNone/>
            </a:pPr>
            <a:r>
              <a:rPr lang="en-US" sz="1200" dirty="0">
                <a:solidFill>
                  <a:schemeClr val="accent5"/>
                </a:solidFill>
                <a:latin typeface="Calibri" pitchFamily="34" charset="0"/>
                <a:ea typeface="Calibri" pitchFamily="34" charset="-122"/>
                <a:cs typeface="Calibri" pitchFamily="34" charset="-120"/>
              </a:rPr>
              <a:t>  (normal equations)</a:t>
            </a:r>
            <a:endParaRPr lang="en-US" sz="1400" dirty="0"/>
          </a:p>
        </p:txBody>
      </p:sp>
      <p:sp>
        <p:nvSpPr>
          <p:cNvPr id="16" name="Derivation card 4"/>
          <p:cNvSpPr/>
          <p:nvPr/>
        </p:nvSpPr>
        <p:spPr>
          <a:xfrm>
            <a:off x="457200" y="3803904"/>
            <a:ext cx="5303520" cy="731520"/>
          </a:xfrm>
          <a:prstGeom prst="roundRect">
            <a:avLst>
              <a:gd name="adj" fmla="val 12500"/>
            </a:avLst>
          </a:prstGeom>
          <a:solidFill>
            <a:schemeClr val="bg1"/>
          </a:solidFill>
          <a:ln/>
        </p:spPr>
      </p:sp>
      <p:sp>
        <p:nvSpPr>
          <p:cNvPr id="17" name="Derivation circle 4"/>
          <p:cNvSpPr/>
          <p:nvPr/>
        </p:nvSpPr>
        <p:spPr>
          <a:xfrm>
            <a:off x="594360" y="3968496"/>
            <a:ext cx="402336" cy="402336"/>
          </a:xfrm>
          <a:prstGeom prst="ellipse">
            <a:avLst/>
          </a:prstGeom>
          <a:solidFill>
            <a:schemeClr val="accent1"/>
          </a:solidFill>
          <a:ln/>
        </p:spPr>
      </p:sp>
      <p:sp>
        <p:nvSpPr>
          <p:cNvPr id="18" name="Derivation number 4"/>
          <p:cNvSpPr txBox="1"/>
          <p:nvPr/>
        </p:nvSpPr>
        <p:spPr>
          <a:xfrm>
            <a:off x="594360" y="3968496"/>
            <a:ext cx="402336" cy="402336"/>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19" name="Derivation text 4"/>
          <p:cNvSpPr txBox="1"/>
          <p:nvPr/>
        </p:nvSpPr>
        <p:spPr>
          <a:xfrm>
            <a:off x="1143000" y="3803904"/>
            <a:ext cx="4526280" cy="73152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Solve for c:  </a:t>
            </a:r>
            <a:pPr indent="0" marL="0">
              <a:buNone/>
            </a:pPr>
            <a:r>
              <a:rPr lang="en-US" sz="1600" i="1" dirty="0">
                <a:solidFill>
                  <a:schemeClr val="accent2"/>
                </a:solidFill>
                <a:latin typeface="Cambria" pitchFamily="34" charset="0"/>
                <a:ea typeface="Cambria" pitchFamily="34" charset="-122"/>
                <a:cs typeface="Cambria" pitchFamily="34" charset="-120"/>
              </a:rPr>
              <a:t>c</a:t>
            </a:r>
            <a:pPr indent="0" marL="0">
              <a:buNone/>
            </a:pPr>
            <a:r>
              <a:rPr lang="en-US" sz="1600" dirty="0">
                <a:solidFill>
                  <a:schemeClr val="accent2"/>
                </a:solidFill>
                <a:latin typeface="Cambria" pitchFamily="34" charset="0"/>
                <a:ea typeface="Cambria" pitchFamily="34" charset="-122"/>
                <a:cs typeface="Cambria" pitchFamily="34" charset="-120"/>
              </a:rPr>
              <a:t> = (</a:t>
            </a:r>
            <a:pPr indent="0" marL="0">
              <a:buNone/>
            </a:pPr>
            <a:r>
              <a:rPr lang="en-US" sz="1600" i="1" dirty="0">
                <a:solidFill>
                  <a:schemeClr val="accent2"/>
                </a:solidFill>
                <a:latin typeface="Cambria" pitchFamily="34" charset="0"/>
                <a:ea typeface="Cambria" pitchFamily="34" charset="-122"/>
                <a:cs typeface="Cambria" pitchFamily="34" charset="-120"/>
              </a:rPr>
              <a:t>X</a:t>
            </a:r>
            <a:pPr indent="0" marL="0">
              <a:buNone/>
            </a:pPr>
            <a:r>
              <a:rPr lang="en-US" sz="1600" i="1" dirty="0">
                <a:solidFill>
                  <a:schemeClr val="accent2"/>
                </a:solidFill>
                <a:latin typeface="Cambria" pitchFamily="34" charset="0"/>
                <a:ea typeface="Cambria" pitchFamily="34" charset="-122"/>
                <a:cs typeface="Cambria" pitchFamily="34" charset="-120"/>
              </a:rPr>
              <a:t>X</a:t>
            </a:r>
            <a:pPr indent="0" marL="0">
              <a:buNone/>
            </a:pPr>
            <a:r>
              <a:rPr lang="en-US" sz="1600" baseline="30000" dirty="0">
                <a:solidFill>
                  <a:schemeClr val="accent2"/>
                </a:solidFill>
                <a:latin typeface="Cambria" pitchFamily="34" charset="0"/>
                <a:ea typeface="Cambria" pitchFamily="34" charset="-122"/>
                <a:cs typeface="Cambria" pitchFamily="34" charset="-120"/>
              </a:rPr>
              <a:t>T</a:t>
            </a:r>
            <a:pPr indent="0" marL="0">
              <a:buNone/>
            </a:pPr>
            <a:r>
              <a:rPr lang="en-US" sz="1600" dirty="0">
                <a:solidFill>
                  <a:schemeClr val="accent2"/>
                </a:solidFill>
                <a:latin typeface="Cambria" pitchFamily="34" charset="0"/>
                <a:ea typeface="Cambria" pitchFamily="34" charset="-122"/>
                <a:cs typeface="Cambria" pitchFamily="34" charset="-120"/>
              </a:rPr>
              <a:t>)</a:t>
            </a:r>
            <a:pPr indent="0" marL="0">
              <a:buNone/>
            </a:pPr>
            <a:r>
              <a:rPr lang="en-US" sz="1600" baseline="30000" dirty="0">
                <a:solidFill>
                  <a:schemeClr val="accent2"/>
                </a:solidFill>
                <a:latin typeface="Cambria" pitchFamily="34" charset="0"/>
                <a:ea typeface="Cambria" pitchFamily="34" charset="-122"/>
                <a:cs typeface="Cambria" pitchFamily="34" charset="-120"/>
              </a:rPr>
              <a:t>+</a:t>
            </a:r>
            <a:pPr indent="0" marL="0">
              <a:buNone/>
            </a:pPr>
            <a:r>
              <a:rPr lang="en-US" sz="1600" i="1" dirty="0">
                <a:solidFill>
                  <a:schemeClr val="accent2"/>
                </a:solidFill>
                <a:latin typeface="Cambria" pitchFamily="34" charset="0"/>
                <a:ea typeface="Cambria" pitchFamily="34" charset="-122"/>
                <a:cs typeface="Cambria" pitchFamily="34" charset="-120"/>
              </a:rPr>
              <a:t>X</a:t>
            </a:r>
            <a:pPr indent="0" marL="0">
              <a:buNone/>
            </a:pPr>
            <a:r>
              <a:rPr lang="en-US" sz="1600" i="1" dirty="0">
                <a:solidFill>
                  <a:schemeClr val="accent2"/>
                </a:solidFill>
                <a:latin typeface="Cambria" pitchFamily="34" charset="0"/>
                <a:ea typeface="Cambria" pitchFamily="34" charset="-122"/>
                <a:cs typeface="Cambria" pitchFamily="34" charset="-120"/>
              </a:rPr>
              <a:t>v</a:t>
            </a:r>
            <a:pPr indent="0" marL="0">
              <a:buNone/>
            </a:pPr>
            <a:r>
              <a:rPr lang="en-US" sz="1600" dirty="0">
                <a:solidFill>
                  <a:schemeClr val="accent2"/>
                </a:solidFill>
                <a:latin typeface="Cambria" pitchFamily="34" charset="0"/>
                <a:ea typeface="Cambria" pitchFamily="34" charset="-122"/>
                <a:cs typeface="Cambria" pitchFamily="34" charset="-120"/>
              </a:rPr>
              <a:t>   ⇒   </a:t>
            </a:r>
            <a:pPr indent="0" marL="0">
              <a:buNone/>
            </a:pPr>
            <a:r>
              <a:rPr lang="en-US" sz="1600" i="1" dirty="0">
                <a:solidFill>
                  <a:schemeClr val="accent2"/>
                </a:solidFill>
                <a:latin typeface="Cambria" pitchFamily="34" charset="0"/>
                <a:ea typeface="Cambria" pitchFamily="34" charset="-122"/>
                <a:cs typeface="Cambria" pitchFamily="34" charset="-120"/>
              </a:rPr>
              <a:t>v̂</a:t>
            </a:r>
            <a:pPr indent="0" marL="0">
              <a:buNone/>
            </a:pPr>
            <a:r>
              <a:rPr lang="en-US" sz="1600" dirty="0">
                <a:solidFill>
                  <a:schemeClr val="accent2"/>
                </a:solidFill>
                <a:latin typeface="Cambria" pitchFamily="34" charset="0"/>
                <a:ea typeface="Cambria" pitchFamily="34" charset="-122"/>
                <a:cs typeface="Cambria" pitchFamily="34" charset="-120"/>
              </a:rPr>
              <a:t> = </a:t>
            </a:r>
            <a:pPr indent="0" marL="0">
              <a:buNone/>
            </a:pPr>
            <a:r>
              <a:rPr lang="en-US" sz="1600" i="1" dirty="0">
                <a:solidFill>
                  <a:schemeClr val="accent2"/>
                </a:solidFill>
                <a:latin typeface="Cambria" pitchFamily="34" charset="0"/>
                <a:ea typeface="Cambria" pitchFamily="34" charset="-122"/>
                <a:cs typeface="Cambria" pitchFamily="34" charset="-120"/>
              </a:rPr>
              <a:t>P</a:t>
            </a:r>
            <a:pPr indent="0" marL="0">
              <a:buNone/>
            </a:pPr>
            <a:r>
              <a:rPr lang="en-US" sz="1600" i="1" dirty="0">
                <a:solidFill>
                  <a:schemeClr val="accent2"/>
                </a:solidFill>
                <a:latin typeface="Cambria" pitchFamily="34" charset="0"/>
                <a:ea typeface="Cambria" pitchFamily="34" charset="-122"/>
                <a:cs typeface="Cambria" pitchFamily="34" charset="-120"/>
              </a:rPr>
              <a:t>v</a:t>
            </a:r>
            <a:endParaRPr lang="en-US" sz="1400" dirty="0"/>
          </a:p>
        </p:txBody>
      </p:sp>
      <p:sp>
        <p:nvSpPr>
          <p:cNvPr id="20" name="Pseudoinverse card"/>
          <p:cNvSpPr/>
          <p:nvPr/>
        </p:nvSpPr>
        <p:spPr>
          <a:xfrm>
            <a:off x="5989320" y="1280160"/>
            <a:ext cx="2697480" cy="3364992"/>
          </a:xfrm>
          <a:prstGeom prst="roundRect">
            <a:avLst>
              <a:gd name="adj" fmla="val 3390"/>
            </a:avLst>
          </a:prstGeom>
          <a:solidFill>
            <a:schemeClr val="tx1"/>
          </a:solidFill>
          <a:ln/>
          <a:effectLst>
            <a:outerShdw sx="100000" sy="100000" kx="0" ky="0" algn="bl" rotWithShape="0" blurRad="76200" dist="25400" dir="5400000">
              <a:srgbClr val="000000">
                <a:alpha val="12000"/>
              </a:srgbClr>
            </a:outerShdw>
          </a:effectLst>
        </p:spPr>
      </p:sp>
      <p:sp>
        <p:nvSpPr>
          <p:cNvPr id="21" name="Pseudo heading"/>
          <p:cNvSpPr txBox="1"/>
          <p:nvPr/>
        </p:nvSpPr>
        <p:spPr>
          <a:xfrm>
            <a:off x="6172200" y="1417320"/>
            <a:ext cx="2377440" cy="502920"/>
          </a:xfrm>
          <a:prstGeom prst="rect">
            <a:avLst/>
          </a:prstGeom>
          <a:noFill/>
          <a:ln/>
        </p:spPr>
        <p:txBody>
          <a:bodyPr wrap="square" lIns="0" tIns="0" rIns="0" bIns="0" rtlCol="0" anchor="t"/>
          <a:lstStyle/>
          <a:p>
            <a:pPr indent="0" marL="0">
              <a:buNone/>
            </a:pPr>
            <a:r>
              <a:rPr lang="en-US" sz="1600" b="1" dirty="0">
                <a:solidFill>
                  <a:schemeClr val="accent1"/>
                </a:solidFill>
              </a:rPr>
              <a:t>Why the pseudoinverse?</a:t>
            </a:r>
            <a:endParaRPr lang="en-US" sz="1600" dirty="0"/>
          </a:p>
        </p:txBody>
      </p:sp>
      <p:sp>
        <p:nvSpPr>
          <p:cNvPr id="22" name="Pseudo text"/>
          <p:cNvSpPr txBox="1"/>
          <p:nvPr/>
        </p:nvSpPr>
        <p:spPr>
          <a:xfrm>
            <a:off x="6172200" y="1920240"/>
            <a:ext cx="2377440" cy="1143000"/>
          </a:xfrm>
          <a:prstGeom prst="rect">
            <a:avLst/>
          </a:prstGeom>
          <a:noFill/>
          <a:ln/>
        </p:spPr>
        <p:txBody>
          <a:bodyPr wrap="square" lIns="0" tIns="0" rIns="0" bIns="0" rtlCol="0" anchor="t"/>
          <a:lstStyle/>
          <a:p>
            <a:pPr indent="0" marL="0">
              <a:buNone/>
            </a:pPr>
            <a:r>
              <a:rPr lang="en-US" sz="1400" i="1" dirty="0">
                <a:solidFill>
                  <a:schemeClr val="bg1"/>
                </a:solidFill>
                <a:latin typeface="Cambria" pitchFamily="34" charset="0"/>
                <a:ea typeface="Cambria" pitchFamily="34" charset="-122"/>
                <a:cs typeface="Cambria" pitchFamily="34" charset="-120"/>
              </a:rPr>
              <a:t>X</a:t>
            </a:r>
            <a:pPr indent="0" marL="0">
              <a:buNone/>
            </a:pPr>
            <a:r>
              <a:rPr lang="en-US" sz="1400" i="1" dirty="0">
                <a:solidFill>
                  <a:schemeClr val="bg1"/>
                </a:solidFill>
                <a:latin typeface="Cambria" pitchFamily="34" charset="0"/>
                <a:ea typeface="Cambria" pitchFamily="34" charset="-122"/>
                <a:cs typeface="Cambria" pitchFamily="34" charset="-120"/>
              </a:rPr>
              <a:t>X</a:t>
            </a:r>
            <a:pPr indent="0" marL="0">
              <a:buNone/>
            </a:pPr>
            <a:r>
              <a:rPr lang="en-US" sz="1400" baseline="30000" dirty="0">
                <a:solidFill>
                  <a:schemeClr val="bg1"/>
                </a:solidFill>
                <a:latin typeface="Cambria" pitchFamily="34" charset="0"/>
                <a:ea typeface="Cambria" pitchFamily="34" charset="-122"/>
                <a:cs typeface="Cambria" pitchFamily="34" charset="-120"/>
              </a:rPr>
              <a:t>T</a:t>
            </a:r>
            <a:pPr indent="0" marL="0">
              <a:buNone/>
            </a:pPr>
            <a:r>
              <a:rPr lang="en-US" sz="1400" dirty="0">
                <a:solidFill>
                  <a:schemeClr val="bg1"/>
                </a:solidFill>
                <a:latin typeface="Cambria" pitchFamily="34" charset="0"/>
                <a:ea typeface="Cambria" pitchFamily="34" charset="-122"/>
                <a:cs typeface="Cambria" pitchFamily="34" charset="-120"/>
              </a:rPr>
              <a:t> is </a:t>
            </a:r>
            <a:pPr indent="0" marL="0">
              <a:buNone/>
            </a:pPr>
            <a:r>
              <a:rPr lang="en-US" sz="1400" i="1" dirty="0">
                <a:solidFill>
                  <a:schemeClr val="bg1"/>
                </a:solidFill>
                <a:latin typeface="Cambria" pitchFamily="34" charset="0"/>
                <a:ea typeface="Cambria" pitchFamily="34" charset="-122"/>
                <a:cs typeface="Cambria" pitchFamily="34" charset="-120"/>
              </a:rPr>
              <a:t>n</a:t>
            </a:r>
            <a:pPr indent="0" marL="0">
              <a:buNone/>
            </a:pPr>
            <a:r>
              <a:rPr lang="en-US" sz="1400" dirty="0">
                <a:solidFill>
                  <a:schemeClr val="bg1"/>
                </a:solidFill>
                <a:latin typeface="Cambria" pitchFamily="34" charset="0"/>
                <a:ea typeface="Cambria" pitchFamily="34" charset="-122"/>
                <a:cs typeface="Cambria" pitchFamily="34" charset="-120"/>
              </a:rPr>
              <a:t> × </a:t>
            </a:r>
            <a:pPr indent="0" marL="0">
              <a:buNone/>
            </a:pPr>
            <a:r>
              <a:rPr lang="en-US" sz="1400" i="1" dirty="0">
                <a:solidFill>
                  <a:schemeClr val="bg1"/>
                </a:solidFill>
                <a:latin typeface="Cambria" pitchFamily="34" charset="0"/>
                <a:ea typeface="Cambria" pitchFamily="34" charset="-122"/>
                <a:cs typeface="Cambria" pitchFamily="34" charset="-120"/>
              </a:rPr>
              <a:t>n</a:t>
            </a:r>
            <a:pPr indent="0" marL="0">
              <a:buNone/>
            </a:pPr>
            <a:r>
              <a:rPr lang="en-US" sz="1400" dirty="0">
                <a:solidFill>
                  <a:schemeClr val="bg1"/>
                </a:solidFill>
                <a:latin typeface="Cambria" pitchFamily="34" charset="0"/>
                <a:ea typeface="Cambria" pitchFamily="34" charset="-122"/>
                <a:cs typeface="Cambria" pitchFamily="34" charset="-120"/>
              </a:rPr>
              <a:t> but has rank at most 5. So it has no ordinary inverse whenever </a:t>
            </a:r>
            <a:pPr indent="0" marL="0">
              <a:buNone/>
            </a:pPr>
            <a:r>
              <a:rPr lang="en-US" sz="1400" i="1" dirty="0">
                <a:solidFill>
                  <a:schemeClr val="bg1"/>
                </a:solidFill>
                <a:latin typeface="Cambria" pitchFamily="34" charset="0"/>
                <a:ea typeface="Cambria" pitchFamily="34" charset="-122"/>
                <a:cs typeface="Cambria" pitchFamily="34" charset="-120"/>
              </a:rPr>
              <a:t>n</a:t>
            </a:r>
            <a:pPr indent="0" marL="0">
              <a:buNone/>
            </a:pPr>
            <a:r>
              <a:rPr lang="en-US" sz="1400" dirty="0">
                <a:solidFill>
                  <a:schemeClr val="bg1"/>
                </a:solidFill>
                <a:latin typeface="Cambria" pitchFamily="34" charset="0"/>
                <a:ea typeface="Cambria" pitchFamily="34" charset="-122"/>
                <a:cs typeface="Cambria" pitchFamily="34" charset="-120"/>
              </a:rPr>
              <a:t> &gt; 5, or spots repeat.</a:t>
            </a:r>
            <a:endParaRPr lang="en-US" sz="1400" dirty="0"/>
          </a:p>
        </p:txBody>
      </p:sp>
      <p:sp>
        <p:nvSpPr>
          <p:cNvPr id="23" name="Pseudo text 2"/>
          <p:cNvSpPr txBox="1"/>
          <p:nvPr/>
        </p:nvSpPr>
        <p:spPr>
          <a:xfrm>
            <a:off x="6172200" y="3154680"/>
            <a:ext cx="2377440" cy="1188720"/>
          </a:xfrm>
          <a:prstGeom prst="rect">
            <a:avLst/>
          </a:prstGeom>
          <a:noFill/>
          <a:ln/>
        </p:spPr>
        <p:txBody>
          <a:bodyPr wrap="square" lIns="0" tIns="0" rIns="0" bIns="0" rtlCol="0" anchor="t"/>
          <a:lstStyle/>
          <a:p>
            <a:pPr indent="0" marL="0">
              <a:buNone/>
            </a:pPr>
            <a:r>
              <a:rPr lang="en-US" sz="1400" dirty="0">
                <a:solidFill>
                  <a:schemeClr val="bg1"/>
                </a:solidFill>
                <a:latin typeface="Cambria" pitchFamily="34" charset="0"/>
                <a:ea typeface="Cambria" pitchFamily="34" charset="-122"/>
                <a:cs typeface="Cambria" pitchFamily="34" charset="-120"/>
              </a:rPr>
              <a:t>The pseudoinverse </a:t>
            </a:r>
            <a:pPr indent="0" marL="0">
              <a:buNone/>
            </a:pPr>
            <a:r>
              <a:rPr lang="en-US" sz="1400" b="1" dirty="0">
                <a:solidFill>
                  <a:schemeClr val="accent1"/>
                </a:solidFill>
                <a:latin typeface="Cambria" pitchFamily="34" charset="0"/>
                <a:ea typeface="Cambria" pitchFamily="34" charset="-122"/>
                <a:cs typeface="Cambria" pitchFamily="34" charset="-120"/>
              </a:rPr>
              <a:t>always exists</a:t>
            </a:r>
            <a:pPr indent="0" marL="0">
              <a:buNone/>
            </a:pPr>
            <a:r>
              <a:rPr lang="en-US" sz="1400" dirty="0">
                <a:solidFill>
                  <a:schemeClr val="bg1"/>
                </a:solidFill>
                <a:latin typeface="Cambria" pitchFamily="34" charset="0"/>
                <a:ea typeface="Cambria" pitchFamily="34" charset="-122"/>
                <a:cs typeface="Cambria" pitchFamily="34" charset="-120"/>
              </a:rPr>
              <a:t> and still gives the least-squares answer.</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tion badge"/>
          <p:cNvSpPr txBox="1"/>
          <p:nvPr/>
        </p:nvSpPr>
        <p:spPr>
          <a:xfrm>
            <a:off x="457200" y="228600"/>
            <a:ext cx="1755648" cy="256032"/>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dirty="0">
                <a:solidFill>
                  <a:schemeClr val="tx1"/>
                </a:solidFill>
              </a:rPr>
              <a:t>STEP 4  ·  SCORE</a:t>
            </a:r>
            <a:endParaRPr lang="en-US" sz="1000" dirty="0"/>
          </a:p>
        </p:txBody>
      </p:sp>
      <p:sp>
        <p:nvSpPr>
          <p:cNvPr id="3" name="Text 0"/>
          <p:cNvSpPr/>
          <p:nvPr>
            <p:ph idx="100"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Scoring every feasible spot</a:t>
            </a:r>
            <a:endParaRPr lang="en-US" sz="3200" dirty="0"/>
          </a:p>
        </p:txBody>
      </p:sp>
      <p:sp>
        <p:nvSpPr>
          <p:cNvPr id="4" name="Least squares card"/>
          <p:cNvSpPr/>
          <p:nvPr/>
        </p:nvSpPr>
        <p:spPr>
          <a:xfrm>
            <a:off x="457200" y="1280160"/>
            <a:ext cx="5303520" cy="1371600"/>
          </a:xfrm>
          <a:prstGeom prst="roundRect">
            <a:avLst>
              <a:gd name="adj" fmla="val 6667"/>
            </a:avLst>
          </a:prstGeom>
          <a:solidFill>
            <a:schemeClr val="bg1"/>
          </a:solidFill>
          <a:ln/>
          <a:effectLst>
            <a:outerShdw sx="100000" sy="100000" kx="0" ky="0" algn="bl" rotWithShape="0" blurRad="76200" dist="25400" dir="5400000">
              <a:srgbClr val="000000">
                <a:alpha val="12000"/>
              </a:srgbClr>
            </a:outerShdw>
          </a:effectLst>
        </p:spPr>
        <p:txBody>
          <a:bodyPr/>
          <a:p/>
        </p:txBody>
      </p:sp>
      <p:sp>
        <p:nvSpPr>
          <p:cNvPr id="5" name="LS heading"/>
          <p:cNvSpPr txBox="1"/>
          <p:nvPr/>
        </p:nvSpPr>
        <p:spPr>
          <a:xfrm>
            <a:off x="640080" y="1344168"/>
            <a:ext cx="4937760" cy="274320"/>
          </a:xfrm>
          <a:prstGeom prst="rect">
            <a:avLst/>
          </a:prstGeom>
          <a:noFill/>
          <a:ln/>
        </p:spPr>
        <p:txBody>
          <a:bodyPr wrap="square" lIns="0" tIns="0" rIns="0" bIns="0" rtlCol="0" anchor="ctr"/>
          <a:lstStyle/>
          <a:p>
            <a:pPr indent="0" marL="0">
              <a:buNone/>
            </a:pPr>
            <a:r>
              <a:rPr lang="en-US" sz="1400" b="1" dirty="0">
                <a:solidFill>
                  <a:schemeClr val="accent2"/>
                </a:solidFill>
              </a:rPr>
              <a:t>Match to the ideal  (least squares)</a:t>
            </a:r>
            <a:endParaRPr lang="en-US" sz="1400" dirty="0"/>
          </a:p>
        </p:txBody>
      </p:sp>
      <p:sp>
        <p:nvSpPr>
          <p:cNvPr id="6" name="LS formula"/>
          <p:cNvSpPr txBox="1"/>
          <p:nvPr/>
        </p:nvSpPr>
        <p:spPr>
          <a:xfrm>
            <a:off x="640080" y="1627632"/>
            <a:ext cx="4937760" cy="457200"/>
          </a:xfrm>
          <a:prstGeom prst="rect">
            <a:avLst/>
          </a:prstGeom>
          <a:noFill/>
          <a:ln/>
        </p:spPr>
        <p:txBody>
          <a:bodyPr wrap="square" lIns="0" tIns="0" rIns="0" bIns="0" rtlCol="0" anchor="ctr"/>
          <a:lstStyle/>
          <a:p>
            <a:pPr indent="0" marL="0">
              <a:buNone/>
            </a:pPr>
            <a:r>
              <a:rPr lang="en-US" sz="1800" i="1" dirty="0">
                <a:solidFill>
                  <a:schemeClr val="tx1"/>
                </a:solidFill>
                <a:latin typeface="Cambria" pitchFamily="34" charset="0"/>
                <a:ea typeface="Cambria" pitchFamily="34" charset="-122"/>
                <a:cs typeface="Cambria" pitchFamily="34" charset="-120"/>
              </a:rPr>
              <a:t>LS</a:t>
            </a:r>
            <a:pPr indent="0" marL="0">
              <a:buNone/>
            </a:pPr>
            <a:r>
              <a:rPr lang="en-US" sz="1800" i="1" baseline="-40000" dirty="0">
                <a:solidFill>
                  <a:schemeClr val="tx1"/>
                </a:solidFill>
                <a:latin typeface="Cambria" pitchFamily="34" charset="0"/>
                <a:ea typeface="Cambria" pitchFamily="34" charset="-122"/>
                <a:cs typeface="Cambria" pitchFamily="34" charset="-120"/>
              </a:rPr>
              <a:t>i</a:t>
            </a:r>
            <a:pPr indent="0" marL="0">
              <a:buNone/>
            </a:pPr>
            <a:r>
              <a:rPr lang="en-US" sz="1800" dirty="0">
                <a:solidFill>
                  <a:schemeClr val="tx1"/>
                </a:solidFill>
                <a:latin typeface="Cambria" pitchFamily="34" charset="0"/>
                <a:ea typeface="Cambria" pitchFamily="34" charset="-122"/>
                <a:cs typeface="Cambria" pitchFamily="34" charset="-120"/>
              </a:rPr>
              <a:t>  =  ‖ </a:t>
            </a:r>
            <a:pPr indent="0" marL="0">
              <a:buNone/>
            </a:pPr>
            <a:r>
              <a:rPr lang="en-US" sz="1800" i="1" dirty="0">
                <a:solidFill>
                  <a:schemeClr val="tx1"/>
                </a:solidFill>
                <a:latin typeface="Cambria" pitchFamily="34" charset="0"/>
                <a:ea typeface="Cambria" pitchFamily="34" charset="-122"/>
                <a:cs typeface="Cambria" pitchFamily="34" charset="-120"/>
              </a:rPr>
              <a:t>W</a:t>
            </a:r>
            <a:pPr indent="0" marL="0">
              <a:buNone/>
            </a:pPr>
            <a:r>
              <a:rPr lang="en-US" sz="1800" dirty="0">
                <a:solidFill>
                  <a:schemeClr val="tx1"/>
                </a:solidFill>
                <a:latin typeface="Cambria" pitchFamily="34" charset="0"/>
                <a:ea typeface="Cambria" pitchFamily="34" charset="-122"/>
                <a:cs typeface="Cambria" pitchFamily="34" charset="-120"/>
              </a:rPr>
              <a:t>(</a:t>
            </a:r>
            <a:pPr indent="0" marL="0">
              <a:buNone/>
            </a:pPr>
            <a:r>
              <a:rPr lang="en-US" sz="1800" i="1" dirty="0">
                <a:solidFill>
                  <a:schemeClr val="tx1"/>
                </a:solidFill>
                <a:latin typeface="Cambria" pitchFamily="34" charset="0"/>
                <a:ea typeface="Cambria" pitchFamily="34" charset="-122"/>
                <a:cs typeface="Cambria" pitchFamily="34" charset="-120"/>
              </a:rPr>
              <a:t>x</a:t>
            </a:r>
            <a:pPr indent="0" marL="0">
              <a:buNone/>
            </a:pPr>
            <a:r>
              <a:rPr lang="en-US" sz="1800" i="1" baseline="-40000" dirty="0">
                <a:solidFill>
                  <a:schemeClr val="tx1"/>
                </a:solidFill>
                <a:latin typeface="Cambria" pitchFamily="34" charset="0"/>
                <a:ea typeface="Cambria" pitchFamily="34" charset="-122"/>
                <a:cs typeface="Cambria" pitchFamily="34" charset="-120"/>
              </a:rPr>
              <a:t>i</a:t>
            </a:r>
            <a:pPr indent="0" marL="0">
              <a:buNone/>
            </a:pPr>
            <a:r>
              <a:rPr lang="en-US" sz="1800" dirty="0">
                <a:solidFill>
                  <a:schemeClr val="tx1"/>
                </a:solidFill>
                <a:latin typeface="Cambria" pitchFamily="34" charset="0"/>
                <a:ea typeface="Cambria" pitchFamily="34" charset="-122"/>
                <a:cs typeface="Cambria" pitchFamily="34" charset="-120"/>
              </a:rPr>
              <a:t> − </a:t>
            </a:r>
            <a:pPr indent="0" marL="0">
              <a:buNone/>
            </a:pPr>
            <a:r>
              <a:rPr lang="en-US" sz="1800" i="1" dirty="0">
                <a:solidFill>
                  <a:schemeClr val="tx1"/>
                </a:solidFill>
                <a:latin typeface="Cambria" pitchFamily="34" charset="0"/>
                <a:ea typeface="Cambria" pitchFamily="34" charset="-122"/>
                <a:cs typeface="Cambria" pitchFamily="34" charset="-120"/>
              </a:rPr>
              <a:t>v̂</a:t>
            </a:r>
            <a:pPr indent="0" marL="0">
              <a:buNone/>
            </a:pPr>
            <a:r>
              <a:rPr lang="en-US" sz="1800" dirty="0">
                <a:solidFill>
                  <a:schemeClr val="tx1"/>
                </a:solidFill>
                <a:latin typeface="Cambria" pitchFamily="34" charset="0"/>
                <a:ea typeface="Cambria" pitchFamily="34" charset="-122"/>
                <a:cs typeface="Cambria" pitchFamily="34" charset="-120"/>
              </a:rPr>
              <a:t>) ‖</a:t>
            </a:r>
            <a:pPr indent="0" marL="0">
              <a:buNone/>
            </a:pPr>
            <a:r>
              <a:rPr lang="en-US" sz="1800" baseline="30000" dirty="0">
                <a:solidFill>
                  <a:schemeClr val="tx1"/>
                </a:solidFill>
                <a:latin typeface="Cambria" pitchFamily="34" charset="0"/>
                <a:ea typeface="Cambria" pitchFamily="34" charset="-122"/>
                <a:cs typeface="Cambria" pitchFamily="34" charset="-120"/>
              </a:rPr>
              <a:t>2</a:t>
            </a:r>
            <a:pPr indent="0" marL="0">
              <a:buNone/>
            </a:pPr>
            <a:r>
              <a:rPr lang="en-US" sz="1800" dirty="0">
                <a:solidFill>
                  <a:schemeClr val="tx1"/>
                </a:solidFill>
                <a:latin typeface="Cambria" pitchFamily="34" charset="0"/>
                <a:ea typeface="Cambria" pitchFamily="34" charset="-122"/>
                <a:cs typeface="Cambria" pitchFamily="34" charset="-120"/>
              </a:rPr>
              <a:t>  =  Σ </a:t>
            </a:r>
            <a:pPr indent="0" marL="0">
              <a:buNone/>
            </a:pPr>
            <a:r>
              <a:rPr lang="en-US" sz="1800" i="1" dirty="0">
                <a:solidFill>
                  <a:schemeClr val="tx1"/>
                </a:solidFill>
                <a:latin typeface="Cambria" pitchFamily="34" charset="0"/>
                <a:ea typeface="Cambria" pitchFamily="34" charset="-122"/>
                <a:cs typeface="Cambria" pitchFamily="34" charset="-120"/>
              </a:rPr>
              <a:t>w</a:t>
            </a:r>
            <a:pPr indent="0" marL="0">
              <a:buNone/>
            </a:pPr>
            <a:r>
              <a:rPr lang="en-US" sz="1800" i="1" baseline="-40000" dirty="0">
                <a:solidFill>
                  <a:schemeClr val="tx1"/>
                </a:solidFill>
                <a:latin typeface="Cambria" pitchFamily="34" charset="0"/>
                <a:ea typeface="Cambria" pitchFamily="34" charset="-122"/>
                <a:cs typeface="Cambria" pitchFamily="34" charset="-120"/>
              </a:rPr>
              <a:t>j</a:t>
            </a:r>
            <a:pPr indent="0" marL="0">
              <a:buNone/>
            </a:pPr>
            <a:r>
              <a:rPr lang="en-US" sz="1800" baseline="30000" dirty="0">
                <a:solidFill>
                  <a:schemeClr val="tx1"/>
                </a:solidFill>
                <a:latin typeface="Cambria" pitchFamily="34" charset="0"/>
                <a:ea typeface="Cambria" pitchFamily="34" charset="-122"/>
                <a:cs typeface="Cambria" pitchFamily="34" charset="-120"/>
              </a:rPr>
              <a:t>2</a:t>
            </a:r>
            <a:pPr indent="0" marL="0">
              <a:buNone/>
            </a:pPr>
            <a:r>
              <a:rPr lang="en-US" sz="1800" dirty="0">
                <a:solidFill>
                  <a:schemeClr val="tx1"/>
                </a:solidFill>
                <a:latin typeface="Cambria" pitchFamily="34" charset="0"/>
                <a:ea typeface="Cambria" pitchFamily="34" charset="-122"/>
                <a:cs typeface="Cambria" pitchFamily="34" charset="-120"/>
              </a:rPr>
              <a:t> (</a:t>
            </a:r>
            <a:pPr indent="0" marL="0">
              <a:buNone/>
            </a:pPr>
            <a:r>
              <a:rPr lang="en-US" sz="1800" i="1" dirty="0">
                <a:solidFill>
                  <a:schemeClr val="tx1"/>
                </a:solidFill>
                <a:latin typeface="Cambria" pitchFamily="34" charset="0"/>
                <a:ea typeface="Cambria" pitchFamily="34" charset="-122"/>
                <a:cs typeface="Cambria" pitchFamily="34" charset="-120"/>
              </a:rPr>
              <a:t>x</a:t>
            </a:r>
            <a:pPr indent="0" marL="0">
              <a:buNone/>
            </a:pPr>
            <a:r>
              <a:rPr lang="en-US" sz="1800" i="1" baseline="-40000" dirty="0">
                <a:solidFill>
                  <a:schemeClr val="tx1"/>
                </a:solidFill>
                <a:latin typeface="Cambria" pitchFamily="34" charset="0"/>
                <a:ea typeface="Cambria" pitchFamily="34" charset="-122"/>
                <a:cs typeface="Cambria" pitchFamily="34" charset="-120"/>
              </a:rPr>
              <a:t>ij</a:t>
            </a:r>
            <a:pPr indent="0" marL="0">
              <a:buNone/>
            </a:pPr>
            <a:r>
              <a:rPr lang="en-US" sz="1800" dirty="0">
                <a:solidFill>
                  <a:schemeClr val="tx1"/>
                </a:solidFill>
                <a:latin typeface="Cambria" pitchFamily="34" charset="0"/>
                <a:ea typeface="Cambria" pitchFamily="34" charset="-122"/>
                <a:cs typeface="Cambria" pitchFamily="34" charset="-120"/>
              </a:rPr>
              <a:t> − </a:t>
            </a:r>
            <a:pPr indent="0" marL="0">
              <a:buNone/>
            </a:pPr>
            <a:r>
              <a:rPr lang="en-US" sz="1800" i="1" dirty="0">
                <a:solidFill>
                  <a:schemeClr val="tx1"/>
                </a:solidFill>
                <a:latin typeface="Cambria" pitchFamily="34" charset="0"/>
                <a:ea typeface="Cambria" pitchFamily="34" charset="-122"/>
                <a:cs typeface="Cambria" pitchFamily="34" charset="-120"/>
              </a:rPr>
              <a:t>v̂</a:t>
            </a:r>
            <a:pPr indent="0" marL="0">
              <a:buNone/>
            </a:pPr>
            <a:r>
              <a:rPr lang="en-US" sz="1800" i="1" baseline="-40000" dirty="0">
                <a:solidFill>
                  <a:schemeClr val="tx1"/>
                </a:solidFill>
                <a:latin typeface="Cambria" pitchFamily="34" charset="0"/>
                <a:ea typeface="Cambria" pitchFamily="34" charset="-122"/>
                <a:cs typeface="Cambria" pitchFamily="34" charset="-120"/>
              </a:rPr>
              <a:t>j</a:t>
            </a:r>
            <a:pPr indent="0" marL="0">
              <a:buNone/>
            </a:pPr>
            <a:r>
              <a:rPr lang="en-US" sz="1800" dirty="0">
                <a:solidFill>
                  <a:schemeClr val="tx1"/>
                </a:solidFill>
                <a:latin typeface="Cambria" pitchFamily="34" charset="0"/>
                <a:ea typeface="Cambria" pitchFamily="34" charset="-122"/>
                <a:cs typeface="Cambria" pitchFamily="34" charset="-120"/>
              </a:rPr>
              <a:t>)</a:t>
            </a:r>
            <a:pPr indent="0" marL="0">
              <a:buNone/>
            </a:pPr>
            <a:r>
              <a:rPr lang="en-US" sz="1800" baseline="30000" dirty="0">
                <a:solidFill>
                  <a:schemeClr val="tx1"/>
                </a:solidFill>
                <a:latin typeface="Cambria" pitchFamily="34" charset="0"/>
                <a:ea typeface="Cambria" pitchFamily="34" charset="-122"/>
                <a:cs typeface="Cambria" pitchFamily="34" charset="-120"/>
              </a:rPr>
              <a:t>2</a:t>
            </a:r>
            <a:endParaRPr lang="en-US" sz="1800" dirty="0"/>
          </a:p>
        </p:txBody>
      </p:sp>
      <p:sp>
        <p:nvSpPr>
          <p:cNvPr id="7" name="LS note"/>
          <p:cNvSpPr txBox="1"/>
          <p:nvPr/>
        </p:nvSpPr>
        <p:spPr>
          <a:xfrm>
            <a:off x="640080" y="2148840"/>
            <a:ext cx="4937760" cy="365760"/>
          </a:xfrm>
          <a:prstGeom prst="rect">
            <a:avLst/>
          </a:prstGeom>
          <a:noFill/>
          <a:ln/>
        </p:spPr>
        <p:txBody>
          <a:bodyPr wrap="square" lIns="0" tIns="0" rIns="0" bIns="0" rtlCol="0" anchor="t"/>
          <a:lstStyle/>
          <a:p>
            <a:pPr indent="0" marL="0">
              <a:buNone/>
            </a:pPr>
            <a:r>
              <a:rPr lang="en-US" sz="1300" dirty="0">
                <a:solidFill>
                  <a:schemeClr val="accent5"/>
                </a:solidFill>
                <a:latin typeface="Calibri" pitchFamily="34" charset="0"/>
                <a:ea typeface="Calibri" pitchFamily="34" charset="-122"/>
                <a:cs typeface="Calibri" pitchFamily="34" charset="-120"/>
              </a:rPr>
              <a:t>Small LS = the spot looks like the ideal.  </a:t>
            </a:r>
            <a:pPr indent="0" marL="0">
              <a:buNone/>
            </a:pPr>
            <a:r>
              <a:rPr lang="en-US" sz="1300" i="1" dirty="0">
                <a:solidFill>
                  <a:schemeClr val="accent5"/>
                </a:solidFill>
                <a:latin typeface="Cambria" pitchFamily="34" charset="0"/>
                <a:ea typeface="Cambria" pitchFamily="34" charset="-122"/>
                <a:cs typeface="Cambria" pitchFamily="34" charset="-120"/>
              </a:rPr>
              <a:t>W</a:t>
            </a:r>
            <a:pPr indent="0" marL="0">
              <a:buNone/>
            </a:pPr>
            <a:r>
              <a:rPr lang="en-US" sz="1300" dirty="0">
                <a:solidFill>
                  <a:schemeClr val="accent5"/>
                </a:solidFill>
                <a:latin typeface="Calibri" pitchFamily="34" charset="0"/>
                <a:ea typeface="Calibri" pitchFamily="34" charset="-122"/>
                <a:cs typeface="Calibri" pitchFamily="34" charset="-120"/>
              </a:rPr>
              <a:t> = diagonal matrix of feature weights.</a:t>
            </a:r>
            <a:endParaRPr lang="en-US" sz="1300" dirty="0"/>
          </a:p>
        </p:txBody>
      </p:sp>
      <p:sp>
        <p:nvSpPr>
          <p:cNvPr id="8" name="Total cost card"/>
          <p:cNvSpPr/>
          <p:nvPr/>
        </p:nvSpPr>
        <p:spPr>
          <a:xfrm>
            <a:off x="457200" y="2788920"/>
            <a:ext cx="5303520" cy="1188720"/>
          </a:xfrm>
          <a:prstGeom prst="roundRect">
            <a:avLst>
              <a:gd name="adj" fmla="val 7692"/>
            </a:avLst>
          </a:prstGeom>
          <a:solidFill>
            <a:schemeClr val="bg1"/>
          </a:solidFill>
          <a:ln/>
          <a:effectLst>
            <a:outerShdw sx="100000" sy="100000" kx="0" ky="0" algn="bl" rotWithShape="0" blurRad="76200" dist="25400" dir="5400000">
              <a:srgbClr val="000000">
                <a:alpha val="12000"/>
              </a:srgbClr>
            </a:outerShdw>
          </a:effectLst>
        </p:spPr>
        <p:txBody>
          <a:bodyPr/>
          <a:p/>
        </p:txBody>
      </p:sp>
      <p:sp>
        <p:nvSpPr>
          <p:cNvPr id="9" name="Cost heading"/>
          <p:cNvSpPr txBox="1"/>
          <p:nvPr/>
        </p:nvSpPr>
        <p:spPr>
          <a:xfrm>
            <a:off x="640080" y="2852928"/>
            <a:ext cx="4937760" cy="274320"/>
          </a:xfrm>
          <a:prstGeom prst="rect">
            <a:avLst/>
          </a:prstGeom>
          <a:noFill/>
          <a:ln/>
        </p:spPr>
        <p:txBody>
          <a:bodyPr wrap="square" lIns="0" tIns="0" rIns="0" bIns="0" rtlCol="0" anchor="ctr"/>
          <a:lstStyle/>
          <a:p>
            <a:pPr indent="0" marL="0">
              <a:buNone/>
            </a:pPr>
            <a:r>
              <a:rPr lang="en-US" sz="1400" b="1" dirty="0">
                <a:solidFill>
                  <a:schemeClr val="accent2"/>
                </a:solidFill>
              </a:rPr>
              <a:t>Final cost</a:t>
            </a:r>
            <a:endParaRPr lang="en-US" sz="1400" dirty="0"/>
          </a:p>
        </p:txBody>
      </p:sp>
      <p:sp>
        <p:nvSpPr>
          <p:cNvPr id="10" name="Total formula"/>
          <p:cNvSpPr txBox="1"/>
          <p:nvPr/>
        </p:nvSpPr>
        <p:spPr>
          <a:xfrm>
            <a:off x="640080" y="3127248"/>
            <a:ext cx="4937760" cy="457200"/>
          </a:xfrm>
          <a:prstGeom prst="rect">
            <a:avLst/>
          </a:prstGeom>
          <a:noFill/>
          <a:ln/>
        </p:spPr>
        <p:txBody>
          <a:bodyPr wrap="square" lIns="0" tIns="0" rIns="0" bIns="0" rtlCol="0" anchor="ctr"/>
          <a:lstStyle/>
          <a:p>
            <a:pPr indent="0" marL="0">
              <a:buNone/>
            </a:pPr>
            <a:r>
              <a:rPr lang="en-US" sz="1800" i="1" dirty="0">
                <a:solidFill>
                  <a:schemeClr val="tx1"/>
                </a:solidFill>
                <a:latin typeface="Cambria" pitchFamily="34" charset="0"/>
                <a:ea typeface="Cambria" pitchFamily="34" charset="-122"/>
                <a:cs typeface="Cambria" pitchFamily="34" charset="-120"/>
              </a:rPr>
              <a:t>Totalᵢ  =  0.60·LSᵢ  +  0.30·Gᵢⁿᵒʳᵐ  +  0.10·Lᵢⁿᵒʳᵐ</a:t>
            </a:r>
            <a:pPr indent="0" marL="0">
              <a:buNone/>
            </a:pPr>
            <a:r>
              <a:rPr lang="en-US" sz="1800" i="1" baseline="-40000" dirty="0">
                <a:solidFill>
                  <a:schemeClr val="tx1"/>
                </a:solidFill>
                <a:latin typeface="Cambria" pitchFamily="34" charset="0"/>
                <a:ea typeface="Cambria" pitchFamily="34" charset="-122"/>
                <a:cs typeface="Cambria" pitchFamily="34" charset="-120"/>
              </a:rPr>
              <a:t/>
            </a:r>
            <a:pPr indent="0" marL="0">
              <a:buNone/>
            </a:pPr>
            <a:r>
              <a:rPr lang="en-US" sz="1800" dirty="0">
                <a:solidFill>
                  <a:schemeClr val="tx1"/>
                </a:solidFill>
                <a:latin typeface="Cambria" pitchFamily="34" charset="0"/>
                <a:ea typeface="Cambria" pitchFamily="34" charset="-122"/>
                <a:cs typeface="Cambria" pitchFamily="34" charset="-120"/>
              </a:rPr>
              <a:t/>
            </a:r>
            <a:pPr indent="0" marL="0">
              <a:buNone/>
            </a:pPr>
            <a:r>
              <a:rPr lang="en-US" sz="1800" i="1" dirty="0">
                <a:solidFill>
                  <a:schemeClr val="tx1"/>
                </a:solidFill>
                <a:latin typeface="Cambria" pitchFamily="34" charset="0"/>
                <a:ea typeface="Cambria" pitchFamily="34" charset="-122"/>
                <a:cs typeface="Cambria" pitchFamily="34" charset="-120"/>
              </a:rPr>
              <a:t/>
            </a:r>
            <a:pPr indent="0" marL="0">
              <a:buNone/>
            </a:pPr>
            <a:r>
              <a:rPr lang="en-US" sz="1800" i="1" baseline="-40000" dirty="0">
                <a:solidFill>
                  <a:schemeClr val="tx1"/>
                </a:solidFill>
                <a:latin typeface="Cambria" pitchFamily="34" charset="0"/>
                <a:ea typeface="Cambria" pitchFamily="34" charset="-122"/>
                <a:cs typeface="Cambria" pitchFamily="34" charset="-120"/>
              </a:rPr>
              <a:t/>
            </a:r>
            <a:pPr indent="0" marL="0">
              <a:buNone/>
            </a:pPr>
            <a:r>
              <a:rPr lang="en-US" sz="1800" dirty="0">
                <a:solidFill>
                  <a:schemeClr val="tx1"/>
                </a:solidFill>
                <a:latin typeface="Cambria" pitchFamily="34" charset="0"/>
                <a:ea typeface="Cambria" pitchFamily="34" charset="-122"/>
                <a:cs typeface="Cambria" pitchFamily="34" charset="-120"/>
              </a:rPr>
              <a:t/>
            </a:r>
            <a:pPr indent="0" marL="0">
              <a:buNone/>
            </a:pPr>
            <a:r>
              <a:rPr lang="en-US" sz="1800" i="1" dirty="0">
                <a:solidFill>
                  <a:schemeClr val="tx1"/>
                </a:solidFill>
                <a:latin typeface="Cambria" pitchFamily="34" charset="0"/>
                <a:ea typeface="Cambria" pitchFamily="34" charset="-122"/>
                <a:cs typeface="Cambria" pitchFamily="34" charset="-120"/>
              </a:rPr>
              <a:t/>
            </a:r>
            <a:pPr indent="0" marL="0">
              <a:buNone/>
            </a:pPr>
            <a:r>
              <a:rPr lang="en-US" sz="1800" i="1" baseline="-40000" dirty="0">
                <a:solidFill>
                  <a:schemeClr val="tx1"/>
                </a:solidFill>
                <a:latin typeface="Cambria" pitchFamily="34" charset="0"/>
                <a:ea typeface="Cambria" pitchFamily="34" charset="-122"/>
                <a:cs typeface="Cambria" pitchFamily="34" charset="-120"/>
              </a:rPr>
              <a:t/>
            </a:r>
            <a:pPr indent="0" marL="0">
              <a:buNone/>
            </a:pPr>
            <a:r>
              <a:rPr lang="en-US" sz="1800" dirty="0">
                <a:solidFill>
                  <a:schemeClr val="tx1"/>
                </a:solidFill>
                <a:latin typeface="Cambria" pitchFamily="34" charset="0"/>
                <a:ea typeface="Cambria" pitchFamily="34" charset="-122"/>
                <a:cs typeface="Cambria" pitchFamily="34" charset="-120"/>
              </a:rPr>
              <a:t/>
            </a:r>
            <a:pPr indent="0" marL="0">
              <a:buNone/>
            </a:pPr>
            <a:r>
              <a:rPr lang="en-US" sz="1800" i="1" dirty="0">
                <a:solidFill>
                  <a:schemeClr val="tx1"/>
                </a:solidFill>
                <a:latin typeface="Cambria" pitchFamily="34" charset="0"/>
                <a:ea typeface="Cambria" pitchFamily="34" charset="-122"/>
                <a:cs typeface="Cambria" pitchFamily="34" charset="-120"/>
              </a:rPr>
              <a:t/>
            </a:r>
            <a:pPr indent="0" marL="0">
              <a:buNone/>
            </a:pPr>
            <a:r>
              <a:rPr lang="en-US" sz="1800" i="1" baseline="-40000" dirty="0">
                <a:solidFill>
                  <a:schemeClr val="tx1"/>
                </a:solidFill>
                <a:latin typeface="Cambria" pitchFamily="34" charset="0"/>
                <a:ea typeface="Cambria" pitchFamily="34" charset="-122"/>
                <a:cs typeface="Cambria" pitchFamily="34" charset="-120"/>
              </a:rPr>
              <a:t/>
            </a:r>
            <a:endParaRPr lang="en-US" sz="1800" dirty="0"/>
          </a:p>
        </p:txBody>
      </p:sp>
      <p:sp>
        <p:nvSpPr>
          <p:cNvPr id="11" name="Cost note"/>
          <p:cNvSpPr txBox="1"/>
          <p:nvPr/>
        </p:nvSpPr>
        <p:spPr>
          <a:xfrm>
            <a:off x="640080" y="3611880"/>
            <a:ext cx="4937760" cy="274320"/>
          </a:xfrm>
          <a:prstGeom prst="rect">
            <a:avLst/>
          </a:prstGeom>
          <a:noFill/>
          <a:ln/>
        </p:spPr>
        <p:txBody>
          <a:bodyPr wrap="square" lIns="0" tIns="0" rIns="0" bIns="0" rtlCol="0" anchor="ctr"/>
          <a:lstStyle/>
          <a:p>
            <a:pPr indent="0" marL="0">
              <a:buNone/>
            </a:pPr>
            <a:r>
              <a:rPr lang="en-US" sz="1300" i="1" dirty="0">
                <a:solidFill>
                  <a:schemeClr val="accent5"/>
                </a:solidFill>
                <a:latin typeface="Cambria" pitchFamily="34" charset="0"/>
                <a:ea typeface="Cambria" pitchFamily="34" charset="-122"/>
                <a:cs typeface="Cambria" pitchFamily="34" charset="-120"/>
              </a:rPr>
              <a:t>G = normalized distance from the gate.   L = normalized sideways offset.</a:t>
            </a:r>
            <a:pPr indent="0" marL="0">
              <a:buNone/>
            </a:pPr>
            <a:r>
              <a:rPr lang="en-US" sz="1300" dirty="0">
                <a:solidFill>
                  <a:schemeClr val="accent5"/>
                </a:solidFill>
                <a:latin typeface="Calibri" pitchFamily="34" charset="0"/>
                <a:ea typeface="Calibri" pitchFamily="34" charset="-122"/>
                <a:cs typeface="Calibri" pitchFamily="34" charset="-120"/>
              </a:rPr>
              <a:t/>
            </a:r>
            <a:pPr indent="0" marL="0">
              <a:buNone/>
            </a:pPr>
            <a:r>
              <a:rPr lang="en-US" sz="1300" i="1" dirty="0">
                <a:solidFill>
                  <a:schemeClr val="accent5"/>
                </a:solidFill>
                <a:latin typeface="Cambria" pitchFamily="34" charset="0"/>
                <a:ea typeface="Cambria" pitchFamily="34" charset="-122"/>
                <a:cs typeface="Cambria" pitchFamily="34" charset="-120"/>
              </a:rPr>
              <a:t/>
            </a:r>
            <a:pPr indent="0" marL="0">
              <a:buNone/>
            </a:pPr>
            <a:r>
              <a:rPr lang="en-US" sz="1300" dirty="0">
                <a:solidFill>
                  <a:schemeClr val="accent5"/>
                </a:solidFill>
                <a:latin typeface="Calibri" pitchFamily="34" charset="0"/>
                <a:ea typeface="Calibri" pitchFamily="34" charset="-122"/>
                <a:cs typeface="Calibri" pitchFamily="34" charset="-120"/>
              </a:rPr>
              <a:t/>
            </a:r>
            <a:endParaRPr lang="en-US" sz="1300" dirty="0"/>
          </a:p>
        </p:txBody>
      </p:sp>
      <p:sp>
        <p:nvSpPr>
          <p:cNvPr id="12" name="Winner card"/>
          <p:cNvSpPr/>
          <p:nvPr/>
        </p:nvSpPr>
        <p:spPr>
          <a:xfrm>
            <a:off x="457200" y="4114800"/>
            <a:ext cx="5303520" cy="594360"/>
          </a:xfrm>
          <a:prstGeom prst="roundRect">
            <a:avLst>
              <a:gd name="adj" fmla="val 15385"/>
            </a:avLst>
          </a:prstGeom>
          <a:solidFill>
            <a:schemeClr val="tx1"/>
          </a:solidFill>
          <a:ln/>
          <a:effectLst>
            <a:outerShdw sx="100000" sy="100000" kx="0" ky="0" algn="bl" rotWithShape="0" blurRad="76200" dist="25400" dir="5400000">
              <a:srgbClr val="000000">
                <a:alpha val="12000"/>
              </a:srgbClr>
            </a:outerShdw>
          </a:effectLst>
        </p:spPr>
        <p:txBody>
          <a:bodyPr/>
          <a:p/>
        </p:txBody>
      </p:sp>
      <p:sp>
        <p:nvSpPr>
          <p:cNvPr id="13" name="Winner formula"/>
          <p:cNvSpPr txBox="1"/>
          <p:nvPr/>
        </p:nvSpPr>
        <p:spPr>
          <a:xfrm>
            <a:off x="640080" y="4114800"/>
            <a:ext cx="4937760" cy="594360"/>
          </a:xfrm>
          <a:prstGeom prst="rect">
            <a:avLst/>
          </a:prstGeom>
          <a:noFill/>
          <a:ln/>
        </p:spPr>
        <p:txBody>
          <a:bodyPr wrap="square" lIns="0" tIns="0" rIns="0" bIns="0" rtlCol="0" anchor="ctr"/>
          <a:lstStyle/>
          <a:p>
            <a:pPr indent="0" marL="0">
              <a:buNone/>
            </a:pPr>
            <a:r>
              <a:rPr lang="en-US" sz="1800" dirty="0">
                <a:solidFill>
                  <a:schemeClr val="bg1"/>
                </a:solidFill>
                <a:latin typeface="Cambria" pitchFamily="34" charset="0"/>
                <a:ea typeface="Cambria" pitchFamily="34" charset="-122"/>
                <a:cs typeface="Cambria" pitchFamily="34" charset="-120"/>
              </a:rPr>
              <a:t>Winner:   </a:t>
            </a:r>
            <a:pPr indent="0" marL="0">
              <a:buNone/>
            </a:pPr>
            <a:r>
              <a:rPr lang="en-US" sz="1800" i="1" dirty="0">
                <a:solidFill>
                  <a:schemeClr val="accent1"/>
                </a:solidFill>
                <a:latin typeface="Cambria" pitchFamily="34" charset="0"/>
                <a:ea typeface="Cambria" pitchFamily="34" charset="-122"/>
                <a:cs typeface="Cambria" pitchFamily="34" charset="-120"/>
              </a:rPr>
              <a:t>i</a:t>
            </a:r>
            <a:pPr indent="0" marL="0">
              <a:buNone/>
            </a:pPr>
            <a:r>
              <a:rPr lang="en-US" sz="1800" dirty="0">
                <a:solidFill>
                  <a:schemeClr val="bg1"/>
                </a:solidFill>
                <a:latin typeface="Cambria" pitchFamily="34" charset="0"/>
                <a:ea typeface="Cambria" pitchFamily="34" charset="-122"/>
                <a:cs typeface="Cambria" pitchFamily="34" charset="-120"/>
              </a:rPr>
              <a:t>*  =  arg min</a:t>
            </a:r>
            <a:pPr indent="0" marL="0">
              <a:buNone/>
            </a:pPr>
            <a:r>
              <a:rPr lang="en-US" sz="1800" i="1" baseline="-40000" dirty="0">
                <a:solidFill>
                  <a:schemeClr val="bg1"/>
                </a:solidFill>
                <a:latin typeface="Cambria" pitchFamily="34" charset="0"/>
                <a:ea typeface="Cambria" pitchFamily="34" charset="-122"/>
                <a:cs typeface="Cambria" pitchFamily="34" charset="-120"/>
              </a:rPr>
              <a:t>i</a:t>
            </a:r>
            <a:pPr indent="0" marL="0">
              <a:buNone/>
            </a:pPr>
            <a:r>
              <a:rPr lang="en-US" sz="1800" dirty="0">
                <a:solidFill>
                  <a:schemeClr val="bg1"/>
                </a:solidFill>
                <a:latin typeface="Cambria" pitchFamily="34" charset="0"/>
                <a:ea typeface="Cambria" pitchFamily="34" charset="-122"/>
                <a:cs typeface="Cambria" pitchFamily="34" charset="-120"/>
              </a:rPr>
              <a:t>  </a:t>
            </a:r>
            <a:pPr indent="0" marL="0">
              <a:buNone/>
            </a:pPr>
            <a:r>
              <a:rPr lang="en-US" sz="1800" i="1" dirty="0">
                <a:solidFill>
                  <a:schemeClr val="bg1"/>
                </a:solidFill>
                <a:latin typeface="Cambria" pitchFamily="34" charset="0"/>
                <a:ea typeface="Cambria" pitchFamily="34" charset="-122"/>
                <a:cs typeface="Cambria" pitchFamily="34" charset="-120"/>
              </a:rPr>
              <a:t>Total</a:t>
            </a:r>
            <a:pPr indent="0" marL="0">
              <a:buNone/>
            </a:pPr>
            <a:r>
              <a:rPr lang="en-US" sz="1800" i="1" baseline="-40000" dirty="0">
                <a:solidFill>
                  <a:schemeClr val="bg1"/>
                </a:solidFill>
                <a:latin typeface="Cambria" pitchFamily="34" charset="0"/>
                <a:ea typeface="Cambria" pitchFamily="34" charset="-122"/>
                <a:cs typeface="Cambria" pitchFamily="34" charset="-120"/>
              </a:rPr>
              <a:t>i</a:t>
            </a:r>
            <a:pPr indent="0" marL="0">
              <a:buNone/>
            </a:pPr>
            <a:r>
              <a:rPr lang="en-US" sz="1400" dirty="0">
                <a:solidFill>
                  <a:schemeClr val="bg2"/>
                </a:solidFill>
                <a:latin typeface="Calibri" pitchFamily="34" charset="0"/>
                <a:ea typeface="Calibri" pitchFamily="34" charset="-122"/>
                <a:cs typeface="Calibri" pitchFamily="34" charset="-120"/>
              </a:rPr>
              <a:t>      lowest cost wins</a:t>
            </a:r>
            <a:endParaRPr lang="en-US" sz="1800" dirty="0"/>
          </a:p>
        </p:txBody>
      </p:sp>
      <p:sp>
        <p:nvSpPr>
          <p:cNvPr id="14" name="Chart heading"/>
          <p:cNvSpPr txBox="1"/>
          <p:nvPr/>
        </p:nvSpPr>
        <p:spPr>
          <a:xfrm>
            <a:off x="5989320" y="1280160"/>
            <a:ext cx="2697480" cy="274320"/>
          </a:xfrm>
          <a:prstGeom prst="rect">
            <a:avLst/>
          </a:prstGeom>
          <a:noFill/>
          <a:ln/>
        </p:spPr>
        <p:txBody>
          <a:bodyPr wrap="square" lIns="0" tIns="0" rIns="0" bIns="0" rtlCol="0" anchor="ctr"/>
          <a:lstStyle/>
          <a:p>
            <a:pPr indent="0" marL="0">
              <a:buNone/>
            </a:pPr>
            <a:r>
              <a:rPr lang="en-US" sz="1600" b="1" dirty="0">
                <a:solidFill>
                  <a:schemeClr val="tx1"/>
                </a:solidFill>
              </a:rPr>
              <a:t>Weights in the final cost</a:t>
            </a:r>
            <a:endParaRPr lang="en-US" sz="1600" dirty="0"/>
          </a:p>
        </p:txBody>
      </p:sp>
      <p:sp>
        <p:nvSpPr>
          <p:cNvPr id="15" name="Donut card"/>
          <p:cNvSpPr/>
          <p:nvPr/>
        </p:nvSpPr>
        <p:spPr>
          <a:xfrm>
            <a:off x="5989320" y="1645920"/>
            <a:ext cx="2697480" cy="3063240"/>
          </a:xfrm>
          <a:prstGeom prst="roundRect">
            <a:avLst>
              <a:gd name="adj" fmla="val 3390"/>
            </a:avLst>
          </a:prstGeom>
          <a:solidFill>
            <a:schemeClr val="bg1"/>
          </a:solidFill>
          <a:ln/>
          <a:effectLst>
            <a:outerShdw sx="100000" sy="100000" kx="0" ky="0" algn="bl" rotWithShape="0" blurRad="76200" dist="25400" dir="5400000">
              <a:srgbClr val="000000">
                <a:alpha val="12000"/>
              </a:srgbClr>
            </a:outerShdw>
          </a:effectLst>
        </p:spPr>
        <p:txBody>
          <a:bodyPr/>
          <a:p/>
        </p:txBody>
      </p:sp>
      <p:graphicFrame>
        <p:nvGraphicFramePr>
          <p:cNvPr id="16" name="Chart 0" descr=""/>
          <p:cNvGraphicFramePr/>
          <p:nvPr/>
        </p:nvGraphicFramePr>
        <p:xfrm>
          <a:off x="6035040" y="1691640"/>
          <a:ext cx="2606040" cy="297180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ection badge"/>
          <p:cNvSpPr txBox="1"/>
          <p:nvPr/>
        </p:nvSpPr>
        <p:spPr>
          <a:xfrm>
            <a:off x="457200" y="228600"/>
            <a:ext cx="2537460" cy="256032"/>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dirty="0">
                <a:solidFill>
                  <a:schemeClr val="bg1"/>
                </a:solidFill>
              </a:rPr>
              <a:t>WORKED EXAMPLE  ·  1 OF 2</a:t>
            </a:r>
            <a:endParaRPr lang="en-US" sz="1000" dirty="0"/>
          </a:p>
        </p:txBody>
      </p:sp>
      <p:sp>
        <p:nvSpPr>
          <p:cNvPr id="3" name="Text 0"/>
          <p:cNvSpPr/>
          <p:nvPr>
            <p:ph idx="100"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Illustrative numerical example</a:t>
            </a:r>
            <a:endParaRPr lang="en-US" sz="3200" dirty="0"/>
          </a:p>
        </p:txBody>
      </p:sp>
      <p:sp>
        <p:nvSpPr>
          <p:cNvPr id="4" name="Vehicle card"/>
          <p:cNvSpPr/>
          <p:nvPr/>
        </p:nvSpPr>
        <p:spPr>
          <a:xfrm>
            <a:off x="457200" y="1280160"/>
            <a:ext cx="4206240" cy="777240"/>
          </a:xfrm>
          <a:prstGeom prst="roundRect">
            <a:avLst>
              <a:gd name="adj" fmla="val 11765"/>
            </a:avLst>
          </a:prstGeom>
          <a:solidFill>
            <a:schemeClr val="tx1"/>
          </a:solidFill>
          <a:ln/>
          <a:effectLst>
            <a:outerShdw sx="100000" sy="100000" kx="0" ky="0" algn="bl" rotWithShape="0" blurRad="76200" dist="25400" dir="5400000">
              <a:srgbClr val="000000">
                <a:alpha val="12000"/>
              </a:srgbClr>
            </a:outerShdw>
          </a:effectLst>
        </p:spPr>
        <p:txBody>
          <a:bodyPr/>
          <a:p/>
        </p:txBody>
      </p:sp>
      <p:sp>
        <p:nvSpPr>
          <p:cNvPr id="5" name="Vehicle vector example"/>
          <p:cNvSpPr txBox="1"/>
          <p:nvPr/>
        </p:nvSpPr>
        <p:spPr>
          <a:xfrm>
            <a:off x="640080" y="1280160"/>
            <a:ext cx="3931920" cy="777240"/>
          </a:xfrm>
          <a:prstGeom prst="rect">
            <a:avLst/>
          </a:prstGeom>
          <a:noFill/>
          <a:ln/>
        </p:spPr>
        <p:txBody>
          <a:bodyPr wrap="square" lIns="0" tIns="0" rIns="0" bIns="0" rtlCol="0" anchor="ctr"/>
          <a:lstStyle/>
          <a:p>
            <a:pPr indent="0" marL="0">
              <a:buNone/>
            </a:pPr>
            <a:r>
              <a:rPr lang="en-US" sz="1300" b="1" dirty="0">
                <a:solidFill>
                  <a:schemeClr val="accent1"/>
                </a:solidFill>
                <a:latin typeface="Calibri" pitchFamily="34" charset="0"/>
                <a:ea typeface="Calibri" pitchFamily="34" charset="-122"/>
                <a:cs typeface="Calibri" pitchFamily="34" charset="-120"/>
              </a:rPr>
              <a:t>EV car, standard size, at the gate</a:t>
            </a:r>
            <a:endParaRPr lang="en-US" sz="1900" dirty="0"/>
          </a:p>
          <a:p>
            <a:pPr indent="0" marL="0">
              <a:buNone/>
            </a:pPr>
            <a:r>
              <a:rPr lang="en-US" sz="1900" i="1" dirty="0">
                <a:solidFill>
                  <a:schemeClr val="bg1"/>
                </a:solidFill>
                <a:latin typeface="Cambria" pitchFamily="34" charset="0"/>
                <a:ea typeface="Cambria" pitchFamily="34" charset="-122"/>
                <a:cs typeface="Cambria" pitchFamily="34" charset="-120"/>
              </a:rPr>
              <a:t>v</a:t>
            </a:r>
            <a:pPr indent="0" marL="0">
              <a:buNone/>
            </a:pPr>
            <a:r>
              <a:rPr lang="en-US" sz="1900" dirty="0">
                <a:solidFill>
                  <a:schemeClr val="bg1"/>
                </a:solidFill>
                <a:latin typeface="Cambria" pitchFamily="34" charset="0"/>
                <a:ea typeface="Cambria" pitchFamily="34" charset="-122"/>
                <a:cs typeface="Cambria" pitchFamily="34" charset="-120"/>
              </a:rPr>
              <a:t>  =  [ 0, 0, 1, 0, 0.67 ]</a:t>
            </a:r>
            <a:endParaRPr lang="en-US" sz="1900" dirty="0"/>
          </a:p>
        </p:txBody>
      </p:sp>
      <p:graphicFrame>
        <p:nvGraphicFramePr>
          <p:cNvPr id="11" name="Feasible matrix table"/>
          <p:cNvGraphicFramePr>
            <a:graphicFrameLocks noGrp="1"/>
          </p:cNvGraphicFramePr>
          <p:nvPr>
            <p:extLst>
              <p:ext uri="{D42A27DB-BD31-4B8C-83A1-F6EECF244321}">
                <p14:modId xmlns:p14="http://schemas.microsoft.com/office/powerpoint/2010/main" val="1579011935"/>
              </p:ext>
            </p:extLst>
          </p:nvPr>
        </p:nvGraphicFramePr>
        <p:xfrm>
          <a:off x="457200" y="2240280"/>
          <a:ext cx="4206240" cy="914400"/>
        </p:xfrm>
        <a:graphic>
          <a:graphicData uri="http://schemas.openxmlformats.org/drawingml/2006/table">
            <a:tbl>
              <a:tblPr/>
              <a:tblGrid>
                <a:gridCol w="822960"/>
                <a:gridCol w="676656"/>
                <a:gridCol w="676656"/>
                <a:gridCol w="676656"/>
                <a:gridCol w="676656"/>
                <a:gridCol w="676656"/>
              </a:tblGrid>
              <a:tr h="365760">
                <a:tc>
                  <a:txBody>
                    <a:bodyPr/>
                    <a:lstStyle/>
                    <a:p>
                      <a:pPr algn="ctr" indent="0" marL="0">
                        <a:buNone/>
                      </a:pPr>
                      <a:r>
                        <a:rPr lang="en-US" sz="1400" b="1" dirty="0">
                          <a:solidFill>
                            <a:schemeClr val="bg1"/>
                          </a:solidFill>
                          <a:latin typeface="Cambria" pitchFamily="34" charset="0"/>
                          <a:ea typeface="Cambria" pitchFamily="34" charset="-122"/>
                          <a:cs typeface="Cambria" pitchFamily="34" charset="-120"/>
                        </a:rPr>
                        <a:t>Spot</a:t>
                      </a:r>
                      <a:endParaRPr lang="en-US" sz="1400" dirty="0">
                        <a:latin typeface="Cambria" charset="0"/>
                        <a:ea typeface="Cambria" charset="0"/>
                        <a:cs typeface="Cambria"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algn="ctr" indent="0" marL="0">
                        <a:buNone/>
                      </a:pPr>
                      <a:r>
                        <a:rPr lang="en-US" sz="1400" b="1" i="1" dirty="0">
                          <a:solidFill>
                            <a:schemeClr val="bg1"/>
                          </a:solidFill>
                          <a:latin typeface="Cambria" pitchFamily="34" charset="0"/>
                          <a:ea typeface="Cambria" pitchFamily="34" charset="-122"/>
                          <a:cs typeface="Cambria" pitchFamily="34" charset="-120"/>
                        </a:rPr>
                        <a:t>dx</a:t>
                      </a:r>
                      <a:endParaRPr lang="en-US" sz="1400" dirty="0">
                        <a:latin typeface="Cambria" charset="0"/>
                        <a:ea typeface="Cambria" charset="0"/>
                        <a:cs typeface="Cambria"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algn="ctr" indent="0" marL="0">
                        <a:buNone/>
                      </a:pPr>
                      <a:r>
                        <a:rPr lang="en-US" sz="1400" b="1" i="1" dirty="0">
                          <a:solidFill>
                            <a:schemeClr val="bg1"/>
                          </a:solidFill>
                          <a:latin typeface="Cambria" pitchFamily="34" charset="0"/>
                          <a:ea typeface="Cambria" pitchFamily="34" charset="-122"/>
                          <a:cs typeface="Cambria" pitchFamily="34" charset="-120"/>
                        </a:rPr>
                        <a:t>dy</a:t>
                      </a:r>
                      <a:endParaRPr lang="en-US" sz="1400" dirty="0">
                        <a:latin typeface="Cambria" charset="0"/>
                        <a:ea typeface="Cambria" charset="0"/>
                        <a:cs typeface="Cambria"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algn="ctr" indent="0" marL="0">
                        <a:buNone/>
                      </a:pPr>
                      <a:r>
                        <a:rPr lang="en-US" sz="1400" b="1" i="1" dirty="0">
                          <a:solidFill>
                            <a:schemeClr val="bg1"/>
                          </a:solidFill>
                          <a:latin typeface="Cambria" pitchFamily="34" charset="0"/>
                          <a:ea typeface="Cambria" pitchFamily="34" charset="-122"/>
                          <a:cs typeface="Cambria" pitchFamily="34" charset="-120"/>
                        </a:rPr>
                        <a:t>EV</a:t>
                      </a:r>
                      <a:endParaRPr lang="en-US" sz="1400" dirty="0">
                        <a:latin typeface="Cambria" charset="0"/>
                        <a:ea typeface="Cambria" charset="0"/>
                        <a:cs typeface="Cambria"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algn="ctr" indent="0" marL="0">
                        <a:buNone/>
                      </a:pPr>
                      <a:r>
                        <a:rPr lang="en-US" sz="1400" b="1" i="1" dirty="0">
                          <a:solidFill>
                            <a:schemeClr val="bg1"/>
                          </a:solidFill>
                          <a:latin typeface="Cambria" pitchFamily="34" charset="0"/>
                          <a:ea typeface="Cambria" pitchFamily="34" charset="-122"/>
                          <a:cs typeface="Cambria" pitchFamily="34" charset="-120"/>
                        </a:rPr>
                        <a:t>Acc</a:t>
                      </a:r>
                      <a:endParaRPr lang="en-US" sz="1400" dirty="0">
                        <a:latin typeface="Cambria" charset="0"/>
                        <a:ea typeface="Cambria" charset="0"/>
                        <a:cs typeface="Cambria"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algn="ctr" indent="0" marL="0">
                        <a:buNone/>
                      </a:pPr>
                      <a:r>
                        <a:rPr lang="en-US" sz="1400" b="1" i="1" dirty="0">
                          <a:solidFill>
                            <a:schemeClr val="bg1"/>
                          </a:solidFill>
                          <a:latin typeface="Cambria" pitchFamily="34" charset="0"/>
                          <a:ea typeface="Cambria" pitchFamily="34" charset="-122"/>
                          <a:cs typeface="Cambria" pitchFamily="34" charset="-120"/>
                        </a:rPr>
                        <a:t>Size</a:t>
                      </a:r>
                      <a:endParaRPr lang="en-US" sz="1400" dirty="0">
                        <a:latin typeface="Cambria" charset="0"/>
                        <a:ea typeface="Cambria" charset="0"/>
                        <a:cs typeface="Cambria"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r>
              <a:tr h="365760">
                <a:tc>
                  <a:txBody>
                    <a:bodyPr/>
                    <a:lstStyle/>
                    <a:p>
                      <a:pPr algn="l" indent="0" marL="0">
                        <a:buNone/>
                      </a:pPr>
                      <a:r>
                        <a:rPr lang="en-US" sz="1400" b="1" dirty="0">
                          <a:solidFill>
                            <a:srgbClr val="000000"/>
                          </a:solidFill>
                        </a:rPr>
                        <a:t>S01</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chemeClr val="tx1"/>
                          </a:solidFill>
                        </a:rPr>
                        <a:t>0.43</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0.18</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1.00</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0.00</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0.67</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r h="365760">
                <a:tc>
                  <a:txBody>
                    <a:bodyPr/>
                    <a:lstStyle/>
                    <a:p>
                      <a:pPr algn="l" indent="0" marL="0">
                        <a:buNone/>
                      </a:pPr>
                      <a:r>
                        <a:rPr lang="en-US" sz="1400" b="1" dirty="0">
                          <a:solidFill>
                            <a:srgbClr val="000000"/>
                          </a:solidFill>
                        </a:rPr>
                        <a:t>S02</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chemeClr val="tx1"/>
                          </a:solidFill>
                        </a:rPr>
                        <a:t>0.86</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0.18</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1.00</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0.00</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0.67</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r h="365760">
                <a:tc>
                  <a:txBody>
                    <a:bodyPr/>
                    <a:lstStyle/>
                    <a:p>
                      <a:pPr algn="l" indent="0" marL="0">
                        <a:buNone/>
                      </a:pPr>
                      <a:r>
                        <a:rPr lang="en-US" sz="1400" b="1" dirty="0">
                          <a:solidFill>
                            <a:srgbClr val="000000"/>
                          </a:solidFill>
                        </a:rPr>
                        <a:t>S03</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chemeClr val="tx1"/>
                          </a:solidFill>
                        </a:rPr>
                        <a:t>0.29</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0.36</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1.00</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0.00</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1.00</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r h="365760">
                <a:tc>
                  <a:txBody>
                    <a:bodyPr/>
                    <a:lstStyle/>
                    <a:p>
                      <a:pPr algn="l" indent="0" marL="0">
                        <a:buNone/>
                      </a:pPr>
                      <a:r>
                        <a:rPr lang="en-US" sz="1400" b="1" dirty="0">
                          <a:solidFill>
                            <a:srgbClr val="000000"/>
                          </a:solidFill>
                        </a:rPr>
                        <a:t>S04</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chemeClr val="tx1"/>
                          </a:solidFill>
                        </a:rPr>
                        <a:t>0.71</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0.36</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1.00</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0.00</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1.00</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bl>
          </a:graphicData>
        </a:graphic>
      </p:graphicFrame>
      <p:sp>
        <p:nvSpPr>
          <p:cNvPr id="7" name="Rank note"/>
          <p:cNvSpPr txBox="1"/>
          <p:nvPr/>
        </p:nvSpPr>
        <p:spPr>
          <a:xfrm>
            <a:off x="457200" y="4160520"/>
            <a:ext cx="4206240" cy="548640"/>
          </a:xfrm>
          <a:prstGeom prst="rect">
            <a:avLst/>
          </a:prstGeom>
          <a:noFill/>
          <a:ln/>
        </p:spPr>
        <p:txBody>
          <a:bodyPr wrap="square" lIns="0" tIns="0" rIns="0" bIns="0" rtlCol="0" anchor="t"/>
          <a:lstStyle/>
          <a:p>
            <a:pPr indent="0" marL="0">
              <a:buNone/>
            </a:pPr>
            <a:r>
              <a:rPr lang="en-US" sz="1400" b="1" dirty="0">
                <a:solidFill>
                  <a:schemeClr val="accent3"/>
                </a:solidFill>
                <a:latin typeface="Cambria" pitchFamily="34" charset="0"/>
                <a:ea typeface="Cambria" pitchFamily="34" charset="-122"/>
                <a:cs typeface="Cambria" pitchFamily="34" charset="-120"/>
              </a:rPr>
              <a:t>rank(</a:t>
            </a:r>
            <a:pPr indent="0" marL="0">
              <a:buNone/>
            </a:pPr>
            <a:r>
              <a:rPr lang="en-US" sz="1400" b="1" i="1" dirty="0">
                <a:solidFill>
                  <a:schemeClr val="accent3"/>
                </a:solidFill>
                <a:latin typeface="Cambria" pitchFamily="34" charset="0"/>
                <a:ea typeface="Cambria" pitchFamily="34" charset="-122"/>
                <a:cs typeface="Cambria" pitchFamily="34" charset="-120"/>
              </a:rPr>
              <a:t>X</a:t>
            </a:r>
            <a:pPr indent="0" marL="0">
              <a:buNone/>
            </a:pPr>
            <a:r>
              <a:rPr lang="en-US" sz="1400" b="1" dirty="0">
                <a:solidFill>
                  <a:schemeClr val="accent3"/>
                </a:solidFill>
                <a:latin typeface="Cambria" pitchFamily="34" charset="0"/>
                <a:ea typeface="Cambria" pitchFamily="34" charset="-122"/>
                <a:cs typeface="Cambria" pitchFamily="34" charset="-120"/>
              </a:rPr>
              <a:t>) = 3 and det(</a:t>
            </a:r>
            <a:pPr indent="0" marL="0">
              <a:buNone/>
            </a:pPr>
            <a:r>
              <a:rPr lang="en-US" sz="1400" b="1" i="1" dirty="0">
                <a:solidFill>
                  <a:schemeClr val="accent3"/>
                </a:solidFill>
                <a:latin typeface="Cambria" pitchFamily="34" charset="0"/>
                <a:ea typeface="Cambria" pitchFamily="34" charset="-122"/>
                <a:cs typeface="Cambria" pitchFamily="34" charset="-120"/>
              </a:rPr>
              <a:t>X</a:t>
            </a:r>
            <a:pPr indent="0" marL="0">
              <a:buNone/>
            </a:pPr>
            <a:r>
              <a:rPr lang="en-US" sz="1400" b="1" i="1" dirty="0">
                <a:solidFill>
                  <a:schemeClr val="accent3"/>
                </a:solidFill>
                <a:latin typeface="Cambria" pitchFamily="34" charset="0"/>
                <a:ea typeface="Cambria" pitchFamily="34" charset="-122"/>
                <a:cs typeface="Cambria" pitchFamily="34" charset="-120"/>
              </a:rPr>
              <a:t>X</a:t>
            </a:r>
            <a:pPr indent="0" marL="0">
              <a:buNone/>
            </a:pPr>
            <a:r>
              <a:rPr lang="en-US" sz="1400" b="1" baseline="30000" dirty="0">
                <a:solidFill>
                  <a:schemeClr val="accent3"/>
                </a:solidFill>
                <a:latin typeface="Cambria" pitchFamily="34" charset="0"/>
                <a:ea typeface="Cambria" pitchFamily="34" charset="-122"/>
                <a:cs typeface="Cambria" pitchFamily="34" charset="-120"/>
              </a:rPr>
              <a:t>T</a:t>
            </a:r>
            <a:pPr indent="0" marL="0">
              <a:buNone/>
            </a:pPr>
            <a:r>
              <a:rPr lang="en-US" sz="1400" b="1" dirty="0">
                <a:solidFill>
                  <a:schemeClr val="accent3"/>
                </a:solidFill>
                <a:latin typeface="Cambria" pitchFamily="34" charset="0"/>
                <a:ea typeface="Cambria" pitchFamily="34" charset="-122"/>
                <a:cs typeface="Cambria" pitchFamily="34" charset="-120"/>
              </a:rPr>
              <a:t>) ≈ 0, so </a:t>
            </a:r>
            <a:pPr indent="0" marL="0">
              <a:buNone/>
            </a:pPr>
            <a:r>
              <a:rPr lang="en-US" sz="1400" b="1" i="1" dirty="0">
                <a:solidFill>
                  <a:schemeClr val="accent3"/>
                </a:solidFill>
                <a:latin typeface="Cambria" pitchFamily="34" charset="0"/>
                <a:ea typeface="Cambria" pitchFamily="34" charset="-122"/>
                <a:cs typeface="Cambria" pitchFamily="34" charset="-120"/>
              </a:rPr>
              <a:t>X</a:t>
            </a:r>
            <a:pPr indent="0" marL="0">
              <a:buNone/>
            </a:pPr>
            <a:r>
              <a:rPr lang="en-US" sz="1400" b="1" i="1" dirty="0">
                <a:solidFill>
                  <a:schemeClr val="accent3"/>
                </a:solidFill>
                <a:latin typeface="Cambria" pitchFamily="34" charset="0"/>
                <a:ea typeface="Cambria" pitchFamily="34" charset="-122"/>
                <a:cs typeface="Cambria" pitchFamily="34" charset="-120"/>
              </a:rPr>
              <a:t>X</a:t>
            </a:r>
            <a:pPr indent="0" marL="0">
              <a:buNone/>
            </a:pPr>
            <a:r>
              <a:rPr lang="en-US" sz="1400" b="1" baseline="30000" dirty="0">
                <a:solidFill>
                  <a:schemeClr val="accent3"/>
                </a:solidFill>
                <a:latin typeface="Cambria" pitchFamily="34" charset="0"/>
                <a:ea typeface="Cambria" pitchFamily="34" charset="-122"/>
                <a:cs typeface="Cambria" pitchFamily="34" charset="-120"/>
              </a:rPr>
              <a:t>T</a:t>
            </a:r>
            <a:pPr indent="0" marL="0">
              <a:buNone/>
            </a:pPr>
            <a:r>
              <a:rPr lang="en-US" sz="1400" b="1" dirty="0">
                <a:solidFill>
                  <a:schemeClr val="accent3"/>
                </a:solidFill>
                <a:latin typeface="Calibri" pitchFamily="34" charset="0"/>
                <a:ea typeface="Calibri" pitchFamily="34" charset="-122"/>
                <a:cs typeface="Calibri" pitchFamily="34" charset="-120"/>
              </a:rPr>
              <a:t> has no inverse. We use the pseudoinverse.</a:t>
            </a:r>
            <a:endParaRPr lang="en-US" sz="1400" dirty="0"/>
          </a:p>
        </p:txBody>
      </p:sp>
      <p:sp>
        <p:nvSpPr>
          <p:cNvPr id="8" name="Result card 1"/>
          <p:cNvSpPr/>
          <p:nvPr/>
        </p:nvSpPr>
        <p:spPr>
          <a:xfrm>
            <a:off x="4892040" y="1280160"/>
            <a:ext cx="3794760" cy="841248"/>
          </a:xfrm>
          <a:prstGeom prst="roundRect">
            <a:avLst>
              <a:gd name="adj" fmla="val 10870"/>
            </a:avLst>
          </a:prstGeom>
          <a:solidFill>
            <a:schemeClr val="bg1"/>
          </a:solidFill>
          <a:ln/>
          <a:effectLst>
            <a:outerShdw sx="100000" sy="100000" kx="0" ky="0" algn="bl" rotWithShape="0" blurRad="76200" dist="25400" dir="5400000">
              <a:srgbClr val="000000">
                <a:alpha val="12000"/>
              </a:srgbClr>
            </a:outerShdw>
          </a:effectLst>
        </p:spPr>
        <p:txBody>
          <a:bodyPr/>
          <a:p/>
        </p:txBody>
      </p:sp>
      <p:sp>
        <p:nvSpPr>
          <p:cNvPr id="9" name="Result label 1"/>
          <p:cNvSpPr txBox="1"/>
          <p:nvPr/>
        </p:nvSpPr>
        <p:spPr>
          <a:xfrm>
            <a:off x="5074920" y="1353312"/>
            <a:ext cx="3383280" cy="201168"/>
          </a:xfrm>
          <a:prstGeom prst="rect">
            <a:avLst/>
          </a:prstGeom>
          <a:noFill/>
          <a:ln/>
        </p:spPr>
        <p:txBody>
          <a:bodyPr wrap="square" lIns="0" tIns="0" rIns="0" bIns="0" rtlCol="0" anchor="ctr"/>
          <a:lstStyle/>
          <a:p>
            <a:pPr indent="0" marL="0">
              <a:buNone/>
            </a:pPr>
            <a:r>
              <a:rPr lang="en-US" sz="1000" b="1" spc="300" kern="0" dirty="0">
                <a:solidFill>
                  <a:schemeClr val="accent2"/>
                </a:solidFill>
              </a:rPr>
              <a:t>PROJECTION</a:t>
            </a:r>
            <a:endParaRPr lang="en-US" sz="1000" dirty="0"/>
          </a:p>
        </p:txBody>
      </p:sp>
      <p:sp>
        <p:nvSpPr>
          <p:cNvPr id="10" name="Result value 1"/>
          <p:cNvSpPr txBox="1"/>
          <p:nvPr/>
        </p:nvSpPr>
        <p:spPr>
          <a:xfrm>
            <a:off x="5074920" y="1572768"/>
            <a:ext cx="3474720" cy="457200"/>
          </a:xfrm>
          <a:prstGeom prst="rect">
            <a:avLst/>
          </a:prstGeom>
          <a:noFill/>
          <a:ln/>
        </p:spPr>
        <p:txBody>
          <a:bodyPr wrap="square" lIns="0" tIns="0" rIns="0" bIns="0" rtlCol="0" anchor="ctr"/>
          <a:lstStyle/>
          <a:p>
            <a:pPr indent="0" marL="0">
              <a:buNone/>
            </a:pPr>
            <a:r>
              <a:rPr lang="en-US" sz="1400" i="1" dirty="0">
                <a:solidFill>
                  <a:schemeClr val="tx1"/>
                </a:solidFill>
                <a:latin typeface="Cambria" pitchFamily="34" charset="0"/>
                <a:ea typeface="Cambria" pitchFamily="34" charset="-122"/>
                <a:cs typeface="Cambria" pitchFamily="34" charset="-120"/>
              </a:rPr>
              <a:t>v̂</a:t>
            </a:r>
            <a:pPr indent="0" marL="0">
              <a:buNone/>
            </a:pPr>
            <a:r>
              <a:rPr lang="en-US" sz="1400" dirty="0">
                <a:solidFill>
                  <a:schemeClr val="tx1"/>
                </a:solidFill>
                <a:latin typeface="Cambria" pitchFamily="34" charset="0"/>
                <a:ea typeface="Cambria" pitchFamily="34" charset="-122"/>
                <a:cs typeface="Cambria" pitchFamily="34" charset="-120"/>
              </a:rPr>
              <a:t> = </a:t>
            </a:r>
            <a:pPr indent="0" marL="0">
              <a:buNone/>
            </a:pPr>
            <a:r>
              <a:rPr lang="en-US" sz="1400" i="1" dirty="0">
                <a:solidFill>
                  <a:schemeClr val="tx1"/>
                </a:solidFill>
                <a:latin typeface="Cambria" pitchFamily="34" charset="0"/>
                <a:ea typeface="Cambria" pitchFamily="34" charset="-122"/>
                <a:cs typeface="Cambria" pitchFamily="34" charset="-120"/>
              </a:rPr>
              <a:t>P</a:t>
            </a:r>
            <a:pPr indent="0" marL="0">
              <a:buNone/>
            </a:pPr>
            <a:r>
              <a:rPr lang="en-US" sz="1400" i="1" dirty="0">
                <a:solidFill>
                  <a:schemeClr val="tx1"/>
                </a:solidFill>
                <a:latin typeface="Cambria" pitchFamily="34" charset="0"/>
                <a:ea typeface="Cambria" pitchFamily="34" charset="-122"/>
                <a:cs typeface="Cambria" pitchFamily="34" charset="-120"/>
              </a:rPr>
              <a:t>v</a:t>
            </a:r>
            <a:pPr indent="0" marL="0">
              <a:buNone/>
            </a:pPr>
            <a:r>
              <a:rPr lang="en-US" sz="1400" dirty="0">
                <a:solidFill>
                  <a:schemeClr val="tx1"/>
                </a:solidFill>
                <a:latin typeface="Cambria" pitchFamily="34" charset="0"/>
                <a:ea typeface="Cambria" pitchFamily="34" charset="-122"/>
                <a:cs typeface="Cambria" pitchFamily="34" charset="-120"/>
              </a:rPr>
              <a:t> = [0.000, 0.135, 1.025, 0.000, 0.596]</a:t>
            </a:r>
            <a:endParaRPr lang="en-US" sz="1400" dirty="0"/>
          </a:p>
        </p:txBody>
      </p:sp>
      <p:sp>
        <p:nvSpPr>
          <p:cNvPr id="11" name="Result card 2"/>
          <p:cNvSpPr/>
          <p:nvPr/>
        </p:nvSpPr>
        <p:spPr>
          <a:xfrm>
            <a:off x="4892040" y="2240280"/>
            <a:ext cx="3794760" cy="841248"/>
          </a:xfrm>
          <a:prstGeom prst="roundRect">
            <a:avLst>
              <a:gd name="adj" fmla="val 10870"/>
            </a:avLst>
          </a:prstGeom>
          <a:solidFill>
            <a:schemeClr val="bg1"/>
          </a:solidFill>
          <a:ln/>
          <a:effectLst>
            <a:outerShdw sx="100000" sy="100000" kx="0" ky="0" algn="bl" rotWithShape="0" blurRad="76200" dist="25400" dir="5400000">
              <a:srgbClr val="000000">
                <a:alpha val="12000"/>
              </a:srgbClr>
            </a:outerShdw>
          </a:effectLst>
        </p:spPr>
        <p:txBody>
          <a:bodyPr/>
          <a:p/>
        </p:txBody>
      </p:sp>
      <p:sp>
        <p:nvSpPr>
          <p:cNvPr id="12" name="Result label 2"/>
          <p:cNvSpPr txBox="1"/>
          <p:nvPr/>
        </p:nvSpPr>
        <p:spPr>
          <a:xfrm>
            <a:off x="5074920" y="2313432"/>
            <a:ext cx="3383280" cy="201168"/>
          </a:xfrm>
          <a:prstGeom prst="rect">
            <a:avLst/>
          </a:prstGeom>
          <a:noFill/>
          <a:ln/>
        </p:spPr>
        <p:txBody>
          <a:bodyPr wrap="square" lIns="0" tIns="0" rIns="0" bIns="0" rtlCol="0" anchor="ctr"/>
          <a:lstStyle/>
          <a:p>
            <a:pPr indent="0" marL="0">
              <a:buNone/>
            </a:pPr>
            <a:r>
              <a:rPr lang="en-US" sz="1000" b="1" spc="300" kern="0" dirty="0">
                <a:solidFill>
                  <a:schemeClr val="accent2"/>
                </a:solidFill>
              </a:rPr>
              <a:t>GAP</a:t>
            </a:r>
            <a:endParaRPr lang="en-US" sz="1000" dirty="0"/>
          </a:p>
        </p:txBody>
      </p:sp>
      <p:sp>
        <p:nvSpPr>
          <p:cNvPr id="13" name="Result value 2"/>
          <p:cNvSpPr txBox="1"/>
          <p:nvPr/>
        </p:nvSpPr>
        <p:spPr>
          <a:xfrm>
            <a:off x="5074920" y="2532888"/>
            <a:ext cx="3474720" cy="457200"/>
          </a:xfrm>
          <a:prstGeom prst="rect">
            <a:avLst/>
          </a:prstGeom>
          <a:noFill/>
          <a:ln/>
        </p:spPr>
        <p:txBody>
          <a:bodyPr wrap="square" lIns="0" tIns="0" rIns="0" bIns="0" rtlCol="0" anchor="ctr"/>
          <a:lstStyle/>
          <a:p>
            <a:pPr indent="0" marL="0">
              <a:buNone/>
            </a:pPr>
            <a:r>
              <a:rPr lang="en-US" sz="1400" i="1" dirty="0">
                <a:solidFill>
                  <a:schemeClr val="tx1"/>
                </a:solidFill>
                <a:latin typeface="Cambria" pitchFamily="34" charset="0"/>
                <a:ea typeface="Cambria" pitchFamily="34" charset="-122"/>
                <a:cs typeface="Cambria" pitchFamily="34" charset="-120"/>
              </a:rPr>
              <a:t>r</a:t>
            </a:r>
            <a:pPr indent="0" marL="0">
              <a:buNone/>
            </a:pPr>
            <a:r>
              <a:rPr lang="en-US" sz="1400" dirty="0">
                <a:solidFill>
                  <a:schemeClr val="tx1"/>
                </a:solidFill>
                <a:latin typeface="Cambria" pitchFamily="34" charset="0"/>
                <a:ea typeface="Cambria" pitchFamily="34" charset="-122"/>
                <a:cs typeface="Cambria" pitchFamily="34" charset="-120"/>
              </a:rPr>
              <a:t> = </a:t>
            </a:r>
            <a:pPr indent="0" marL="0">
              <a:buNone/>
            </a:pPr>
            <a:r>
              <a:rPr lang="en-US" sz="1400" i="1" dirty="0">
                <a:solidFill>
                  <a:schemeClr val="tx1"/>
                </a:solidFill>
                <a:latin typeface="Cambria" pitchFamily="34" charset="0"/>
                <a:ea typeface="Cambria" pitchFamily="34" charset="-122"/>
                <a:cs typeface="Cambria" pitchFamily="34" charset="-120"/>
              </a:rPr>
              <a:t>v</a:t>
            </a:r>
            <a:pPr indent="0" marL="0">
              <a:buNone/>
            </a:pPr>
            <a:r>
              <a:rPr lang="en-US" sz="1400" dirty="0">
                <a:solidFill>
                  <a:schemeClr val="tx1"/>
                </a:solidFill>
                <a:latin typeface="Cambria" pitchFamily="34" charset="0"/>
                <a:ea typeface="Cambria" pitchFamily="34" charset="-122"/>
                <a:cs typeface="Cambria" pitchFamily="34" charset="-120"/>
              </a:rPr>
              <a:t> − </a:t>
            </a:r>
            <a:pPr indent="0" marL="0">
              <a:buNone/>
            </a:pPr>
            <a:r>
              <a:rPr lang="en-US" sz="1400" i="1" dirty="0">
                <a:solidFill>
                  <a:schemeClr val="tx1"/>
                </a:solidFill>
                <a:latin typeface="Cambria" pitchFamily="34" charset="0"/>
                <a:ea typeface="Cambria" pitchFamily="34" charset="-122"/>
                <a:cs typeface="Cambria" pitchFamily="34" charset="-120"/>
              </a:rPr>
              <a:t>v̂</a:t>
            </a:r>
            <a:pPr indent="0" marL="0">
              <a:buNone/>
            </a:pPr>
            <a:r>
              <a:rPr lang="en-US" sz="1400" dirty="0">
                <a:solidFill>
                  <a:schemeClr val="tx1"/>
                </a:solidFill>
                <a:latin typeface="Cambria" pitchFamily="34" charset="0"/>
                <a:ea typeface="Cambria" pitchFamily="34" charset="-122"/>
                <a:cs typeface="Cambria" pitchFamily="34" charset="-120"/>
              </a:rPr>
              <a:t> = [0.000, −0.135, −0.025, 0.000, 0.074]</a:t>
            </a:r>
            <a:endParaRPr lang="en-US" sz="1400" dirty="0"/>
          </a:p>
        </p:txBody>
      </p:sp>
      <p:sp>
        <p:nvSpPr>
          <p:cNvPr id="14" name="Checks card"/>
          <p:cNvSpPr/>
          <p:nvPr/>
        </p:nvSpPr>
        <p:spPr>
          <a:xfrm>
            <a:off x="4892040" y="3200400"/>
            <a:ext cx="3794760" cy="1508760"/>
          </a:xfrm>
          <a:prstGeom prst="roundRect">
            <a:avLst>
              <a:gd name="adj" fmla="val 6061"/>
            </a:avLst>
          </a:prstGeom>
          <a:solidFill>
            <a:schemeClr val="tx1"/>
          </a:solidFill>
          <a:ln/>
          <a:effectLst>
            <a:outerShdw sx="100000" sy="100000" kx="0" ky="0" algn="bl" rotWithShape="0" blurRad="76200" dist="25400" dir="5400000">
              <a:srgbClr val="000000">
                <a:alpha val="12000"/>
              </a:srgbClr>
            </a:outerShdw>
          </a:effectLst>
        </p:spPr>
        <p:txBody>
          <a:bodyPr/>
          <a:p/>
        </p:txBody>
      </p:sp>
      <p:sp>
        <p:nvSpPr>
          <p:cNvPr id="15" name="Checks label"/>
          <p:cNvSpPr txBox="1"/>
          <p:nvPr/>
        </p:nvSpPr>
        <p:spPr>
          <a:xfrm>
            <a:off x="5074920" y="3273552"/>
            <a:ext cx="3383280" cy="201168"/>
          </a:xfrm>
          <a:prstGeom prst="rect">
            <a:avLst/>
          </a:prstGeom>
          <a:noFill/>
          <a:ln/>
        </p:spPr>
        <p:txBody>
          <a:bodyPr wrap="square" lIns="0" tIns="0" rIns="0" bIns="0" rtlCol="0" anchor="ctr"/>
          <a:lstStyle/>
          <a:p>
            <a:pPr indent="0" marL="0">
              <a:buNone/>
            </a:pPr>
            <a:r>
              <a:rPr lang="en-US" sz="1000" b="1" spc="300" kern="0" dirty="0">
                <a:solidFill>
                  <a:schemeClr val="accent1"/>
                </a:solidFill>
              </a:rPr>
              <a:t>CHECKS</a:t>
            </a:r>
            <a:endParaRPr lang="en-US" sz="1000" dirty="0"/>
          </a:p>
        </p:txBody>
      </p:sp>
      <p:sp>
        <p:nvSpPr>
          <p:cNvPr id="16" name="Check orthogonal"/>
          <p:cNvSpPr txBox="1"/>
          <p:nvPr/>
        </p:nvSpPr>
        <p:spPr>
          <a:xfrm>
            <a:off x="5074920" y="3520440"/>
            <a:ext cx="3474720" cy="457200"/>
          </a:xfrm>
          <a:prstGeom prst="rect">
            <a:avLst/>
          </a:prstGeom>
          <a:noFill/>
          <a:ln/>
        </p:spPr>
        <p:txBody>
          <a:bodyPr wrap="square" lIns="0" tIns="0" rIns="0" bIns="0" rtlCol="0" anchor="ctr"/>
          <a:lstStyle/>
          <a:p>
            <a:pPr indent="0" marL="0">
              <a:buNone/>
            </a:pPr>
            <a:r>
              <a:rPr lang="en-US" sz="1600" i="1" dirty="0">
                <a:solidFill>
                  <a:schemeClr val="bg1"/>
                </a:solidFill>
                <a:latin typeface="Cambria" pitchFamily="34" charset="0"/>
                <a:ea typeface="Cambria" pitchFamily="34" charset="-122"/>
                <a:cs typeface="Cambria" pitchFamily="34" charset="-120"/>
              </a:rPr>
              <a:t>X</a:t>
            </a:r>
            <a:pPr indent="0" marL="0">
              <a:buNone/>
            </a:pPr>
            <a:r>
              <a:rPr lang="en-US" sz="1600" i="1" dirty="0">
                <a:solidFill>
                  <a:schemeClr val="bg1"/>
                </a:solidFill>
                <a:latin typeface="Cambria" pitchFamily="34" charset="0"/>
                <a:ea typeface="Cambria" pitchFamily="34" charset="-122"/>
                <a:cs typeface="Cambria" pitchFamily="34" charset="-120"/>
              </a:rPr>
              <a:t>r</a:t>
            </a:r>
            <a:pPr indent="0" marL="0">
              <a:buNone/>
            </a:pPr>
            <a:r>
              <a:rPr lang="en-US" sz="1400" dirty="0">
                <a:solidFill>
                  <a:schemeClr val="bg1"/>
                </a:solidFill>
                <a:latin typeface="Calibri" pitchFamily="34" charset="0"/>
                <a:ea typeface="Calibri" pitchFamily="34" charset="-122"/>
                <a:cs typeface="Calibri" pitchFamily="34" charset="-120"/>
              </a:rPr>
              <a:t>  =  [0, 0, 0, 0]  ✓   (gap ⟂ every spot)</a:t>
            </a:r>
            <a:endParaRPr lang="en-US" sz="1600" dirty="0"/>
          </a:p>
        </p:txBody>
      </p:sp>
      <p:sp>
        <p:nvSpPr>
          <p:cNvPr id="17" name="Check Pythagoras"/>
          <p:cNvSpPr txBox="1"/>
          <p:nvPr/>
        </p:nvSpPr>
        <p:spPr>
          <a:xfrm>
            <a:off x="5074920" y="3886200"/>
            <a:ext cx="3474720" cy="320040"/>
          </a:xfrm>
          <a:prstGeom prst="rect">
            <a:avLst/>
          </a:prstGeom>
          <a:noFill/>
          <a:ln/>
        </p:spPr>
        <p:txBody>
          <a:bodyPr wrap="square" lIns="0" tIns="0" rIns="0" bIns="0" rtlCol="0" anchor="ctr"/>
          <a:lstStyle/>
          <a:p>
            <a:pPr indent="0" marL="0">
              <a:buNone/>
            </a:pPr>
            <a:r>
              <a:rPr lang="en-US" sz="1500" dirty="0">
                <a:solidFill>
                  <a:schemeClr val="bg1"/>
                </a:solidFill>
                <a:latin typeface="Cambria" pitchFamily="34" charset="0"/>
                <a:ea typeface="Cambria" pitchFamily="34" charset="-122"/>
                <a:cs typeface="Cambria" pitchFamily="34" charset="-120"/>
              </a:rPr>
              <a:t>‖v‖₂² = ‖v̂‖₂² + ‖r‖₂²   Pythagoras</a:t>
            </a:r>
            <a:pPr indent="0" marL="0">
              <a:buNone/>
            </a:pPr>
            <a:r>
              <a:rPr lang="en-US" sz="1500" i="1" dirty="0">
                <a:solidFill>
                  <a:schemeClr val="bg1"/>
                </a:solidFill>
                <a:latin typeface="Cambria" pitchFamily="34" charset="0"/>
                <a:ea typeface="Cambria" pitchFamily="34" charset="-122"/>
                <a:cs typeface="Cambria" pitchFamily="34" charset="-120"/>
              </a:rPr>
              <a:t/>
            </a:r>
            <a:pPr indent="0" marL="0">
              <a:buNone/>
            </a:pPr>
            <a:r>
              <a:rPr lang="en-US" sz="1500" dirty="0">
                <a:solidFill>
                  <a:schemeClr val="bg1"/>
                </a:solidFill>
                <a:latin typeface="Cambria" pitchFamily="34" charset="0"/>
                <a:ea typeface="Cambria" pitchFamily="34" charset="-122"/>
                <a:cs typeface="Cambria" pitchFamily="34" charset="-120"/>
              </a:rPr>
              <a:t/>
            </a:r>
            <a:pPr indent="0" marL="0">
              <a:buNone/>
            </a:pPr>
            <a:r>
              <a:rPr lang="en-US" sz="1500" baseline="30000" dirty="0">
                <a:solidFill>
                  <a:schemeClr val="bg1"/>
                </a:solidFill>
                <a:latin typeface="Cambria" pitchFamily="34" charset="0"/>
                <a:ea typeface="Cambria" pitchFamily="34" charset="-122"/>
                <a:cs typeface="Cambria" pitchFamily="34" charset="-120"/>
              </a:rPr>
              <a:t/>
            </a:r>
            <a:pPr indent="0" marL="0">
              <a:buNone/>
            </a:pPr>
            <a:r>
              <a:rPr lang="en-US" sz="1500" dirty="0">
                <a:solidFill>
                  <a:schemeClr val="bg1"/>
                </a:solidFill>
                <a:latin typeface="Cambria" pitchFamily="34" charset="0"/>
                <a:ea typeface="Cambria" pitchFamily="34" charset="-122"/>
                <a:cs typeface="Cambria" pitchFamily="34" charset="-120"/>
              </a:rPr>
              <a:t/>
            </a:r>
            <a:pPr indent="0" marL="0">
              <a:buNone/>
            </a:pPr>
            <a:r>
              <a:rPr lang="en-US" sz="1500" i="1" dirty="0">
                <a:solidFill>
                  <a:schemeClr val="bg1"/>
                </a:solidFill>
                <a:latin typeface="Cambria" pitchFamily="34" charset="0"/>
                <a:ea typeface="Cambria" pitchFamily="34" charset="-122"/>
                <a:cs typeface="Cambria" pitchFamily="34" charset="-120"/>
              </a:rPr>
              <a:t/>
            </a:r>
            <a:pPr indent="0" marL="0">
              <a:buNone/>
            </a:pPr>
            <a:r>
              <a:rPr lang="en-US" sz="1500" dirty="0">
                <a:solidFill>
                  <a:schemeClr val="bg1"/>
                </a:solidFill>
                <a:latin typeface="Cambria" pitchFamily="34" charset="0"/>
                <a:ea typeface="Cambria" pitchFamily="34" charset="-122"/>
                <a:cs typeface="Cambria" pitchFamily="34" charset="-120"/>
              </a:rPr>
              <a:t/>
            </a:r>
            <a:pPr indent="0" marL="0">
              <a:buNone/>
            </a:pPr>
            <a:r>
              <a:rPr lang="en-US" sz="1500" baseline="30000" dirty="0">
                <a:solidFill>
                  <a:schemeClr val="bg1"/>
                </a:solidFill>
                <a:latin typeface="Cambria" pitchFamily="34" charset="0"/>
                <a:ea typeface="Cambria" pitchFamily="34" charset="-122"/>
                <a:cs typeface="Cambria" pitchFamily="34" charset="-120"/>
              </a:rPr>
              <a:t/>
            </a:r>
            <a:pPr indent="0" marL="0">
              <a:buNone/>
            </a:pPr>
            <a:r>
              <a:rPr lang="en-US" sz="1500" dirty="0">
                <a:solidFill>
                  <a:schemeClr val="bg1"/>
                </a:solidFill>
                <a:latin typeface="Cambria" pitchFamily="34" charset="0"/>
                <a:ea typeface="Cambria" pitchFamily="34" charset="-122"/>
                <a:cs typeface="Cambria" pitchFamily="34" charset="-120"/>
              </a:rPr>
              <a:t/>
            </a:r>
            <a:pPr indent="0" marL="0">
              <a:buNone/>
            </a:pPr>
            <a:r>
              <a:rPr lang="en-US" sz="1500" i="1" dirty="0">
                <a:solidFill>
                  <a:schemeClr val="bg1"/>
                </a:solidFill>
                <a:latin typeface="Cambria" pitchFamily="34" charset="0"/>
                <a:ea typeface="Cambria" pitchFamily="34" charset="-122"/>
                <a:cs typeface="Cambria" pitchFamily="34" charset="-120"/>
              </a:rPr>
              <a:t/>
            </a:r>
            <a:pPr indent="0" marL="0">
              <a:buNone/>
            </a:pPr>
            <a:r>
              <a:rPr lang="en-US" sz="1500" dirty="0">
                <a:solidFill>
                  <a:schemeClr val="bg1"/>
                </a:solidFill>
                <a:latin typeface="Cambria" pitchFamily="34" charset="0"/>
                <a:ea typeface="Cambria" pitchFamily="34" charset="-122"/>
                <a:cs typeface="Cambria" pitchFamily="34" charset="-120"/>
              </a:rPr>
              <a:t/>
            </a:r>
            <a:pPr indent="0" marL="0">
              <a:buNone/>
            </a:pPr>
            <a:r>
              <a:rPr lang="en-US" sz="1500" baseline="30000" dirty="0">
                <a:solidFill>
                  <a:schemeClr val="bg1"/>
                </a:solidFill>
                <a:latin typeface="Cambria" pitchFamily="34" charset="0"/>
                <a:ea typeface="Cambria" pitchFamily="34" charset="-122"/>
                <a:cs typeface="Cambria" pitchFamily="34" charset="-120"/>
              </a:rPr>
              <a:t/>
            </a:r>
            <a:pPr indent="0" marL="0">
              <a:buNone/>
            </a:pPr>
            <a:r>
              <a:rPr lang="en-US" sz="1200" dirty="0">
                <a:solidFill>
                  <a:schemeClr val="bg2"/>
                </a:solidFill>
                <a:latin typeface="Calibri" pitchFamily="34" charset="0"/>
                <a:ea typeface="Calibri" pitchFamily="34" charset="-122"/>
                <a:cs typeface="Calibri" pitchFamily="34" charset="-120"/>
              </a:rPr>
              <a:t/>
            </a:r>
            <a:endParaRPr lang="en-US" sz="1500" dirty="0"/>
          </a:p>
        </p:txBody>
      </p:sp>
      <p:sp>
        <p:nvSpPr>
          <p:cNvPr id="18" name="Check Pythagoras numbers"/>
          <p:cNvSpPr txBox="1"/>
          <p:nvPr/>
        </p:nvSpPr>
        <p:spPr>
          <a:xfrm>
            <a:off x="5074920" y="4224528"/>
            <a:ext cx="3474720" cy="320040"/>
          </a:xfrm>
          <a:prstGeom prst="rect">
            <a:avLst/>
          </a:prstGeom>
          <a:noFill/>
          <a:ln/>
        </p:spPr>
        <p:txBody>
          <a:bodyPr wrap="square" lIns="0" tIns="0" rIns="0" bIns="0" rtlCol="0" anchor="ctr"/>
          <a:lstStyle/>
          <a:p>
            <a:pPr indent="0" marL="0">
              <a:buNone/>
            </a:pPr>
            <a:r>
              <a:rPr lang="en-US" sz="1500" dirty="0">
                <a:solidFill>
                  <a:schemeClr val="bg1"/>
                </a:solidFill>
                <a:latin typeface="Cambria" pitchFamily="34" charset="0"/>
                <a:ea typeface="Cambria" pitchFamily="34" charset="-122"/>
                <a:cs typeface="Cambria" pitchFamily="34" charset="-120"/>
              </a:rPr>
              <a:t>1.449 = 1.425 + 0.024  ✓</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ection badge"/>
          <p:cNvSpPr txBox="1"/>
          <p:nvPr/>
        </p:nvSpPr>
        <p:spPr>
          <a:xfrm>
            <a:off x="457200" y="228600"/>
            <a:ext cx="2537460" cy="256032"/>
          </a:xfrm>
          <a:prstGeom prst="roundRect">
            <a:avLst>
              <a:gd name="adj" fmla="val 50000"/>
            </a:avLst>
          </a:prstGeom>
          <a:solidFill>
            <a:schemeClr val="accent2"/>
          </a:solidFill>
          <a:ln/>
        </p:spPr>
        <p:txBody>
          <a:bodyPr wrap="square" lIns="0" tIns="0" rIns="0" bIns="0" rtlCol="0" anchor="ctr"/>
          <a:lstStyle/>
          <a:p>
            <a:pPr algn="ctr" indent="0" marL="0">
              <a:buNone/>
            </a:pPr>
            <a:r>
              <a:rPr lang="en-US" sz="1000" b="1" dirty="0">
                <a:solidFill>
                  <a:schemeClr val="bg1"/>
                </a:solidFill>
              </a:rPr>
              <a:t>WORKED EXAMPLE  ·  2 OF 2</a:t>
            </a:r>
            <a:endParaRPr lang="en-US" sz="1000" dirty="0"/>
          </a:p>
        </p:txBody>
      </p:sp>
      <p:sp>
        <p:nvSpPr>
          <p:cNvPr id="3" name="Text 0"/>
          <p:cNvSpPr/>
          <p:nvPr>
            <p:ph idx="100"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Scoring and choosing the spot</a:t>
            </a:r>
            <a:endParaRPr lang="en-US" sz="3200" dirty="0"/>
          </a:p>
        </p:txBody>
      </p:sp>
      <p:graphicFrame>
        <p:nvGraphicFramePr>
          <p:cNvPr id="12" name="Score table"/>
          <p:cNvGraphicFramePr>
            <a:graphicFrameLocks noGrp="1"/>
          </p:cNvGraphicFramePr>
          <p:nvPr>
            <p:extLst>
              <p:ext uri="{D42A27DB-BD31-4B8C-83A1-F6EECF244321}">
                <p14:modId xmlns:p14="http://schemas.microsoft.com/office/powerpoint/2010/main" val="1579011935"/>
              </p:ext>
            </p:extLst>
          </p:nvPr>
        </p:nvGraphicFramePr>
        <p:xfrm>
          <a:off x="457200" y="1280160"/>
          <a:ext cx="4937760" cy="914400"/>
        </p:xfrm>
        <a:graphic>
          <a:graphicData uri="http://schemas.openxmlformats.org/drawingml/2006/table">
            <a:tbl>
              <a:tblPr/>
              <a:tblGrid>
                <a:gridCol w="1005840"/>
                <a:gridCol w="914400"/>
                <a:gridCol w="914400"/>
                <a:gridCol w="914400"/>
                <a:gridCol w="1188720"/>
              </a:tblGrid>
              <a:tr h="384048">
                <a:tc>
                  <a:txBody>
                    <a:bodyPr/>
                    <a:lstStyle/>
                    <a:p>
                      <a:pPr algn="ctr" indent="0" marL="0">
                        <a:buNone/>
                      </a:pPr>
                      <a:r>
                        <a:rPr lang="en-US" sz="1500" b="1" dirty="0">
                          <a:solidFill>
                            <a:schemeClr val="bg1"/>
                          </a:solidFill>
                          <a:latin typeface="Cambria" pitchFamily="34" charset="0"/>
                          <a:ea typeface="Cambria" pitchFamily="34" charset="-122"/>
                          <a:cs typeface="Cambria" pitchFamily="34" charset="-120"/>
                        </a:rPr>
                        <a:t>Spot</a:t>
                      </a:r>
                      <a:endParaRPr lang="en-US" sz="1500" dirty="0">
                        <a:latin typeface="Cambria" charset="0"/>
                        <a:ea typeface="Cambria" charset="0"/>
                        <a:cs typeface="Cambria"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algn="ctr" indent="0" marL="0">
                        <a:buNone/>
                      </a:pPr>
                      <a:r>
                        <a:rPr lang="en-US" sz="1500" b="1" i="1" dirty="0">
                          <a:solidFill>
                            <a:schemeClr val="bg1"/>
                          </a:solidFill>
                          <a:latin typeface="Cambria" pitchFamily="34" charset="0"/>
                          <a:ea typeface="Cambria" pitchFamily="34" charset="-122"/>
                          <a:cs typeface="Cambria" pitchFamily="34" charset="-120"/>
                        </a:rPr>
                        <a:t>LS</a:t>
                      </a:r>
                      <a:endParaRPr lang="en-US" sz="1500" dirty="0">
                        <a:latin typeface="Cambria" charset="0"/>
                        <a:ea typeface="Cambria" charset="0"/>
                        <a:cs typeface="Cambria"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algn="ctr" indent="0" marL="0">
                        <a:buNone/>
                      </a:pPr>
                      <a:r>
                        <a:rPr lang="en-US" sz="1500" b="1" i="1" dirty="0">
                          <a:solidFill>
                            <a:schemeClr val="bg1"/>
                          </a:solidFill>
                          <a:latin typeface="Cambria" pitchFamily="34" charset="0"/>
                          <a:ea typeface="Cambria" pitchFamily="34" charset="-122"/>
                          <a:cs typeface="Cambria" pitchFamily="34" charset="-120"/>
                        </a:rPr>
                        <a:t>G</a:t>
                      </a:r>
                      <a:endParaRPr lang="en-US" sz="1500" dirty="0">
                        <a:latin typeface="Cambria" charset="0"/>
                        <a:ea typeface="Cambria" charset="0"/>
                        <a:cs typeface="Cambria"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algn="ctr" indent="0" marL="0">
                        <a:buNone/>
                      </a:pPr>
                      <a:r>
                        <a:rPr lang="en-US" sz="1500" b="1" i="1" dirty="0">
                          <a:solidFill>
                            <a:schemeClr val="bg1"/>
                          </a:solidFill>
                          <a:latin typeface="Cambria" pitchFamily="34" charset="0"/>
                          <a:ea typeface="Cambria" pitchFamily="34" charset="-122"/>
                          <a:cs typeface="Cambria" pitchFamily="34" charset="-120"/>
                        </a:rPr>
                        <a:t>L</a:t>
                      </a:r>
                      <a:endParaRPr lang="en-US" sz="1500" dirty="0">
                        <a:latin typeface="Cambria" charset="0"/>
                        <a:ea typeface="Cambria" charset="0"/>
                        <a:cs typeface="Cambria"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algn="ctr" indent="0" marL="0">
                        <a:buNone/>
                      </a:pPr>
                      <a:r>
                        <a:rPr lang="en-US" sz="1500" b="1" i="1" dirty="0">
                          <a:solidFill>
                            <a:schemeClr val="bg1"/>
                          </a:solidFill>
                          <a:latin typeface="Cambria" pitchFamily="34" charset="0"/>
                          <a:ea typeface="Cambria" pitchFamily="34" charset="-122"/>
                          <a:cs typeface="Cambria" pitchFamily="34" charset="-120"/>
                        </a:rPr>
                        <a:t>Total</a:t>
                      </a:r>
                      <a:endParaRPr lang="en-US" sz="1500" dirty="0">
                        <a:latin typeface="Cambria" charset="0"/>
                        <a:ea typeface="Cambria" charset="0"/>
                        <a:cs typeface="Cambria" charset="0"/>
                      </a:endParaRPr>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r>
              <a:tr h="384048">
                <a:tc>
                  <a:txBody>
                    <a:bodyPr/>
                    <a:lstStyle/>
                    <a:p>
                      <a:pPr algn="l" indent="0" marL="0">
                        <a:buNone/>
                      </a:pPr>
                      <a:r>
                        <a:rPr lang="en-US" sz="1500" b="1" dirty="0">
                          <a:solidFill>
                            <a:schemeClr val="bg1"/>
                          </a:solidFill>
                        </a:rPr>
                        <a:t>S01</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accent2"/>
                    </a:solidFill>
                  </a:tcPr>
                </a:tc>
                <a:tc>
                  <a:txBody>
                    <a:bodyPr/>
                    <a:lstStyle/>
                    <a:p>
                      <a:pPr algn="ctr" indent="0" marL="0">
                        <a:buNone/>
                      </a:pPr>
                      <a:r>
                        <a:rPr lang="en-US" sz="1500" b="1" dirty="0">
                          <a:solidFill>
                            <a:schemeClr val="bg1"/>
                          </a:solidFill>
                        </a:rPr>
                        <a:t>0.193</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accent2"/>
                    </a:solidFill>
                  </a:tcPr>
                </a:tc>
                <a:tc>
                  <a:txBody>
                    <a:bodyPr/>
                    <a:lstStyle/>
                    <a:p>
                      <a:pPr algn="ctr" indent="0" marL="0">
                        <a:buNone/>
                      </a:pPr>
                      <a:r>
                        <a:rPr lang="en-US" sz="1500" b="1" dirty="0">
                          <a:solidFill>
                            <a:schemeClr val="bg1"/>
                          </a:solidFill>
                        </a:rPr>
                        <a:t>0.466</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accent2"/>
                    </a:solidFill>
                  </a:tcPr>
                </a:tc>
                <a:tc>
                  <a:txBody>
                    <a:bodyPr/>
                    <a:lstStyle/>
                    <a:p>
                      <a:pPr algn="ctr" indent="0" marL="0">
                        <a:buNone/>
                      </a:pPr>
                      <a:r>
                        <a:rPr lang="en-US" sz="1500" b="1" dirty="0">
                          <a:solidFill>
                            <a:schemeClr val="bg1"/>
                          </a:solidFill>
                        </a:rPr>
                        <a:t>0.430</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accent2"/>
                    </a:solidFill>
                  </a:tcPr>
                </a:tc>
                <a:tc>
                  <a:txBody>
                    <a:bodyPr/>
                    <a:lstStyle/>
                    <a:p>
                      <a:pPr algn="ctr" indent="0" marL="0">
                        <a:buNone/>
                      </a:pPr>
                      <a:r>
                        <a:rPr lang="en-US" sz="1500" b="1" dirty="0">
                          <a:solidFill>
                            <a:schemeClr val="bg1"/>
                          </a:solidFill>
                        </a:rPr>
                        <a:t>0.299</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accent2"/>
                    </a:solidFill>
                  </a:tcPr>
                </a:tc>
              </a:tr>
              <a:tr h="384048">
                <a:tc>
                  <a:txBody>
                    <a:bodyPr/>
                    <a:lstStyle/>
                    <a:p>
                      <a:pPr algn="l" indent="0" marL="0">
                        <a:buNone/>
                      </a:pPr>
                      <a:r>
                        <a:rPr lang="en-US" sz="1500" b="1" dirty="0">
                          <a:solidFill>
                            <a:schemeClr val="tx1"/>
                          </a:solidFill>
                        </a:rPr>
                        <a:t>S02</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0.748</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0.879</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0.860</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0.798</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r h="384048">
                <a:tc>
                  <a:txBody>
                    <a:bodyPr/>
                    <a:lstStyle/>
                    <a:p>
                      <a:pPr algn="l" indent="0" marL="0">
                        <a:buNone/>
                      </a:pPr>
                      <a:r>
                        <a:rPr lang="en-US" sz="1500" b="1" dirty="0">
                          <a:solidFill>
                            <a:schemeClr val="tx1"/>
                          </a:solidFill>
                        </a:rPr>
                        <a:t>S03</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0.298</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0.462</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0.290</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0.347</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r h="384048">
                <a:tc>
                  <a:txBody>
                    <a:bodyPr/>
                    <a:lstStyle/>
                    <a:p>
                      <a:pPr algn="l" indent="0" marL="0">
                        <a:buNone/>
                      </a:pPr>
                      <a:r>
                        <a:rPr lang="en-US" sz="1500" b="1" dirty="0">
                          <a:solidFill>
                            <a:schemeClr val="tx1"/>
                          </a:solidFill>
                        </a:rPr>
                        <a:t>S04</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0.718</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0.796</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0.710</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0.741</a:t>
                      </a:r>
                      <a:endParaRPr lang="en-US" sz="15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bl>
          </a:graphicData>
        </a:graphic>
      </p:graphicFrame>
      <p:sp>
        <p:nvSpPr>
          <p:cNvPr id="5" name="Arithmetic card"/>
          <p:cNvSpPr/>
          <p:nvPr/>
        </p:nvSpPr>
        <p:spPr>
          <a:xfrm>
            <a:off x="457200" y="3383280"/>
            <a:ext cx="4937760" cy="731520"/>
          </a:xfrm>
          <a:prstGeom prst="roundRect">
            <a:avLst>
              <a:gd name="adj" fmla="val 12500"/>
            </a:avLst>
          </a:prstGeom>
          <a:solidFill>
            <a:schemeClr val="bg1"/>
          </a:solidFill>
          <a:ln/>
          <a:effectLst>
            <a:outerShdw sx="100000" sy="100000" kx="0" ky="0" algn="bl" rotWithShape="0" blurRad="76200" dist="25400" dir="5400000">
              <a:srgbClr val="000000">
                <a:alpha val="12000"/>
              </a:srgbClr>
            </a:outerShdw>
          </a:effectLst>
        </p:spPr>
        <p:txBody>
          <a:bodyPr/>
          <a:p/>
        </p:txBody>
      </p:sp>
      <p:sp>
        <p:nvSpPr>
          <p:cNvPr id="6" name="Arithmetic text"/>
          <p:cNvSpPr txBox="1"/>
          <p:nvPr/>
        </p:nvSpPr>
        <p:spPr>
          <a:xfrm>
            <a:off x="640080" y="3383280"/>
            <a:ext cx="4572000" cy="731520"/>
          </a:xfrm>
          <a:prstGeom prst="rect">
            <a:avLst/>
          </a:prstGeom>
          <a:noFill/>
          <a:ln/>
        </p:spPr>
        <p:txBody>
          <a:bodyPr wrap="square" lIns="0" tIns="0" rIns="0" bIns="0" rtlCol="0" anchor="ctr"/>
          <a:lstStyle/>
          <a:p>
            <a:pPr indent="0" marL="0">
              <a:buNone/>
            </a:pPr>
            <a:r>
              <a:rPr lang="en-US" sz="1400" i="1" dirty="0">
                <a:solidFill>
                  <a:schemeClr val="tx1"/>
                </a:solidFill>
                <a:latin typeface="Cambria" pitchFamily="34" charset="0"/>
                <a:ea typeface="Cambria" pitchFamily="34" charset="-122"/>
                <a:cs typeface="Cambria" pitchFamily="34" charset="-120"/>
              </a:rPr>
              <a:t>Total(S01) = 0.60 × 0.193 + 0.30 × 0.466 + 0.10 × 0.430 = 0.299</a:t>
            </a:r>
            <a:pPr indent="0" marL="0">
              <a:buNone/>
            </a:pPr>
            <a:r>
              <a:rPr lang="en-US" sz="1400" dirty="0">
                <a:solidFill>
                  <a:schemeClr val="tx1"/>
                </a:solidFill>
                <a:latin typeface="Cambria" pitchFamily="34" charset="0"/>
                <a:ea typeface="Cambria" pitchFamily="34" charset="-122"/>
                <a:cs typeface="Cambria" pitchFamily="34" charset="-120"/>
              </a:rPr>
              <a:t/>
            </a:r>
            <a:pPr indent="0" marL="0">
              <a:buNone/>
            </a:pPr>
            <a:r>
              <a:rPr lang="en-US" sz="1400" b="1" dirty="0">
                <a:solidFill>
                  <a:schemeClr val="accent2"/>
                </a:solidFill>
                <a:latin typeface="Cambria" pitchFamily="34" charset="0"/>
                <a:ea typeface="Cambria" pitchFamily="34" charset="-122"/>
                <a:cs typeface="Cambria" pitchFamily="34" charset="-120"/>
              </a:rPr>
              <a:t/>
            </a:r>
            <a:endParaRPr lang="en-US" sz="1400" dirty="0"/>
          </a:p>
        </p:txBody>
      </p:sp>
      <p:sp>
        <p:nvSpPr>
          <p:cNvPr id="7" name="Simplification note"/>
          <p:cNvSpPr txBox="1"/>
          <p:nvPr/>
        </p:nvSpPr>
        <p:spPr>
          <a:xfrm>
            <a:off x="457200" y="4251960"/>
            <a:ext cx="4937760" cy="457200"/>
          </a:xfrm>
          <a:prstGeom prst="rect">
            <a:avLst/>
          </a:prstGeom>
          <a:noFill/>
          <a:ln/>
        </p:spPr>
        <p:txBody>
          <a:bodyPr wrap="square" lIns="0" tIns="0" rIns="0" bIns="0" rtlCol="0" anchor="t"/>
          <a:lstStyle/>
          <a:p>
            <a:pPr indent="0" marL="0">
              <a:buNone/>
            </a:pPr>
            <a:r>
              <a:rPr lang="en-US" sz="1200" dirty="0">
                <a:solidFill>
                  <a:schemeClr val="accent5"/>
                </a:solidFill>
                <a:latin typeface="Cambria" pitchFamily="34" charset="0"/>
                <a:ea typeface="Cambria" pitchFamily="34" charset="-122"/>
                <a:cs typeface="Cambria" pitchFamily="34" charset="-120"/>
              </a:rPr>
              <a:t>To keep the example simple:  </a:t>
            </a:r>
            <a:pPr indent="0" marL="0">
              <a:buNone/>
            </a:pPr>
            <a:r>
              <a:rPr lang="en-US" sz="1200" i="1" dirty="0">
                <a:solidFill>
                  <a:schemeClr val="accent5"/>
                </a:solidFill>
                <a:latin typeface="Cambria" pitchFamily="34" charset="0"/>
                <a:ea typeface="Cambria" pitchFamily="34" charset="-122"/>
                <a:cs typeface="Cambria" pitchFamily="34" charset="-120"/>
              </a:rPr>
              <a:t>W</a:t>
            </a:r>
            <a:pPr indent="0" marL="0">
              <a:buNone/>
            </a:pPr>
            <a:r>
              <a:rPr lang="en-US" sz="1200" dirty="0">
                <a:solidFill>
                  <a:schemeClr val="accent5"/>
                </a:solidFill>
                <a:latin typeface="Cambria" pitchFamily="34" charset="0"/>
                <a:ea typeface="Cambria" pitchFamily="34" charset="-122"/>
                <a:cs typeface="Cambria" pitchFamily="34" charset="-120"/>
              </a:rPr>
              <a:t> = identity,  </a:t>
            </a:r>
            <a:pPr indent="0" marL="0">
              <a:buNone/>
            </a:pPr>
            <a:r>
              <a:rPr lang="en-US" sz="1200" i="1" dirty="0">
                <a:solidFill>
                  <a:schemeClr val="accent5"/>
                </a:solidFill>
                <a:latin typeface="Cambria" pitchFamily="34" charset="0"/>
                <a:ea typeface="Cambria" pitchFamily="34" charset="-122"/>
                <a:cs typeface="Cambria" pitchFamily="34" charset="-120"/>
              </a:rPr>
              <a:t>G</a:t>
            </a:r>
            <a:pPr indent="0" marL="0">
              <a:buNone/>
            </a:pPr>
            <a:r>
              <a:rPr lang="en-US" sz="1200" dirty="0">
                <a:solidFill>
                  <a:schemeClr val="accent5"/>
                </a:solidFill>
                <a:latin typeface="Cambria" pitchFamily="34" charset="0"/>
                <a:ea typeface="Cambria" pitchFamily="34" charset="-122"/>
                <a:cs typeface="Cambria" pitchFamily="34" charset="-120"/>
              </a:rPr>
              <a:t> = √(dx² + dy²),  </a:t>
            </a:r>
            <a:pPr indent="0" marL="0">
              <a:buNone/>
            </a:pPr>
            <a:r>
              <a:rPr lang="en-US" sz="1200" i="1" dirty="0">
                <a:solidFill>
                  <a:schemeClr val="accent5"/>
                </a:solidFill>
                <a:latin typeface="Cambria" pitchFamily="34" charset="0"/>
                <a:ea typeface="Cambria" pitchFamily="34" charset="-122"/>
                <a:cs typeface="Cambria" pitchFamily="34" charset="-120"/>
              </a:rPr>
              <a:t>L</a:t>
            </a:r>
            <a:pPr indent="0" marL="0">
              <a:buNone/>
            </a:pPr>
            <a:r>
              <a:rPr lang="en-US" sz="1200" dirty="0">
                <a:solidFill>
                  <a:schemeClr val="accent5"/>
                </a:solidFill>
                <a:latin typeface="Cambria" pitchFamily="34" charset="0"/>
                <a:ea typeface="Cambria" pitchFamily="34" charset="-122"/>
                <a:cs typeface="Cambria" pitchFamily="34" charset="-120"/>
              </a:rPr>
              <a:t> = |dx|.</a:t>
            </a:r>
            <a:endParaRPr lang="en-US" sz="1200" dirty="0"/>
          </a:p>
        </p:txBody>
      </p:sp>
      <p:sp>
        <p:nvSpPr>
          <p:cNvPr id="8" name="Bar chart heading"/>
          <p:cNvSpPr txBox="1"/>
          <p:nvPr/>
        </p:nvSpPr>
        <p:spPr>
          <a:xfrm>
            <a:off x="5669280" y="1280160"/>
            <a:ext cx="3017520" cy="274320"/>
          </a:xfrm>
          <a:prstGeom prst="rect">
            <a:avLst/>
          </a:prstGeom>
          <a:noFill/>
          <a:ln/>
        </p:spPr>
        <p:txBody>
          <a:bodyPr wrap="square" lIns="0" tIns="0" rIns="0" bIns="0" rtlCol="0" anchor="ctr"/>
          <a:lstStyle/>
          <a:p>
            <a:pPr indent="0" marL="0">
              <a:buNone/>
            </a:pPr>
            <a:r>
              <a:rPr lang="en-US" sz="1600" b="1" dirty="0">
                <a:solidFill>
                  <a:schemeClr val="tx1"/>
                </a:solidFill>
              </a:rPr>
              <a:t>Total cost per spot</a:t>
            </a:r>
            <a:endParaRPr lang="en-US" sz="1600" dirty="0"/>
          </a:p>
        </p:txBody>
      </p:sp>
      <p:sp>
        <p:nvSpPr>
          <p:cNvPr id="9" name="Bar card"/>
          <p:cNvSpPr/>
          <p:nvPr/>
        </p:nvSpPr>
        <p:spPr>
          <a:xfrm>
            <a:off x="5669280" y="1645920"/>
            <a:ext cx="3017520" cy="2423160"/>
          </a:xfrm>
          <a:prstGeom prst="roundRect">
            <a:avLst>
              <a:gd name="adj" fmla="val 3774"/>
            </a:avLst>
          </a:prstGeom>
          <a:solidFill>
            <a:schemeClr val="bg1"/>
          </a:solidFill>
          <a:ln/>
          <a:effectLst>
            <a:outerShdw sx="100000" sy="100000" kx="0" ky="0" algn="bl" rotWithShape="0" blurRad="76200" dist="25400" dir="5400000">
              <a:srgbClr val="000000">
                <a:alpha val="12000"/>
              </a:srgbClr>
            </a:outerShdw>
          </a:effectLst>
        </p:spPr>
        <p:txBody>
          <a:bodyPr/>
          <a:p/>
        </p:txBody>
      </p:sp>
      <p:graphicFrame>
        <p:nvGraphicFramePr>
          <p:cNvPr id="10" name="Chart 0" descr=""/>
          <p:cNvGraphicFramePr/>
          <p:nvPr/>
        </p:nvGraphicFramePr>
        <p:xfrm>
          <a:off x="5715000" y="1691640"/>
          <a:ext cx="2926080" cy="2331720"/>
        </p:xfrm>
        <a:graphic xmlns:a="http://schemas.openxmlformats.org/drawingml/2006/main">
          <a:graphicData uri="http://schemas.openxmlformats.org/drawingml/2006/chart">
            <c:chart xmlns:c="http://schemas.openxmlformats.org/drawingml/2006/chart" r:id="rId1"/>
          </a:graphicData>
        </a:graphic>
      </p:graphicFrame>
      <p:sp>
        <p:nvSpPr>
          <p:cNvPr id="11" name="Winner pill"/>
          <p:cNvSpPr txBox="1"/>
          <p:nvPr/>
        </p:nvSpPr>
        <p:spPr>
          <a:xfrm>
            <a:off x="5669280" y="4206240"/>
            <a:ext cx="3017520" cy="457200"/>
          </a:xfrm>
          <a:prstGeom prst="roundRect">
            <a:avLst>
              <a:gd name="adj" fmla="val 50000"/>
            </a:avLst>
          </a:prstGeom>
          <a:solidFill>
            <a:schemeClr val="accent1"/>
          </a:solidFill>
          <a:ln/>
        </p:spPr>
        <p:txBody>
          <a:bodyPr wrap="square" lIns="0" tIns="0" rIns="0" bIns="0" rtlCol="0" anchor="ctr"/>
          <a:lstStyle/>
          <a:p>
            <a:pPr algn="ctr" indent="0" marL="0">
              <a:buNone/>
            </a:pPr>
            <a:r>
              <a:rPr lang="en-US" sz="1500" b="1" dirty="0">
                <a:solidFill>
                  <a:schemeClr val="tx1"/>
                </a:solidFill>
              </a:rPr>
              <a:t>Winner: S01 (lowest cost)</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ection badge"/>
          <p:cNvSpPr txBox="1"/>
          <p:nvPr/>
        </p:nvSpPr>
        <p:spPr>
          <a:xfrm>
            <a:off x="457200" y="228600"/>
            <a:ext cx="973836" cy="256032"/>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dirty="0">
                <a:solidFill>
                  <a:schemeClr val="tx1"/>
                </a:solidFill>
              </a:rPr>
              <a:t>RESULTS</a:t>
            </a:r>
            <a:endParaRPr lang="en-US" sz="1000" dirty="0"/>
          </a:p>
        </p:txBody>
      </p:sp>
      <p:sp>
        <p:nvSpPr>
          <p:cNvPr id="3" name="Text 0"/>
          <p:cNvSpPr/>
          <p:nvPr>
            <p:ph idx="100"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What our program produced</a:t>
            </a:r>
            <a:endParaRPr lang="en-US" sz="3200" dirty="0"/>
          </a:p>
        </p:txBody>
      </p:sp>
      <p:graphicFrame>
        <p:nvGraphicFramePr>
          <p:cNvPr id="13" name="Results table"/>
          <p:cNvGraphicFramePr>
            <a:graphicFrameLocks noGrp="1"/>
          </p:cNvGraphicFramePr>
          <p:nvPr>
            <p:extLst>
              <p:ext uri="{D42A27DB-BD31-4B8C-83A1-F6EECF244321}">
                <p14:modId xmlns:p14="http://schemas.microsoft.com/office/powerpoint/2010/main" val="1579011935"/>
              </p:ext>
            </p:extLst>
          </p:nvPr>
        </p:nvGraphicFramePr>
        <p:xfrm>
          <a:off x="457200" y="1280160"/>
          <a:ext cx="5760720" cy="914400"/>
        </p:xfrm>
        <a:graphic>
          <a:graphicData uri="http://schemas.openxmlformats.org/drawingml/2006/table">
            <a:tbl>
              <a:tblPr/>
              <a:tblGrid>
                <a:gridCol w="822960"/>
                <a:gridCol w="640080"/>
                <a:gridCol w="1051560"/>
                <a:gridCol w="640080"/>
                <a:gridCol w="868680"/>
                <a:gridCol w="777240"/>
                <a:gridCol w="960120"/>
              </a:tblGrid>
              <a:tr h="402336">
                <a:tc>
                  <a:txBody>
                    <a:bodyPr/>
                    <a:lstStyle/>
                    <a:p>
                      <a:pPr algn="ctr" indent="0" marL="0">
                        <a:buNone/>
                      </a:pPr>
                      <a:r>
                        <a:rPr lang="en-US" sz="1400" b="1" dirty="0">
                          <a:solidFill>
                            <a:schemeClr val="bg1"/>
                          </a:solidFill>
                        </a:rPr>
                        <a:t>Vehicle</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Gate</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Size</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EV</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Access</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Spot</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Cost</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r>
              <a:tr h="402336">
                <a:tc>
                  <a:txBody>
                    <a:bodyPr/>
                    <a:lstStyle/>
                    <a:p>
                      <a:pPr algn="ctr" indent="0" marL="0">
                        <a:buNone/>
                      </a:pPr>
                      <a:r>
                        <a:rPr lang="en-US" sz="1400" b="1" dirty="0">
                          <a:solidFill>
                            <a:schemeClr val="tx1"/>
                          </a:solidFill>
                        </a:rPr>
                        <a:t>V01</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G1</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Compact</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No</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No</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2"/>
                          </a:solidFill>
                        </a:rPr>
                        <a:t>P01</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0.2002</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r h="402336">
                <a:tc>
                  <a:txBody>
                    <a:bodyPr/>
                    <a:lstStyle/>
                    <a:p>
                      <a:pPr algn="ctr" indent="0" marL="0">
                        <a:buNone/>
                      </a:pPr>
                      <a:r>
                        <a:rPr lang="en-US" sz="1400" b="1" dirty="0">
                          <a:solidFill>
                            <a:schemeClr val="tx1"/>
                          </a:solidFill>
                        </a:rPr>
                        <a:t>V02</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G1</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Standard</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Yes</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No</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2"/>
                          </a:solidFill>
                        </a:rPr>
                        <a:t>P14</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0.4327</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r h="402336">
                <a:tc>
                  <a:txBody>
                    <a:bodyPr/>
                    <a:lstStyle/>
                    <a:p>
                      <a:pPr algn="ctr" indent="0" marL="0">
                        <a:buNone/>
                      </a:pPr>
                      <a:r>
                        <a:rPr lang="en-US" sz="1400" b="1" dirty="0">
                          <a:solidFill>
                            <a:schemeClr val="tx1"/>
                          </a:solidFill>
                        </a:rPr>
                        <a:t>V03</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G2</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Standard</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No</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Yes</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2"/>
                          </a:solidFill>
                        </a:rPr>
                        <a:t>P11</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0.6587</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r h="402336">
                <a:tc>
                  <a:txBody>
                    <a:bodyPr/>
                    <a:lstStyle/>
                    <a:p>
                      <a:pPr algn="ctr" indent="0" marL="0">
                        <a:buNone/>
                      </a:pPr>
                      <a:r>
                        <a:rPr lang="en-US" sz="1400" b="1" dirty="0">
                          <a:solidFill>
                            <a:schemeClr val="tx1"/>
                          </a:solidFill>
                        </a:rPr>
                        <a:t>V04</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G2</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Large</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Yes</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Yes</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accent2"/>
                          </a:solidFill>
                        </a:rPr>
                        <a:t>P30</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0.1005</a:t>
                      </a:r>
                      <a:endParaRPr lang="en-US" sz="1400" dirty="0"/>
                    </a:p>
                  </a:txBody>
                  <a:tcPr marL="91440" marR="91440" marT="45720" marB="45720"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bl>
          </a:graphicData>
        </a:graphic>
      </p:graphicFrame>
      <p:sp>
        <p:nvSpPr>
          <p:cNvPr id="5" name="Stat card 1"/>
          <p:cNvSpPr/>
          <p:nvPr/>
        </p:nvSpPr>
        <p:spPr>
          <a:xfrm>
            <a:off x="6492240" y="1280160"/>
            <a:ext cx="2194560" cy="960120"/>
          </a:xfrm>
          <a:prstGeom prst="roundRect">
            <a:avLst>
              <a:gd name="adj" fmla="val 9524"/>
            </a:avLst>
          </a:prstGeom>
          <a:solidFill>
            <a:schemeClr val="tx1"/>
          </a:solidFill>
          <a:ln/>
          <a:effectLst>
            <a:outerShdw sx="100000" sy="100000" kx="0" ky="0" algn="bl" rotWithShape="0" blurRad="76200" dist="25400" dir="5400000">
              <a:srgbClr val="000000">
                <a:alpha val="12000"/>
              </a:srgbClr>
            </a:outerShdw>
          </a:effectLst>
        </p:spPr>
      </p:sp>
      <p:sp>
        <p:nvSpPr>
          <p:cNvPr id="6" name="Stat value 1"/>
          <p:cNvSpPr txBox="1"/>
          <p:nvPr/>
        </p:nvSpPr>
        <p:spPr>
          <a:xfrm>
            <a:off x="6492240" y="1325880"/>
            <a:ext cx="2194560" cy="548640"/>
          </a:xfrm>
          <a:prstGeom prst="rect">
            <a:avLst/>
          </a:prstGeom>
          <a:noFill/>
          <a:ln/>
        </p:spPr>
        <p:txBody>
          <a:bodyPr wrap="square" lIns="0" tIns="0" rIns="0" bIns="0" rtlCol="0" anchor="ctr"/>
          <a:lstStyle/>
          <a:p>
            <a:pPr algn="ctr" indent="0" marL="0">
              <a:buNone/>
            </a:pPr>
            <a:r>
              <a:rPr lang="en-US" sz="3200" b="1" dirty="0">
                <a:solidFill>
                  <a:schemeClr val="accent1"/>
                </a:solidFill>
                <a:latin typeface="Cambria" pitchFamily="34" charset="0"/>
                <a:ea typeface="Cambria" pitchFamily="34" charset="-122"/>
                <a:cs typeface="Cambria" pitchFamily="34" charset="-120"/>
              </a:rPr>
              <a:t>4</a:t>
            </a:r>
            <a:endParaRPr lang="en-US" sz="3200" dirty="0"/>
          </a:p>
        </p:txBody>
      </p:sp>
      <p:sp>
        <p:nvSpPr>
          <p:cNvPr id="7" name="Stat label 1"/>
          <p:cNvSpPr txBox="1"/>
          <p:nvPr/>
        </p:nvSpPr>
        <p:spPr>
          <a:xfrm>
            <a:off x="6492240" y="1874520"/>
            <a:ext cx="2194560" cy="274320"/>
          </a:xfrm>
          <a:prstGeom prst="rect">
            <a:avLst/>
          </a:prstGeom>
          <a:noFill/>
          <a:ln/>
        </p:spPr>
        <p:txBody>
          <a:bodyPr wrap="square" lIns="0" tIns="0" rIns="0" bIns="0" rtlCol="0" anchor="ctr"/>
          <a:lstStyle/>
          <a:p>
            <a:pPr algn="ctr" indent="0" marL="0">
              <a:buNone/>
            </a:pPr>
            <a:r>
              <a:rPr lang="en-US" sz="1400" dirty="0">
                <a:solidFill>
                  <a:schemeClr val="bg2"/>
                </a:solidFill>
              </a:rPr>
              <a:t>vehicles assigned</a:t>
            </a:r>
            <a:endParaRPr lang="en-US" sz="1400" dirty="0"/>
          </a:p>
        </p:txBody>
      </p:sp>
      <p:sp>
        <p:nvSpPr>
          <p:cNvPr id="8" name="Stat card 2"/>
          <p:cNvSpPr/>
          <p:nvPr/>
        </p:nvSpPr>
        <p:spPr>
          <a:xfrm>
            <a:off x="6492240" y="2331720"/>
            <a:ext cx="2194560" cy="960120"/>
          </a:xfrm>
          <a:prstGeom prst="roundRect">
            <a:avLst>
              <a:gd name="adj" fmla="val 9524"/>
            </a:avLst>
          </a:prstGeom>
          <a:solidFill>
            <a:schemeClr val="tx1"/>
          </a:solidFill>
          <a:ln/>
          <a:effectLst>
            <a:outerShdw sx="100000" sy="100000" kx="0" ky="0" algn="bl" rotWithShape="0" blurRad="76200" dist="25400" dir="5400000">
              <a:srgbClr val="000000">
                <a:alpha val="12000"/>
              </a:srgbClr>
            </a:outerShdw>
          </a:effectLst>
        </p:spPr>
      </p:sp>
      <p:sp>
        <p:nvSpPr>
          <p:cNvPr id="9" name="Stat value 2"/>
          <p:cNvSpPr txBox="1"/>
          <p:nvPr/>
        </p:nvSpPr>
        <p:spPr>
          <a:xfrm>
            <a:off x="6492240" y="2377440"/>
            <a:ext cx="2194560" cy="548640"/>
          </a:xfrm>
          <a:prstGeom prst="rect">
            <a:avLst/>
          </a:prstGeom>
          <a:noFill/>
          <a:ln/>
        </p:spPr>
        <p:txBody>
          <a:bodyPr wrap="square" lIns="0" tIns="0" rIns="0" bIns="0" rtlCol="0" anchor="ctr"/>
          <a:lstStyle/>
          <a:p>
            <a:pPr algn="ctr" indent="0" marL="0">
              <a:buNone/>
            </a:pPr>
            <a:r>
              <a:rPr lang="en-US" sz="3200" b="1" dirty="0">
                <a:solidFill>
                  <a:schemeClr val="accent1"/>
                </a:solidFill>
                <a:latin typeface="Cambria" pitchFamily="34" charset="0"/>
                <a:ea typeface="Cambria" pitchFamily="34" charset="-122"/>
                <a:cs typeface="Cambria" pitchFamily="34" charset="-120"/>
              </a:rPr>
              <a:t>26 / 30</a:t>
            </a:r>
            <a:endParaRPr lang="en-US" sz="3200" dirty="0"/>
          </a:p>
        </p:txBody>
      </p:sp>
      <p:sp>
        <p:nvSpPr>
          <p:cNvPr id="10" name="Stat label 2"/>
          <p:cNvSpPr txBox="1"/>
          <p:nvPr/>
        </p:nvSpPr>
        <p:spPr>
          <a:xfrm>
            <a:off x="6492240" y="2926080"/>
            <a:ext cx="2194560" cy="274320"/>
          </a:xfrm>
          <a:prstGeom prst="rect">
            <a:avLst/>
          </a:prstGeom>
          <a:noFill/>
          <a:ln/>
        </p:spPr>
        <p:txBody>
          <a:bodyPr wrap="square" lIns="0" tIns="0" rIns="0" bIns="0" rtlCol="0" anchor="ctr"/>
          <a:lstStyle/>
          <a:p>
            <a:pPr algn="ctr" indent="0" marL="0">
              <a:buNone/>
            </a:pPr>
            <a:r>
              <a:rPr lang="en-US" sz="1400" dirty="0">
                <a:solidFill>
                  <a:schemeClr val="bg2"/>
                </a:solidFill>
              </a:rPr>
              <a:t>spaces still free</a:t>
            </a:r>
            <a:endParaRPr lang="en-US" sz="1400" dirty="0"/>
          </a:p>
        </p:txBody>
      </p:sp>
      <p:sp>
        <p:nvSpPr>
          <p:cNvPr id="11" name="Proof card 1"/>
          <p:cNvSpPr/>
          <p:nvPr/>
        </p:nvSpPr>
        <p:spPr>
          <a:xfrm>
            <a:off x="457200" y="3566160"/>
            <a:ext cx="2651760" cy="777240"/>
          </a:xfrm>
          <a:prstGeom prst="roundRect">
            <a:avLst>
              <a:gd name="adj" fmla="val 11765"/>
            </a:avLst>
          </a:prstGeom>
          <a:solidFill>
            <a:schemeClr val="bg1"/>
          </a:solidFill>
          <a:ln/>
        </p:spPr>
      </p:sp>
      <p:pic>
        <p:nvPicPr>
          <p:cNvPr id="12" name="Proof tick 1" descr="preencoded.png">    </p:cNvPr>
          <p:cNvPicPr>
            <a:picLocks noChangeAspect="1"/>
          </p:cNvPicPr>
          <p:nvPr/>
        </p:nvPicPr>
        <p:blipFill>
          <a:blip r:embed="rId1"/>
          <a:stretch>
            <a:fillRect/>
          </a:stretch>
        </p:blipFill>
        <p:spPr>
          <a:xfrm>
            <a:off x="594360" y="3822192"/>
            <a:ext cx="274320" cy="274320"/>
          </a:xfrm>
          <a:prstGeom prst="rect">
            <a:avLst/>
          </a:prstGeom>
        </p:spPr>
      </p:pic>
      <p:sp>
        <p:nvSpPr>
          <p:cNvPr id="13" name="Proof text 1"/>
          <p:cNvSpPr txBox="1"/>
          <p:nvPr/>
        </p:nvSpPr>
        <p:spPr>
          <a:xfrm>
            <a:off x="1005840" y="3566160"/>
            <a:ext cx="2011680" cy="777240"/>
          </a:xfrm>
          <a:prstGeom prst="rect">
            <a:avLst/>
          </a:prstGeom>
          <a:noFill/>
          <a:ln/>
        </p:spPr>
        <p:txBody>
          <a:bodyPr wrap="square" lIns="0" tIns="0" rIns="0" bIns="0" rtlCol="0" anchor="ctr"/>
          <a:lstStyle/>
          <a:p>
            <a:pPr indent="0" marL="0">
              <a:buNone/>
            </a:pPr>
            <a:r>
              <a:rPr lang="en-US" sz="1400" b="1" dirty="0">
                <a:solidFill>
                  <a:schemeClr val="tx1"/>
                </a:solidFill>
              </a:rPr>
              <a:t>Constraints are always respected</a:t>
            </a:r>
            <a:endParaRPr lang="en-US" sz="1400" dirty="0"/>
          </a:p>
        </p:txBody>
      </p:sp>
      <p:sp>
        <p:nvSpPr>
          <p:cNvPr id="14" name="Proof card 2"/>
          <p:cNvSpPr/>
          <p:nvPr/>
        </p:nvSpPr>
        <p:spPr>
          <a:xfrm>
            <a:off x="3246120" y="3566160"/>
            <a:ext cx="2651760" cy="777240"/>
          </a:xfrm>
          <a:prstGeom prst="roundRect">
            <a:avLst>
              <a:gd name="adj" fmla="val 11765"/>
            </a:avLst>
          </a:prstGeom>
          <a:solidFill>
            <a:schemeClr val="bg1"/>
          </a:solidFill>
          <a:ln/>
        </p:spPr>
      </p:sp>
      <p:pic>
        <p:nvPicPr>
          <p:cNvPr id="15" name="Proof tick 2" descr="preencoded.png">    </p:cNvPr>
          <p:cNvPicPr>
            <a:picLocks noChangeAspect="1"/>
          </p:cNvPicPr>
          <p:nvPr/>
        </p:nvPicPr>
        <p:blipFill>
          <a:blip r:embed="rId2"/>
          <a:stretch>
            <a:fillRect/>
          </a:stretch>
        </p:blipFill>
        <p:spPr>
          <a:xfrm>
            <a:off x="3383280" y="3822192"/>
            <a:ext cx="274320" cy="274320"/>
          </a:xfrm>
          <a:prstGeom prst="rect">
            <a:avLst/>
          </a:prstGeom>
        </p:spPr>
      </p:pic>
      <p:sp>
        <p:nvSpPr>
          <p:cNvPr id="16" name="Proof text 2"/>
          <p:cNvSpPr txBox="1"/>
          <p:nvPr/>
        </p:nvSpPr>
        <p:spPr>
          <a:xfrm>
            <a:off x="3794760" y="3566160"/>
            <a:ext cx="2011680" cy="777240"/>
          </a:xfrm>
          <a:prstGeom prst="rect">
            <a:avLst/>
          </a:prstGeom>
          <a:noFill/>
          <a:ln/>
        </p:spPr>
        <p:txBody>
          <a:bodyPr wrap="square" lIns="0" tIns="0" rIns="0" bIns="0" rtlCol="0" anchor="ctr"/>
          <a:lstStyle/>
          <a:p>
            <a:pPr indent="0" marL="0">
              <a:buNone/>
            </a:pPr>
            <a:r>
              <a:rPr lang="en-US" sz="1400" b="1" dirty="0">
                <a:solidFill>
                  <a:schemeClr val="tx1"/>
                </a:solidFill>
              </a:rPr>
              <a:t>The lowest cost wins</a:t>
            </a:r>
            <a:endParaRPr lang="en-US" sz="1400" dirty="0"/>
          </a:p>
        </p:txBody>
      </p:sp>
      <p:sp>
        <p:nvSpPr>
          <p:cNvPr id="17" name="Proof card 3"/>
          <p:cNvSpPr/>
          <p:nvPr/>
        </p:nvSpPr>
        <p:spPr>
          <a:xfrm>
            <a:off x="6035040" y="3566160"/>
            <a:ext cx="2651760" cy="777240"/>
          </a:xfrm>
          <a:prstGeom prst="roundRect">
            <a:avLst>
              <a:gd name="adj" fmla="val 11765"/>
            </a:avLst>
          </a:prstGeom>
          <a:solidFill>
            <a:schemeClr val="bg1"/>
          </a:solidFill>
          <a:ln/>
        </p:spPr>
      </p:sp>
      <p:pic>
        <p:nvPicPr>
          <p:cNvPr id="18" name="Proof tick 3" descr="preencoded.png">    </p:cNvPr>
          <p:cNvPicPr>
            <a:picLocks noChangeAspect="1"/>
          </p:cNvPicPr>
          <p:nvPr/>
        </p:nvPicPr>
        <p:blipFill>
          <a:blip r:embed="rId3"/>
          <a:stretch>
            <a:fillRect/>
          </a:stretch>
        </p:blipFill>
        <p:spPr>
          <a:xfrm>
            <a:off x="6172200" y="3822192"/>
            <a:ext cx="274320" cy="274320"/>
          </a:xfrm>
          <a:prstGeom prst="rect">
            <a:avLst/>
          </a:prstGeom>
        </p:spPr>
      </p:pic>
      <p:sp>
        <p:nvSpPr>
          <p:cNvPr id="19" name="Proof text 3"/>
          <p:cNvSpPr txBox="1"/>
          <p:nvPr/>
        </p:nvSpPr>
        <p:spPr>
          <a:xfrm>
            <a:off x="6583680" y="3566160"/>
            <a:ext cx="2011680" cy="777240"/>
          </a:xfrm>
          <a:prstGeom prst="rect">
            <a:avLst/>
          </a:prstGeom>
          <a:noFill/>
          <a:ln/>
        </p:spPr>
        <p:txBody>
          <a:bodyPr wrap="square" lIns="0" tIns="0" rIns="0" bIns="0" rtlCol="0" anchor="ctr"/>
          <a:lstStyle/>
          <a:p>
            <a:pPr indent="0" marL="0">
              <a:buNone/>
            </a:pPr>
            <a:r>
              <a:rPr lang="en-US" sz="1400" b="1" dirty="0">
                <a:solidFill>
                  <a:schemeClr val="tx1"/>
                </a:solidFill>
              </a:rPr>
              <a:t>The lot updates after every assignment</a:t>
            </a:r>
            <a:endParaRPr lang="en-US" sz="1400" dirty="0"/>
          </a:p>
        </p:txBody>
      </p:sp>
      <p:sp>
        <p:nvSpPr>
          <p:cNvPr id="20" name="Reproducible note"/>
          <p:cNvSpPr txBox="1"/>
          <p:nvPr/>
        </p:nvSpPr>
        <p:spPr>
          <a:xfrm>
            <a:off x="457200" y="4480560"/>
            <a:ext cx="7680960" cy="274320"/>
          </a:xfrm>
          <a:prstGeom prst="rect">
            <a:avLst/>
          </a:prstGeom>
          <a:noFill/>
          <a:ln/>
        </p:spPr>
        <p:txBody>
          <a:bodyPr wrap="square" lIns="0" tIns="0" rIns="0" bIns="0" rtlCol="0" anchor="ctr"/>
          <a:lstStyle/>
          <a:p>
            <a:pPr indent="0" marL="0">
              <a:buNone/>
            </a:pPr>
            <a:r>
              <a:rPr lang="en-US" sz="1300" i="1" dirty="0">
                <a:solidFill>
                  <a:schemeClr val="accent5"/>
                </a:solidFill>
              </a:rPr>
              <a:t>Results are reproducible: the same data always gives the same answer.</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ection badge"/>
          <p:cNvSpPr txBox="1"/>
          <p:nvPr/>
        </p:nvSpPr>
        <p:spPr>
          <a:xfrm>
            <a:off x="457200" y="228600"/>
            <a:ext cx="1321308" cy="256032"/>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dirty="0">
                <a:solidFill>
                  <a:schemeClr val="tx1"/>
                </a:solidFill>
              </a:rPr>
              <a:t>THE PROJECT</a:t>
            </a:r>
            <a:endParaRPr lang="en-US" sz="1000" dirty="0"/>
          </a:p>
        </p:txBody>
      </p:sp>
      <p:sp>
        <p:nvSpPr>
          <p:cNvPr id="3" name="Text 0"/>
          <p:cNvSpPr/>
          <p:nvPr>
            <p:ph idx="100"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3200" b="1" dirty="0">
                <a:solidFill>
                  <a:schemeClr val="tx1"/>
                </a:solidFill>
              </a:rPr>
              <a:t>Built in Python, checked by tests</a:t>
            </a:r>
            <a:endParaRPr lang="en-US" sz="3200" dirty="0"/>
          </a:p>
        </p:txBody>
      </p:sp>
      <p:sp>
        <p:nvSpPr>
          <p:cNvPr id="4" name="Built card"/>
          <p:cNvSpPr/>
          <p:nvPr/>
        </p:nvSpPr>
        <p:spPr>
          <a:xfrm>
            <a:off x="457200" y="1280160"/>
            <a:ext cx="4023360" cy="3429000"/>
          </a:xfrm>
          <a:prstGeom prst="roundRect">
            <a:avLst>
              <a:gd name="adj" fmla="val 2667"/>
            </a:avLst>
          </a:prstGeom>
          <a:solidFill>
            <a:schemeClr val="bg1"/>
          </a:solidFill>
          <a:ln/>
          <a:effectLst>
            <a:outerShdw sx="100000" sy="100000" kx="0" ky="0" algn="bl" rotWithShape="0" blurRad="76200" dist="25400" dir="5400000">
              <a:srgbClr val="000000">
                <a:alpha val="12000"/>
              </a:srgbClr>
            </a:outerShdw>
          </a:effectLst>
        </p:spPr>
        <p:txBody>
          <a:bodyPr/>
          <a:p/>
        </p:txBody>
      </p:sp>
      <p:sp>
        <p:nvSpPr>
          <p:cNvPr id="5" name="Built heading"/>
          <p:cNvSpPr txBox="1"/>
          <p:nvPr/>
        </p:nvSpPr>
        <p:spPr>
          <a:xfrm>
            <a:off x="640080" y="1371600"/>
            <a:ext cx="3657600" cy="320040"/>
          </a:xfrm>
          <a:prstGeom prst="rect">
            <a:avLst/>
          </a:prstGeom>
          <a:noFill/>
          <a:ln/>
        </p:spPr>
        <p:txBody>
          <a:bodyPr wrap="square" lIns="0" tIns="0" rIns="0" bIns="0" rtlCol="0" anchor="ctr"/>
          <a:lstStyle/>
          <a:p>
            <a:pPr indent="0" marL="0">
              <a:buNone/>
            </a:pPr>
            <a:r>
              <a:rPr lang="en-US" sz="1700" b="1" dirty="0">
                <a:solidFill>
                  <a:schemeClr val="tx1"/>
                </a:solidFill>
              </a:rPr>
              <a:t>What we built</a:t>
            </a:r>
            <a:endParaRPr lang="en-US" sz="1700" dirty="0"/>
          </a:p>
        </p:txBody>
      </p:sp>
      <p:sp>
        <p:nvSpPr>
          <p:cNvPr id="6" name="Built icon 1 circle"/>
          <p:cNvSpPr/>
          <p:nvPr/>
        </p:nvSpPr>
        <p:spPr>
          <a:xfrm>
            <a:off x="640080" y="1783080"/>
            <a:ext cx="420624" cy="420624"/>
          </a:xfrm>
          <a:prstGeom prst="ellipse">
            <a:avLst/>
          </a:prstGeom>
          <a:solidFill>
            <a:schemeClr val="accent2"/>
          </a:solidFill>
          <a:ln/>
        </p:spPr>
        <p:txBody>
          <a:bodyPr/>
          <a:p/>
        </p:txBody>
      </p:sp>
      <p:pic>
        <p:nvPicPr>
          <p:cNvPr id="7" name="Built icon 1" descr="preencoded.png">    </p:cNvPr>
          <p:cNvPicPr>
            <a:picLocks noChangeAspect="1"/>
          </p:cNvPicPr>
          <p:nvPr/>
        </p:nvPicPr>
        <p:blipFill>
          <a:blip r:embed="rId1"/>
          <a:stretch>
            <a:fillRect/>
          </a:stretch>
        </p:blipFill>
        <p:spPr>
          <a:xfrm>
            <a:off x="749442" y="1892442"/>
            <a:ext cx="201900" cy="201900"/>
          </a:xfrm>
          <a:prstGeom prst="rect">
            <a:avLst/>
          </a:prstGeom>
        </p:spPr>
      </p:pic>
      <p:sp>
        <p:nvSpPr>
          <p:cNvPr id="8" name="Built text 1"/>
          <p:cNvSpPr txBox="1"/>
          <p:nvPr/>
        </p:nvSpPr>
        <p:spPr>
          <a:xfrm>
            <a:off x="1188720" y="1764792"/>
            <a:ext cx="3154680" cy="45720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Matrix engine</a:t>
            </a:r>
            <a:endParaRPr lang="en-US" sz="1400" dirty="0"/>
          </a:p>
          <a:p>
            <a:pPr indent="0" marL="0">
              <a:buNone/>
            </a:pPr>
            <a:r>
              <a:rPr lang="en-US" sz="1200" dirty="0">
                <a:solidFill>
                  <a:schemeClr val="accent5"/>
                </a:solidFill>
                <a:latin typeface="Calibri" pitchFamily="34" charset="0"/>
                <a:ea typeface="Calibri" pitchFamily="34" charset="-122"/>
                <a:cs typeface="Calibri" pitchFamily="34" charset="-120"/>
              </a:rPr>
              <a:t>features, projection, least squares</a:t>
            </a:r>
            <a:endParaRPr lang="en-US" sz="1400" dirty="0"/>
          </a:p>
        </p:txBody>
      </p:sp>
      <p:sp>
        <p:nvSpPr>
          <p:cNvPr id="9" name="Built icon 2 circle"/>
          <p:cNvSpPr/>
          <p:nvPr/>
        </p:nvSpPr>
        <p:spPr>
          <a:xfrm>
            <a:off x="640080" y="2359152"/>
            <a:ext cx="420624" cy="420624"/>
          </a:xfrm>
          <a:prstGeom prst="ellipse">
            <a:avLst/>
          </a:prstGeom>
          <a:solidFill>
            <a:schemeClr val="accent2"/>
          </a:solidFill>
          <a:ln/>
        </p:spPr>
        <p:txBody>
          <a:bodyPr/>
          <a:p/>
        </p:txBody>
      </p:sp>
      <p:pic>
        <p:nvPicPr>
          <p:cNvPr id="10" name="Built icon 2" descr="preencoded.png">    </p:cNvPr>
          <p:cNvPicPr>
            <a:picLocks noChangeAspect="1"/>
          </p:cNvPicPr>
          <p:nvPr/>
        </p:nvPicPr>
        <p:blipFill>
          <a:blip r:embed="rId2"/>
          <a:stretch>
            <a:fillRect/>
          </a:stretch>
        </p:blipFill>
        <p:spPr>
          <a:xfrm>
            <a:off x="749442" y="2468514"/>
            <a:ext cx="201900" cy="201900"/>
          </a:xfrm>
          <a:prstGeom prst="rect">
            <a:avLst/>
          </a:prstGeom>
        </p:spPr>
      </p:pic>
      <p:sp>
        <p:nvSpPr>
          <p:cNvPr id="11" name="Built text 2"/>
          <p:cNvSpPr txBox="1"/>
          <p:nvPr/>
        </p:nvSpPr>
        <p:spPr>
          <a:xfrm>
            <a:off x="1188720" y="2340864"/>
            <a:ext cx="3154680" cy="45720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Interactive GUI</a:t>
            </a:r>
            <a:endParaRPr lang="en-US" sz="1400" dirty="0"/>
          </a:p>
          <a:p>
            <a:pPr indent="0" marL="0">
              <a:buNone/>
            </a:pPr>
            <a:r>
              <a:rPr lang="en-US" sz="1200" dirty="0">
                <a:solidFill>
                  <a:schemeClr val="accent5"/>
                </a:solidFill>
                <a:latin typeface="Calibri" pitchFamily="34" charset="0"/>
                <a:ea typeface="Calibri" pitchFamily="34" charset="-122"/>
                <a:cs typeface="Calibri" pitchFamily="34" charset="-120"/>
              </a:rPr>
              <a:t>enter vehicles, watch the grid update</a:t>
            </a:r>
            <a:endParaRPr lang="en-US" sz="1400" dirty="0"/>
          </a:p>
        </p:txBody>
      </p:sp>
      <p:sp>
        <p:nvSpPr>
          <p:cNvPr id="12" name="Built icon 3 circle"/>
          <p:cNvSpPr/>
          <p:nvPr/>
        </p:nvSpPr>
        <p:spPr>
          <a:xfrm>
            <a:off x="640080" y="2935224"/>
            <a:ext cx="420624" cy="420624"/>
          </a:xfrm>
          <a:prstGeom prst="ellipse">
            <a:avLst/>
          </a:prstGeom>
          <a:solidFill>
            <a:schemeClr val="accent2"/>
          </a:solidFill>
          <a:ln/>
        </p:spPr>
        <p:txBody>
          <a:bodyPr/>
          <a:p/>
        </p:txBody>
      </p:sp>
      <p:pic>
        <p:nvPicPr>
          <p:cNvPr id="13" name="Built icon 3" descr="preencoded.png">    </p:cNvPr>
          <p:cNvPicPr>
            <a:picLocks noChangeAspect="1"/>
          </p:cNvPicPr>
          <p:nvPr/>
        </p:nvPicPr>
        <p:blipFill>
          <a:blip r:embed="rId3"/>
          <a:stretch>
            <a:fillRect/>
          </a:stretch>
        </p:blipFill>
        <p:spPr>
          <a:xfrm>
            <a:off x="749442" y="3044586"/>
            <a:ext cx="201900" cy="201900"/>
          </a:xfrm>
          <a:prstGeom prst="rect">
            <a:avLst/>
          </a:prstGeom>
        </p:spPr>
      </p:pic>
      <p:sp>
        <p:nvSpPr>
          <p:cNvPr id="14" name="Built text 3"/>
          <p:cNvSpPr txBox="1"/>
          <p:nvPr/>
        </p:nvSpPr>
        <p:spPr>
          <a:xfrm>
            <a:off x="1188720" y="2916936"/>
            <a:ext cx="3154680" cy="45720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Step-by-step logs</a:t>
            </a:r>
            <a:endParaRPr lang="en-US" sz="1400" dirty="0"/>
          </a:p>
          <a:p>
            <a:pPr indent="0" marL="0">
              <a:buNone/>
            </a:pPr>
            <a:r>
              <a:rPr lang="en-US" sz="1200" dirty="0">
                <a:solidFill>
                  <a:schemeClr val="accent5"/>
                </a:solidFill>
                <a:latin typeface="Calibri" pitchFamily="34" charset="0"/>
                <a:ea typeface="Calibri" pitchFamily="34" charset="-122"/>
                <a:cs typeface="Calibri" pitchFamily="34" charset="-120"/>
              </a:rPr>
              <a:t>every stage of the pipeline is visible</a:t>
            </a:r>
            <a:endParaRPr lang="en-US" sz="1400" dirty="0"/>
          </a:p>
        </p:txBody>
      </p:sp>
      <p:sp>
        <p:nvSpPr>
          <p:cNvPr id="15" name="Built icon 4 circle"/>
          <p:cNvSpPr/>
          <p:nvPr/>
        </p:nvSpPr>
        <p:spPr>
          <a:xfrm>
            <a:off x="640080" y="3511296"/>
            <a:ext cx="420624" cy="420624"/>
          </a:xfrm>
          <a:prstGeom prst="ellipse">
            <a:avLst/>
          </a:prstGeom>
          <a:solidFill>
            <a:schemeClr val="accent2"/>
          </a:solidFill>
          <a:ln/>
        </p:spPr>
        <p:txBody>
          <a:bodyPr/>
          <a:p/>
        </p:txBody>
      </p:sp>
      <p:pic>
        <p:nvPicPr>
          <p:cNvPr id="16" name="Built icon 4" descr="preencoded.png">    </p:cNvPr>
          <p:cNvPicPr>
            <a:picLocks noChangeAspect="1"/>
          </p:cNvPicPr>
          <p:nvPr/>
        </p:nvPicPr>
        <p:blipFill>
          <a:blip r:embed="rId4"/>
          <a:stretch>
            <a:fillRect/>
          </a:stretch>
        </p:blipFill>
        <p:spPr>
          <a:xfrm>
            <a:off x="749442" y="3620658"/>
            <a:ext cx="201900" cy="201900"/>
          </a:xfrm>
          <a:prstGeom prst="rect">
            <a:avLst/>
          </a:prstGeom>
        </p:spPr>
      </p:pic>
      <p:sp>
        <p:nvSpPr>
          <p:cNvPr id="17" name="Built text 4"/>
          <p:cNvSpPr txBox="1"/>
          <p:nvPr/>
        </p:nvSpPr>
        <p:spPr>
          <a:xfrm>
            <a:off x="1188720" y="3493008"/>
            <a:ext cx="3154680" cy="45720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Colab notebook</a:t>
            </a:r>
            <a:endParaRPr lang="en-US" sz="1400" dirty="0"/>
          </a:p>
          <a:p>
            <a:pPr indent="0" marL="0">
              <a:buNone/>
            </a:pPr>
            <a:r>
              <a:rPr lang="en-US" sz="1200" dirty="0">
                <a:solidFill>
                  <a:schemeClr val="accent5"/>
                </a:solidFill>
                <a:latin typeface="Calibri" pitchFamily="34" charset="0"/>
                <a:ea typeface="Calibri" pitchFamily="34" charset="-122"/>
                <a:cs typeface="Calibri" pitchFamily="34" charset="-120"/>
              </a:rPr>
              <a:t>the mathematics, stage by stage</a:t>
            </a:r>
            <a:endParaRPr lang="en-US" sz="1400" dirty="0"/>
          </a:p>
        </p:txBody>
      </p:sp>
      <p:sp>
        <p:nvSpPr>
          <p:cNvPr id="18" name="Built icon 5 circle"/>
          <p:cNvSpPr/>
          <p:nvPr/>
        </p:nvSpPr>
        <p:spPr>
          <a:xfrm>
            <a:off x="640080" y="4087368"/>
            <a:ext cx="420624" cy="420624"/>
          </a:xfrm>
          <a:prstGeom prst="ellipse">
            <a:avLst/>
          </a:prstGeom>
          <a:solidFill>
            <a:schemeClr val="accent2"/>
          </a:solidFill>
          <a:ln/>
        </p:spPr>
        <p:txBody>
          <a:bodyPr/>
          <a:p/>
        </p:txBody>
      </p:sp>
      <p:pic>
        <p:nvPicPr>
          <p:cNvPr id="19" name="Built icon 5" descr="preencoded.png">    </p:cNvPr>
          <p:cNvPicPr>
            <a:picLocks noChangeAspect="1"/>
          </p:cNvPicPr>
          <p:nvPr/>
        </p:nvPicPr>
        <p:blipFill>
          <a:blip r:embed="rId5"/>
          <a:stretch>
            <a:fillRect/>
          </a:stretch>
        </p:blipFill>
        <p:spPr>
          <a:xfrm>
            <a:off x="749442" y="4196730"/>
            <a:ext cx="201900" cy="201900"/>
          </a:xfrm>
          <a:prstGeom prst="rect">
            <a:avLst/>
          </a:prstGeom>
        </p:spPr>
      </p:pic>
      <p:sp>
        <p:nvSpPr>
          <p:cNvPr id="20" name="Built text 5"/>
          <p:cNvSpPr txBox="1"/>
          <p:nvPr/>
        </p:nvSpPr>
        <p:spPr>
          <a:xfrm>
            <a:off x="1188720" y="4069080"/>
            <a:ext cx="3154680" cy="45720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Documentation</a:t>
            </a:r>
            <a:endParaRPr lang="en-US" sz="1400" dirty="0"/>
          </a:p>
          <a:p>
            <a:pPr indent="0" marL="0">
              <a:buNone/>
            </a:pPr>
            <a:r>
              <a:rPr lang="en-US" sz="1200" dirty="0">
                <a:solidFill>
                  <a:schemeClr val="accent5"/>
                </a:solidFill>
                <a:latin typeface="Calibri" pitchFamily="34" charset="0"/>
                <a:ea typeface="Calibri" pitchFamily="34" charset="-122"/>
                <a:cs typeface="Calibri" pitchFamily="34" charset="-120"/>
              </a:rPr>
              <a:t>README, data and source code</a:t>
            </a:r>
            <a:endParaRPr lang="en-US" sz="1400" dirty="0"/>
          </a:p>
        </p:txBody>
      </p:sp>
      <p:sp>
        <p:nvSpPr>
          <p:cNvPr id="21" name="Tested card"/>
          <p:cNvSpPr/>
          <p:nvPr/>
        </p:nvSpPr>
        <p:spPr>
          <a:xfrm>
            <a:off x="4663440" y="1280160"/>
            <a:ext cx="4023360" cy="3429000"/>
          </a:xfrm>
          <a:prstGeom prst="roundRect">
            <a:avLst>
              <a:gd name="adj" fmla="val 2667"/>
            </a:avLst>
          </a:prstGeom>
          <a:solidFill>
            <a:schemeClr val="bg1"/>
          </a:solidFill>
          <a:ln/>
          <a:effectLst>
            <a:outerShdw sx="100000" sy="100000" kx="0" ky="0" algn="bl" rotWithShape="0" blurRad="76200" dist="25400" dir="5400000">
              <a:srgbClr val="000000">
                <a:alpha val="12000"/>
              </a:srgbClr>
            </a:outerShdw>
          </a:effectLst>
        </p:spPr>
        <p:txBody>
          <a:bodyPr/>
          <a:p/>
        </p:txBody>
      </p:sp>
      <p:sp>
        <p:nvSpPr>
          <p:cNvPr id="22" name="Tested heading"/>
          <p:cNvSpPr txBox="1"/>
          <p:nvPr/>
        </p:nvSpPr>
        <p:spPr>
          <a:xfrm>
            <a:off x="4846320" y="1371600"/>
            <a:ext cx="3657600" cy="320040"/>
          </a:xfrm>
          <a:prstGeom prst="rect">
            <a:avLst/>
          </a:prstGeom>
          <a:noFill/>
          <a:ln/>
        </p:spPr>
        <p:txBody>
          <a:bodyPr wrap="square" lIns="0" tIns="0" rIns="0" bIns="0" rtlCol="0" anchor="ctr"/>
          <a:lstStyle/>
          <a:p>
            <a:pPr indent="0" marL="0">
              <a:buNone/>
            </a:pPr>
            <a:r>
              <a:rPr lang="en-US" sz="1700" b="1" dirty="0">
                <a:solidFill>
                  <a:schemeClr val="tx1"/>
                </a:solidFill>
              </a:rPr>
              <a:t>How we checked it</a:t>
            </a:r>
            <a:endParaRPr lang="en-US" sz="1700" dirty="0"/>
          </a:p>
        </p:txBody>
      </p:sp>
      <p:pic>
        <p:nvPicPr>
          <p:cNvPr id="23" name="Tested tick 1" descr="preencoded.png">    </p:cNvPr>
          <p:cNvPicPr>
            <a:picLocks noChangeAspect="1"/>
          </p:cNvPicPr>
          <p:nvPr/>
        </p:nvPicPr>
        <p:blipFill>
          <a:blip r:embed="rId6"/>
          <a:stretch>
            <a:fillRect/>
          </a:stretch>
        </p:blipFill>
        <p:spPr>
          <a:xfrm>
            <a:off x="4846320" y="1856232"/>
            <a:ext cx="292608" cy="292608"/>
          </a:xfrm>
          <a:prstGeom prst="rect">
            <a:avLst/>
          </a:prstGeom>
        </p:spPr>
      </p:pic>
      <p:sp>
        <p:nvSpPr>
          <p:cNvPr id="24" name="Tested text 1"/>
          <p:cNvSpPr txBox="1"/>
          <p:nvPr/>
        </p:nvSpPr>
        <p:spPr>
          <a:xfrm>
            <a:off x="5303520" y="1783080"/>
            <a:ext cx="3246120" cy="438912"/>
          </a:xfrm>
          <a:prstGeom prst="rect">
            <a:avLst/>
          </a:prstGeom>
          <a:noFill/>
          <a:ln/>
        </p:spPr>
        <p:txBody>
          <a:bodyPr wrap="square" lIns="0" tIns="0" rIns="0" bIns="0" rtlCol="0" anchor="ctr"/>
          <a:lstStyle/>
          <a:p>
            <a:pPr indent="0" marL="0">
              <a:buNone/>
            </a:pPr>
            <a:r>
              <a:rPr lang="en-US" sz="1400" i="1" dirty="0">
                <a:solidFill>
                  <a:schemeClr val="tx1"/>
                </a:solidFill>
                <a:latin typeface="Cambria" pitchFamily="34" charset="0"/>
                <a:ea typeface="Cambria" pitchFamily="34" charset="-122"/>
                <a:cs typeface="Cambria" pitchFamily="34" charset="-120"/>
              </a:rPr>
              <a:t>P² = P and Pᵀ = P  (projector checks)</a:t>
            </a:r>
            <a:pPr indent="0" marL="0">
              <a:buNone/>
            </a:pPr>
            <a:r>
              <a:rPr lang="en-US" sz="1400" baseline="30000" dirty="0">
                <a:solidFill>
                  <a:schemeClr val="tx1"/>
                </a:solidFill>
                <a:latin typeface="Cambria" pitchFamily="34" charset="0"/>
                <a:ea typeface="Cambria" pitchFamily="34" charset="-122"/>
                <a:cs typeface="Cambria" pitchFamily="34" charset="-120"/>
              </a:rPr>
              <a:t/>
            </a:r>
            <a:pPr indent="0" marL="0">
              <a:buNone/>
            </a:pPr>
            <a:r>
              <a:rPr lang="en-US" sz="1400" dirty="0">
                <a:solidFill>
                  <a:schemeClr val="tx1"/>
                </a:solidFill>
                <a:latin typeface="Cambria" pitchFamily="34" charset="0"/>
                <a:ea typeface="Cambria" pitchFamily="34" charset="-122"/>
                <a:cs typeface="Cambria" pitchFamily="34" charset="-120"/>
              </a:rPr>
              <a:t/>
            </a:r>
            <a:pPr indent="0" marL="0">
              <a:buNone/>
            </a:pPr>
            <a:r>
              <a:rPr lang="en-US" sz="1400" i="1" dirty="0">
                <a:solidFill>
                  <a:schemeClr val="tx1"/>
                </a:solidFill>
                <a:latin typeface="Cambria" pitchFamily="34" charset="0"/>
                <a:ea typeface="Cambria" pitchFamily="34" charset="-122"/>
                <a:cs typeface="Cambria" pitchFamily="34" charset="-120"/>
              </a:rPr>
              <a:t/>
            </a:r>
            <a:pPr indent="0" marL="0">
              <a:buNone/>
            </a:pPr>
            <a:r>
              <a:rPr lang="en-US" sz="1400" dirty="0">
                <a:solidFill>
                  <a:schemeClr val="tx1"/>
                </a:solidFill>
                <a:latin typeface="Cambria" pitchFamily="34" charset="0"/>
                <a:ea typeface="Cambria" pitchFamily="34" charset="-122"/>
                <a:cs typeface="Cambria" pitchFamily="34" charset="-120"/>
              </a:rPr>
              <a:t/>
            </a:r>
            <a:pPr indent="0" marL="0">
              <a:buNone/>
            </a:pPr>
            <a:r>
              <a:rPr lang="en-US" sz="1400" i="1" dirty="0">
                <a:solidFill>
                  <a:schemeClr val="tx1"/>
                </a:solidFill>
                <a:latin typeface="Cambria" pitchFamily="34" charset="0"/>
                <a:ea typeface="Cambria" pitchFamily="34" charset="-122"/>
                <a:cs typeface="Cambria" pitchFamily="34" charset="-120"/>
              </a:rPr>
              <a:t/>
            </a:r>
            <a:pPr indent="0" marL="0">
              <a:buNone/>
            </a:pPr>
            <a:r>
              <a:rPr lang="en-US" sz="1400" baseline="30000" dirty="0">
                <a:solidFill>
                  <a:schemeClr val="tx1"/>
                </a:solidFill>
                <a:latin typeface="Cambria" pitchFamily="34" charset="0"/>
                <a:ea typeface="Cambria" pitchFamily="34" charset="-122"/>
                <a:cs typeface="Cambria" pitchFamily="34" charset="-120"/>
              </a:rPr>
              <a:t/>
            </a:r>
            <a:pPr indent="0" marL="0">
              <a:buNone/>
            </a:pPr>
            <a:r>
              <a:rPr lang="en-US" sz="1400" dirty="0">
                <a:solidFill>
                  <a:schemeClr val="tx1"/>
                </a:solidFill>
                <a:latin typeface="Cambria" pitchFamily="34" charset="0"/>
                <a:ea typeface="Cambria" pitchFamily="34" charset="-122"/>
                <a:cs typeface="Cambria" pitchFamily="34" charset="-120"/>
              </a:rPr>
              <a:t/>
            </a:r>
            <a:pPr indent="0" marL="0">
              <a:buNone/>
            </a:pPr>
            <a:r>
              <a:rPr lang="en-US" sz="1400" i="1" dirty="0">
                <a:solidFill>
                  <a:schemeClr val="tx1"/>
                </a:solidFill>
                <a:latin typeface="Cambria" pitchFamily="34" charset="0"/>
                <a:ea typeface="Cambria" pitchFamily="34" charset="-122"/>
                <a:cs typeface="Cambria" pitchFamily="34" charset="-120"/>
              </a:rPr>
              <a:t/>
            </a:r>
            <a:pPr indent="0" marL="0">
              <a:buNone/>
            </a:pPr>
            <a:r>
              <a:rPr lang="en-US" sz="1400" dirty="0">
                <a:solidFill>
                  <a:schemeClr val="tx1"/>
                </a:solidFill>
                <a:latin typeface="Calibri" pitchFamily="34" charset="0"/>
                <a:ea typeface="Calibri" pitchFamily="34" charset="-122"/>
                <a:cs typeface="Calibri" pitchFamily="34" charset="-120"/>
              </a:rPr>
              <a:t/>
            </a:r>
            <a:endParaRPr lang="en-US" sz="1400" dirty="0"/>
          </a:p>
        </p:txBody>
      </p:sp>
      <p:pic>
        <p:nvPicPr>
          <p:cNvPr id="25" name="Tested tick 2" descr="preencoded.png">    </p:cNvPr>
          <p:cNvPicPr>
            <a:picLocks noChangeAspect="1"/>
          </p:cNvPicPr>
          <p:nvPr/>
        </p:nvPicPr>
        <p:blipFill>
          <a:blip r:embed="rId7"/>
          <a:stretch>
            <a:fillRect/>
          </a:stretch>
        </p:blipFill>
        <p:spPr>
          <a:xfrm>
            <a:off x="4846320" y="2432304"/>
            <a:ext cx="292608" cy="292608"/>
          </a:xfrm>
          <a:prstGeom prst="rect">
            <a:avLst/>
          </a:prstGeom>
        </p:spPr>
      </p:pic>
      <p:sp>
        <p:nvSpPr>
          <p:cNvPr id="26" name="Tested text 2"/>
          <p:cNvSpPr txBox="1"/>
          <p:nvPr/>
        </p:nvSpPr>
        <p:spPr>
          <a:xfrm>
            <a:off x="5303520" y="2359152"/>
            <a:ext cx="3246120" cy="43891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EV cars only get EV spots</a:t>
            </a:r>
            <a:endParaRPr lang="en-US" sz="1400" dirty="0"/>
          </a:p>
        </p:txBody>
      </p:sp>
      <p:pic>
        <p:nvPicPr>
          <p:cNvPr id="27" name="Tested tick 3" descr="preencoded.png">    </p:cNvPr>
          <p:cNvPicPr>
            <a:picLocks noChangeAspect="1"/>
          </p:cNvPicPr>
          <p:nvPr/>
        </p:nvPicPr>
        <p:blipFill>
          <a:blip r:embed="rId8"/>
          <a:stretch>
            <a:fillRect/>
          </a:stretch>
        </p:blipFill>
        <p:spPr>
          <a:xfrm>
            <a:off x="4846320" y="3008376"/>
            <a:ext cx="292608" cy="292608"/>
          </a:xfrm>
          <a:prstGeom prst="rect">
            <a:avLst/>
          </a:prstGeom>
        </p:spPr>
      </p:pic>
      <p:sp>
        <p:nvSpPr>
          <p:cNvPr id="28" name="Tested text 3"/>
          <p:cNvSpPr txBox="1"/>
          <p:nvPr/>
        </p:nvSpPr>
        <p:spPr>
          <a:xfrm>
            <a:off x="5303520" y="2935224"/>
            <a:ext cx="3246120" cy="43891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Accessible needs are respected</a:t>
            </a:r>
            <a:endParaRPr lang="en-US" sz="1400" dirty="0"/>
          </a:p>
        </p:txBody>
      </p:sp>
      <p:pic>
        <p:nvPicPr>
          <p:cNvPr id="29" name="Tested tick 4" descr="preencoded.png">    </p:cNvPr>
          <p:cNvPicPr>
            <a:picLocks noChangeAspect="1"/>
          </p:cNvPicPr>
          <p:nvPr/>
        </p:nvPicPr>
        <p:blipFill>
          <a:blip r:embed="rId9"/>
          <a:stretch>
            <a:fillRect/>
          </a:stretch>
        </p:blipFill>
        <p:spPr>
          <a:xfrm>
            <a:off x="4846320" y="3584448"/>
            <a:ext cx="292608" cy="292608"/>
          </a:xfrm>
          <a:prstGeom prst="rect">
            <a:avLst/>
          </a:prstGeom>
        </p:spPr>
      </p:pic>
      <p:sp>
        <p:nvSpPr>
          <p:cNvPr id="30" name="Tested text 4"/>
          <p:cNvSpPr txBox="1"/>
          <p:nvPr/>
        </p:nvSpPr>
        <p:spPr>
          <a:xfrm>
            <a:off x="5303520" y="3511296"/>
            <a:ext cx="3246120" cy="43891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Occupied spots are never reused</a:t>
            </a:r>
            <a:endParaRPr lang="en-US" sz="1400" dirty="0"/>
          </a:p>
        </p:txBody>
      </p:sp>
      <p:pic>
        <p:nvPicPr>
          <p:cNvPr id="31" name="Tested tick 5" descr="preencoded.png">    </p:cNvPr>
          <p:cNvPicPr>
            <a:picLocks noChangeAspect="1"/>
          </p:cNvPicPr>
          <p:nvPr/>
        </p:nvPicPr>
        <p:blipFill>
          <a:blip r:embed="rId10"/>
          <a:stretch>
            <a:fillRect/>
          </a:stretch>
        </p:blipFill>
        <p:spPr>
          <a:xfrm>
            <a:off x="4846320" y="4160520"/>
            <a:ext cx="292608" cy="292608"/>
          </a:xfrm>
          <a:prstGeom prst="rect">
            <a:avLst/>
          </a:prstGeom>
        </p:spPr>
      </p:pic>
      <p:sp>
        <p:nvSpPr>
          <p:cNvPr id="32" name="Tested text 5"/>
          <p:cNvSpPr txBox="1"/>
          <p:nvPr/>
        </p:nvSpPr>
        <p:spPr>
          <a:xfrm>
            <a:off x="5303520" y="4087368"/>
            <a:ext cx="3246120" cy="438912"/>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Same data gives the same answer</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ection badge"/>
          <p:cNvSpPr txBox="1"/>
          <p:nvPr/>
        </p:nvSpPr>
        <p:spPr>
          <a:xfrm>
            <a:off x="457200" y="228600"/>
            <a:ext cx="1234440" cy="256032"/>
          </a:xfrm>
          <a:prstGeom prst="roundRect">
            <a:avLst>
              <a:gd name="adj" fmla="val 50000"/>
            </a:avLst>
          </a:prstGeom>
          <a:solidFill>
            <a:schemeClr val="accent1"/>
          </a:solidFill>
          <a:ln/>
        </p:spPr>
        <p:txBody>
          <a:bodyPr wrap="square" lIns="0" tIns="0" rIns="0" bIns="0" rtlCol="0" anchor="ctr"/>
          <a:lstStyle/>
          <a:p>
            <a:pPr algn="ctr" indent="0" marL="0">
              <a:buNone/>
            </a:pPr>
            <a:r>
              <a:rPr lang="en-US" sz="1000" b="1" dirty="0">
                <a:solidFill>
                  <a:schemeClr val="tx1"/>
                </a:solidFill>
              </a:rPr>
              <a:t>CONCLUSION</a:t>
            </a:r>
            <a:endParaRPr lang="en-US" sz="1000" dirty="0"/>
          </a:p>
        </p:txBody>
      </p:sp>
      <p:sp>
        <p:nvSpPr>
          <p:cNvPr id="3" name="Text 0"/>
          <p:cNvSpPr/>
          <p:nvPr>
            <p:ph idx="100" type="title" hasCustomPrompt="1"/>
          </p:nvPr>
        </p:nvSpPr>
        <p:spPr>
          <a:xfrm>
            <a:off x="457200" y="502920"/>
            <a:ext cx="8229600" cy="640080"/>
          </a:xfrm>
          <a:prstGeom prst="rect">
            <a:avLst/>
          </a:prstGeom>
          <a:noFill/>
          <a:ln/>
        </p:spPr>
        <p:txBody>
          <a:bodyPr wrap="square" lIns="0" tIns="0" rIns="0" bIns="0" rtlCol="0" anchor="ctr"/>
          <a:lstStyle/>
          <a:p>
            <a:pPr algn="l" indent="0" marL="0">
              <a:buNone/>
            </a:pPr>
            <a:r>
              <a:rPr lang="en-US" sz="3200" b="1" dirty="0">
                <a:solidFill>
                  <a:schemeClr val="bg1"/>
                </a:solidFill>
              </a:rPr>
              <a:t>Linear algebra picks the spot</a:t>
            </a:r>
            <a:endParaRPr lang="en-US" sz="3200" dirty="0"/>
          </a:p>
        </p:txBody>
      </p:sp>
      <p:sp>
        <p:nvSpPr>
          <p:cNvPr id="4" name="Pillar card 1"/>
          <p:cNvSpPr/>
          <p:nvPr/>
        </p:nvSpPr>
        <p:spPr>
          <a:xfrm>
            <a:off x="457200" y="1371600"/>
            <a:ext cx="2560320" cy="2194560"/>
          </a:xfrm>
          <a:prstGeom prst="roundRect">
            <a:avLst>
              <a:gd name="adj" fmla="val 4167"/>
            </a:avLst>
          </a:prstGeom>
          <a:solidFill>
            <a:schemeClr val="tx2"/>
          </a:solidFill>
          <a:ln/>
        </p:spPr>
      </p:sp>
      <p:sp>
        <p:nvSpPr>
          <p:cNvPr id="5" name="Pillar circle 1"/>
          <p:cNvSpPr/>
          <p:nvPr/>
        </p:nvSpPr>
        <p:spPr>
          <a:xfrm>
            <a:off x="685800" y="1554480"/>
            <a:ext cx="640080" cy="640080"/>
          </a:xfrm>
          <a:prstGeom prst="ellipse">
            <a:avLst/>
          </a:prstGeom>
          <a:solidFill>
            <a:schemeClr val="accent1"/>
          </a:solidFill>
          <a:ln/>
        </p:spPr>
      </p:sp>
      <p:pic>
        <p:nvPicPr>
          <p:cNvPr id="6" name="Pillar icon 1" descr="preencoded.png">    </p:cNvPr>
          <p:cNvPicPr>
            <a:picLocks noChangeAspect="1"/>
          </p:cNvPicPr>
          <p:nvPr/>
        </p:nvPicPr>
        <p:blipFill>
          <a:blip r:embed="rId1"/>
          <a:stretch>
            <a:fillRect/>
          </a:stretch>
        </p:blipFill>
        <p:spPr>
          <a:xfrm>
            <a:off x="850392" y="1719072"/>
            <a:ext cx="310896" cy="310896"/>
          </a:xfrm>
          <a:prstGeom prst="rect">
            <a:avLst/>
          </a:prstGeom>
        </p:spPr>
      </p:pic>
      <p:sp>
        <p:nvSpPr>
          <p:cNvPr id="7" name="Pillar title 1"/>
          <p:cNvSpPr txBox="1"/>
          <p:nvPr/>
        </p:nvSpPr>
        <p:spPr>
          <a:xfrm>
            <a:off x="685800" y="2331720"/>
            <a:ext cx="2194560" cy="320040"/>
          </a:xfrm>
          <a:prstGeom prst="rect">
            <a:avLst/>
          </a:prstGeom>
          <a:noFill/>
          <a:ln/>
        </p:spPr>
        <p:txBody>
          <a:bodyPr wrap="square" lIns="0" tIns="0" rIns="0" bIns="0" rtlCol="0" anchor="ctr"/>
          <a:lstStyle/>
          <a:p>
            <a:pPr indent="0" marL="0">
              <a:buNone/>
            </a:pPr>
            <a:r>
              <a:rPr lang="en-US" sz="1900" b="1" dirty="0">
                <a:solidFill>
                  <a:schemeClr val="bg1"/>
                </a:solidFill>
              </a:rPr>
              <a:t>Practical</a:t>
            </a:r>
            <a:endParaRPr lang="en-US" sz="1900" dirty="0"/>
          </a:p>
        </p:txBody>
      </p:sp>
      <p:sp>
        <p:nvSpPr>
          <p:cNvPr id="8" name="Pillar text 1"/>
          <p:cNvSpPr txBox="1"/>
          <p:nvPr/>
        </p:nvSpPr>
        <p:spPr>
          <a:xfrm>
            <a:off x="685800" y="2697480"/>
            <a:ext cx="2194560" cy="777240"/>
          </a:xfrm>
          <a:prstGeom prst="rect">
            <a:avLst/>
          </a:prstGeom>
          <a:noFill/>
          <a:ln/>
        </p:spPr>
        <p:txBody>
          <a:bodyPr wrap="square" lIns="0" tIns="0" rIns="0" bIns="0" rtlCol="0" anchor="t"/>
          <a:lstStyle/>
          <a:p>
            <a:pPr indent="0" marL="0">
              <a:buNone/>
            </a:pPr>
            <a:r>
              <a:rPr lang="en-US" sz="1400" dirty="0">
                <a:solidFill>
                  <a:schemeClr val="bg2"/>
                </a:solidFill>
              </a:rPr>
              <a:t>Handles EV, accessibility, vehicle size, occupancy and gate distance.</a:t>
            </a:r>
            <a:endParaRPr lang="en-US" sz="1400" dirty="0"/>
          </a:p>
        </p:txBody>
      </p:sp>
      <p:sp>
        <p:nvSpPr>
          <p:cNvPr id="9" name="Pillar card 2"/>
          <p:cNvSpPr/>
          <p:nvPr/>
        </p:nvSpPr>
        <p:spPr>
          <a:xfrm>
            <a:off x="3291840" y="1371600"/>
            <a:ext cx="2560320" cy="2194560"/>
          </a:xfrm>
          <a:prstGeom prst="roundRect">
            <a:avLst>
              <a:gd name="adj" fmla="val 4167"/>
            </a:avLst>
          </a:prstGeom>
          <a:solidFill>
            <a:schemeClr val="tx2"/>
          </a:solidFill>
          <a:ln/>
        </p:spPr>
      </p:sp>
      <p:sp>
        <p:nvSpPr>
          <p:cNvPr id="10" name="Pillar circle 2"/>
          <p:cNvSpPr/>
          <p:nvPr/>
        </p:nvSpPr>
        <p:spPr>
          <a:xfrm>
            <a:off x="3520440" y="1554480"/>
            <a:ext cx="640080" cy="640080"/>
          </a:xfrm>
          <a:prstGeom prst="ellipse">
            <a:avLst/>
          </a:prstGeom>
          <a:solidFill>
            <a:schemeClr val="accent2"/>
          </a:solidFill>
          <a:ln/>
        </p:spPr>
      </p:sp>
      <p:pic>
        <p:nvPicPr>
          <p:cNvPr id="11" name="Pillar icon 2" descr="preencoded.png">    </p:cNvPr>
          <p:cNvPicPr>
            <a:picLocks noChangeAspect="1"/>
          </p:cNvPicPr>
          <p:nvPr/>
        </p:nvPicPr>
        <p:blipFill>
          <a:blip r:embed="rId2"/>
          <a:stretch>
            <a:fillRect/>
          </a:stretch>
        </p:blipFill>
        <p:spPr>
          <a:xfrm>
            <a:off x="3685032" y="1719072"/>
            <a:ext cx="310896" cy="310896"/>
          </a:xfrm>
          <a:prstGeom prst="rect">
            <a:avLst/>
          </a:prstGeom>
        </p:spPr>
      </p:pic>
      <p:sp>
        <p:nvSpPr>
          <p:cNvPr id="12" name="Pillar title 2"/>
          <p:cNvSpPr txBox="1"/>
          <p:nvPr/>
        </p:nvSpPr>
        <p:spPr>
          <a:xfrm>
            <a:off x="3520440" y="2331720"/>
            <a:ext cx="2194560" cy="320040"/>
          </a:xfrm>
          <a:prstGeom prst="rect">
            <a:avLst/>
          </a:prstGeom>
          <a:noFill/>
          <a:ln/>
        </p:spPr>
        <p:txBody>
          <a:bodyPr wrap="square" lIns="0" tIns="0" rIns="0" bIns="0" rtlCol="0" anchor="ctr"/>
          <a:lstStyle/>
          <a:p>
            <a:pPr indent="0" marL="0">
              <a:buNone/>
            </a:pPr>
            <a:r>
              <a:rPr lang="en-US" sz="1900" b="1" dirty="0">
                <a:solidFill>
                  <a:schemeClr val="bg1"/>
                </a:solidFill>
              </a:rPr>
              <a:t>Mathematical</a:t>
            </a:r>
            <a:endParaRPr lang="en-US" sz="1900" dirty="0"/>
          </a:p>
        </p:txBody>
      </p:sp>
      <p:sp>
        <p:nvSpPr>
          <p:cNvPr id="13" name="Pillar text 2"/>
          <p:cNvSpPr txBox="1"/>
          <p:nvPr/>
        </p:nvSpPr>
        <p:spPr>
          <a:xfrm>
            <a:off x="3520440" y="2697480"/>
            <a:ext cx="2194560" cy="777240"/>
          </a:xfrm>
          <a:prstGeom prst="rect">
            <a:avLst/>
          </a:prstGeom>
          <a:noFill/>
          <a:ln/>
        </p:spPr>
        <p:txBody>
          <a:bodyPr wrap="square" lIns="0" tIns="0" rIns="0" bIns="0" rtlCol="0" anchor="t"/>
          <a:lstStyle/>
          <a:p>
            <a:pPr indent="0" marL="0">
              <a:buNone/>
            </a:pPr>
            <a:r>
              <a:rPr lang="en-US" sz="1400" dirty="0">
                <a:solidFill>
                  <a:schemeClr val="bg2"/>
                </a:solidFill>
              </a:rPr>
              <a:t>Vectors, matrices, orthogonal projection and least squares.</a:t>
            </a:r>
            <a:endParaRPr lang="en-US" sz="1400" dirty="0"/>
          </a:p>
        </p:txBody>
      </p:sp>
      <p:sp>
        <p:nvSpPr>
          <p:cNvPr id="14" name="Pillar card 3"/>
          <p:cNvSpPr/>
          <p:nvPr/>
        </p:nvSpPr>
        <p:spPr>
          <a:xfrm>
            <a:off x="6126480" y="1371600"/>
            <a:ext cx="2560320" cy="2194560"/>
          </a:xfrm>
          <a:prstGeom prst="roundRect">
            <a:avLst>
              <a:gd name="adj" fmla="val 4167"/>
            </a:avLst>
          </a:prstGeom>
          <a:solidFill>
            <a:schemeClr val="tx2"/>
          </a:solidFill>
          <a:ln/>
        </p:spPr>
      </p:sp>
      <p:sp>
        <p:nvSpPr>
          <p:cNvPr id="15" name="Pillar circle 3"/>
          <p:cNvSpPr/>
          <p:nvPr/>
        </p:nvSpPr>
        <p:spPr>
          <a:xfrm>
            <a:off x="6355080" y="1554480"/>
            <a:ext cx="640080" cy="640080"/>
          </a:xfrm>
          <a:prstGeom prst="ellipse">
            <a:avLst/>
          </a:prstGeom>
          <a:solidFill>
            <a:schemeClr val="accent4"/>
          </a:solidFill>
          <a:ln/>
        </p:spPr>
      </p:sp>
      <p:pic>
        <p:nvPicPr>
          <p:cNvPr id="16" name="Pillar icon 3" descr="preencoded.png">    </p:cNvPr>
          <p:cNvPicPr>
            <a:picLocks noChangeAspect="1"/>
          </p:cNvPicPr>
          <p:nvPr/>
        </p:nvPicPr>
        <p:blipFill>
          <a:blip r:embed="rId3"/>
          <a:stretch>
            <a:fillRect/>
          </a:stretch>
        </p:blipFill>
        <p:spPr>
          <a:xfrm>
            <a:off x="6519672" y="1719072"/>
            <a:ext cx="310896" cy="310896"/>
          </a:xfrm>
          <a:prstGeom prst="rect">
            <a:avLst/>
          </a:prstGeom>
        </p:spPr>
      </p:pic>
      <p:sp>
        <p:nvSpPr>
          <p:cNvPr id="17" name="Pillar title 3"/>
          <p:cNvSpPr txBox="1"/>
          <p:nvPr/>
        </p:nvSpPr>
        <p:spPr>
          <a:xfrm>
            <a:off x="6355080" y="2331720"/>
            <a:ext cx="2194560" cy="320040"/>
          </a:xfrm>
          <a:prstGeom prst="rect">
            <a:avLst/>
          </a:prstGeom>
          <a:noFill/>
          <a:ln/>
        </p:spPr>
        <p:txBody>
          <a:bodyPr wrap="square" lIns="0" tIns="0" rIns="0" bIns="0" rtlCol="0" anchor="ctr"/>
          <a:lstStyle/>
          <a:p>
            <a:pPr indent="0" marL="0">
              <a:buNone/>
            </a:pPr>
            <a:r>
              <a:rPr lang="en-US" sz="1900" b="1" dirty="0">
                <a:solidFill>
                  <a:schemeClr val="bg1"/>
                </a:solidFill>
              </a:rPr>
              <a:t>Demonstrable</a:t>
            </a:r>
            <a:endParaRPr lang="en-US" sz="1900" dirty="0"/>
          </a:p>
        </p:txBody>
      </p:sp>
      <p:sp>
        <p:nvSpPr>
          <p:cNvPr id="18" name="Pillar text 3"/>
          <p:cNvSpPr txBox="1"/>
          <p:nvPr/>
        </p:nvSpPr>
        <p:spPr>
          <a:xfrm>
            <a:off x="6355080" y="2697480"/>
            <a:ext cx="2194560" cy="777240"/>
          </a:xfrm>
          <a:prstGeom prst="rect">
            <a:avLst/>
          </a:prstGeom>
          <a:noFill/>
          <a:ln/>
        </p:spPr>
        <p:txBody>
          <a:bodyPr wrap="square" lIns="0" tIns="0" rIns="0" bIns="0" rtlCol="0" anchor="t"/>
          <a:lstStyle/>
          <a:p>
            <a:pPr indent="0" marL="0">
              <a:buNone/>
            </a:pPr>
            <a:r>
              <a:rPr lang="en-US" sz="1400" dirty="0">
                <a:solidFill>
                  <a:schemeClr val="bg2"/>
                </a:solidFill>
              </a:rPr>
              <a:t>Python GUI and Colab notebook make every step visible.</a:t>
            </a:r>
            <a:endParaRPr lang="en-US" sz="1400" dirty="0"/>
          </a:p>
        </p:txBody>
      </p:sp>
      <p:sp>
        <p:nvSpPr>
          <p:cNvPr id="19" name="Thank you"/>
          <p:cNvSpPr txBox="1"/>
          <p:nvPr/>
        </p:nvSpPr>
        <p:spPr>
          <a:xfrm>
            <a:off x="457200" y="3794760"/>
            <a:ext cx="7863840" cy="868680"/>
          </a:xfrm>
          <a:prstGeom prst="rect">
            <a:avLst/>
          </a:prstGeom>
          <a:noFill/>
          <a:ln/>
        </p:spPr>
        <p:txBody>
          <a:bodyPr wrap="square" lIns="0" tIns="0" rIns="0" bIns="0" rtlCol="0" anchor="ctr"/>
          <a:lstStyle/>
          <a:p>
            <a:pPr indent="0" marL="0">
              <a:buNone/>
            </a:pPr>
            <a:r>
              <a:rPr lang="en-US" sz="2600" b="1" i="1" dirty="0">
                <a:solidFill>
                  <a:schemeClr val="accent1"/>
                </a:solidFill>
                <a:latin typeface="Cambria" pitchFamily="34" charset="0"/>
                <a:ea typeface="Cambria" pitchFamily="34" charset="-122"/>
                <a:cs typeface="Cambria" pitchFamily="34" charset="-120"/>
              </a:rPr>
              <a:t>Thank you</a:t>
            </a:r>
            <a:endParaRPr lang="en-US" sz="2600" dirty="0"/>
          </a:p>
          <a:p>
            <a:pPr indent="0" marL="0">
              <a:buNone/>
            </a:pPr>
            <a:r>
              <a:rPr lang="en-US" sz="1600" dirty="0">
                <a:solidFill>
                  <a:schemeClr val="bg2"/>
                </a:solidFill>
                <a:latin typeface="Calibri" pitchFamily="34" charset="0"/>
                <a:ea typeface="Calibri" pitchFamily="34" charset="-122"/>
                <a:cs typeface="Calibri" pitchFamily="34" charset="-120"/>
              </a:rPr>
              <a:t>We are ready for your questions and the live demonstration.</a:t>
            </a:r>
            <a:endParaRPr lang="en-US" sz="2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Parking Asphalt">
  <a:themeElements>
    <a:clrScheme name="Parking Asphalt">
      <a:dk1>
        <a:srgbClr val="1A2028"/>
      </a:dk1>
      <a:lt1>
        <a:srgbClr val="FFFFFF"/>
      </a:lt1>
      <a:dk2>
        <a:srgbClr val="2A3441"/>
      </a:dk2>
      <a:lt2>
        <a:srgbClr val="F2F4F7"/>
      </a:lt2>
      <a:accent1>
        <a:srgbClr val="F5B700"/>
      </a:accent1>
      <a:accent2>
        <a:srgbClr val="0E8F80"/>
      </a:accent2>
      <a:accent3>
        <a:srgbClr val="D6432D"/>
      </a:accent3>
      <a:accent4>
        <a:srgbClr val="2F6FDE"/>
      </a:accent4>
      <a:accent5>
        <a:srgbClr val="5E6A7A"/>
      </a:accent5>
      <a:accent6>
        <a:srgbClr val="F08A24"/>
      </a:accent6>
      <a:hlink>
        <a:srgbClr val="2F6FDE"/>
      </a:hlink>
      <a:folHlink>
        <a:srgbClr val="7C5CFC"/>
      </a:folHlink>
    </a:clrScheme>
    <a:fontScheme name="Parking Asphal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Parking Lot Optimization using Linear Algebra</dc:title>
  <dc:subject>PptxGenJS Presentation</dc:subject>
  <dc:creator>Arya B, Aryan R, Hisham, Chirag P</dc:creator>
  <cp:lastModifiedBy>Arya B, Aryan R, Hisham, Chirag P</cp:lastModifiedBy>
  <cp:revision>1</cp:revision>
  <dcterms:created xsi:type="dcterms:W3CDTF">2026-10-08T05:49:16Z</dcterms:created>
  <dcterms:modified xsi:type="dcterms:W3CDTF">2026-10-08T05:49:16Z</dcterms:modified>
</cp:coreProperties>
</file>